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CADCFC"/>
                </a:solidFill>
                <a:latin typeface="Arial"/>
              </a:defRPr>
            </a:pPr>
            <a:r>
              <a:rPr sz="1100" b="0" i="0" u="none" strike="noStrike">
                <a:solidFill>
                  <a:srgbClr val="CADCFC"/>
                </a:solidFill>
                <a:latin typeface="Arial"/>
              </a:rPr>
              <a:t>Tokens / min by project</a:t>
            </a:r>
          </a:p>
        </c:rich>
      </c:tx>
      <c:layout/>
      <c:overlay val="0"/>
    </c:title>
    <c:autoTitleDeleted val="0"/>
    <c:plotArea>
      <c:layout/>
      <c:lineChart>
        <c:varyColors val="0"/>
        <c:ser>
          <c:idx val="0"/>
          <c:order val="0"/>
          <c:tx>
            <c:strRef>
              <c:f>Sheet1!$B$1</c:f>
              <c:strCache>
                <c:ptCount val="1"/>
                <c:pt idx="0">
                  <c:v>Project A</c:v>
                </c:pt>
              </c:strCache>
            </c:strRef>
          </c:tx>
          <c:spPr>
            <a:solidFill>
              <a:srgbClr val="4F86F7"/>
            </a:solidFill>
            <a:ln w="38100" cap="flat">
              <a:solidFill>
                <a:srgbClr val="4F86F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F86F7"/>
              </a:solidFill>
              <a:ln w="9525" cap="flat">
                <a:solidFill>
                  <a:srgbClr val="4F86F7"/>
                </a:solidFill>
                <a:prstDash val="solid"/>
                <a:round/>
              </a:ln>
              <a:effectLst/>
            </c:spPr>
          </c:marker>
          <c:cat>
            <c:multiLvlStrRef>
              <c:f>Sheet1!$A$2:$A$7</c:f>
              <c:multiLvlStrCache>
                <c:ptCount val="6"/>
                <c:lvl>
                  <c:pt idx="0">
                    <c:v>10:00</c:v>
                  </c:pt>
                  <c:pt idx="1">
                    <c:v>10:05</c:v>
                  </c:pt>
                  <c:pt idx="2">
                    <c:v>10:10</c:v>
                  </c:pt>
                  <c:pt idx="3">
                    <c:v>10:15</c:v>
                  </c:pt>
                  <c:pt idx="4">
                    <c:v>10:20</c:v>
                  </c:pt>
                  <c:pt idx="5">
                    <c:v>10:25</c:v>
                  </c:pt>
                </c:lvl>
              </c:multiLvlStrCache>
            </c:multiLvlStrRef>
          </c:cat>
          <c:val>
            <c:numRef>
              <c:f>Sheet1!$B$2:$B$7</c:f>
              <c:numCache>
                <c:formatCode>General</c:formatCode>
                <c:ptCount val="6"/>
                <c:pt idx="0">
                  <c:v>120</c:v>
                </c:pt>
                <c:pt idx="1">
                  <c:v>210</c:v>
                </c:pt>
                <c:pt idx="2">
                  <c:v>180</c:v>
                </c:pt>
                <c:pt idx="3">
                  <c:v>260</c:v>
                </c:pt>
                <c:pt idx="4">
                  <c:v>240</c:v>
                </c:pt>
                <c:pt idx="5">
                  <c:v>300</c:v>
                </c:pt>
              </c:numCache>
            </c:numRef>
          </c:val>
          <c:smooth val="1"/>
        </c:ser>
        <c:ser>
          <c:idx val="1"/>
          <c:order val="1"/>
          <c:tx>
            <c:strRef>
              <c:f>Sheet1!$C$1</c:f>
              <c:strCache>
                <c:ptCount val="1"/>
                <c:pt idx="0">
                  <c:v>Project B</c:v>
                </c:pt>
              </c:strCache>
            </c:strRef>
          </c:tx>
          <c:spPr>
            <a:solidFill>
              <a:srgbClr val="F5B841"/>
            </a:solidFill>
            <a:ln w="38100" cap="flat">
              <a:solidFill>
                <a:srgbClr val="F5B8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B841"/>
              </a:solidFill>
              <a:ln w="9525" cap="flat">
                <a:solidFill>
                  <a:srgbClr val="F5B841"/>
                </a:solidFill>
                <a:prstDash val="solid"/>
                <a:round/>
              </a:ln>
              <a:effectLst/>
            </c:spPr>
          </c:marker>
          <c:cat>
            <c:multiLvlStrRef>
              <c:f>Sheet1!$A$2:$A$7</c:f>
              <c:multiLvlStrCache>
                <c:ptCount val="6"/>
                <c:lvl>
                  <c:pt idx="0">
                    <c:v>10:00</c:v>
                  </c:pt>
                  <c:pt idx="1">
                    <c:v>10:05</c:v>
                  </c:pt>
                  <c:pt idx="2">
                    <c:v>10:10</c:v>
                  </c:pt>
                  <c:pt idx="3">
                    <c:v>10:15</c:v>
                  </c:pt>
                  <c:pt idx="4">
                    <c:v>10:20</c:v>
                  </c:pt>
                  <c:pt idx="5">
                    <c:v>10:25</c:v>
                  </c:pt>
                </c:lvl>
              </c:multiLvlStrCache>
            </c:multiLvlStrRef>
          </c:cat>
          <c:val>
            <c:numRef>
              <c:f>Sheet1!$C$2:$C$7</c:f>
              <c:numCache>
                <c:formatCode>General</c:formatCode>
                <c:ptCount val="6"/>
                <c:pt idx="0">
                  <c:v>60</c:v>
                </c:pt>
                <c:pt idx="1">
                  <c:v>90</c:v>
                </c:pt>
                <c:pt idx="2">
                  <c:v>140</c:v>
                </c:pt>
                <c:pt idx="3">
                  <c:v>110</c:v>
                </c:pt>
                <c:pt idx="4">
                  <c:v>170</c:v>
                </c:pt>
                <c:pt idx="5">
                  <c:v>150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0D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E38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FB0D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9FB0DA"/>
              </a:solidFill>
            </a:defRPr>
          </a:pPr>
          <a:endParaRPr lang="en-US"/>
        </a:p>
      </c:txPr>
    </c:legend>
    <c:plotVisOnly val="1"/>
    <c:dispBlanksAs val="span"/>
  </c:chart>
  <c:spPr>
    <a:solidFill>
      <a:srgbClr val="1C235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CADCFC"/>
                </a:solidFill>
                <a:latin typeface="Arial"/>
              </a:defRPr>
            </a:pPr>
            <a:r>
              <a:rPr sz="1100" b="0" i="0" u="none" strike="noStrike">
                <a:solidFill>
                  <a:srgbClr val="CADCFC"/>
                </a:solidFill>
                <a:latin typeface="Arial"/>
              </a:rPr>
              <a:t>Allowed vs. throttled</a:t>
            </a:r>
          </a:p>
        </c:rich>
      </c:tx>
      <c:layout/>
      <c:overlay val="0"/>
    </c:title>
    <c:autoTitleDeleted val="0"/>
    <c:plotArea>
      <c:layout/>
      <c:doughnutChart>
        <c:varyColors val="1"/>
        <c:ser>
          <c:idx val="0"/>
          <c:order val="0"/>
          <c:tx>
            <c:strRef>
              <c:f>Sheet1!$B$1</c:f>
              <c:strCache>
                <c:ptCount val="1"/>
                <c:pt idx="0">
                  <c:v>Responses</c:v>
                </c:pt>
              </c:strCache>
            </c:strRef>
          </c:tx>
          <c:spPr>
            <a:solidFill>
              <a:schemeClr val="accent1"/>
            </a:solidFill>
            <a:ln w="9525" cap="flat">
              <a:solidFill>
                <a:srgbClr val="F9F9F9"/>
              </a:solidFill>
              <a:prstDash val="solid"/>
              <a:round/>
            </a:ln>
            <a:effectLst/>
          </c:spPr>
          <c:dPt>
            <c:idx val="0"/>
            <c:bubble3D val="0"/>
            <c:spPr>
              <a:solidFill>
                <a:srgbClr val="4F86F7"/>
              </a:solidFill>
              <a:effectLst/>
            </c:spPr>
          </c:dPt>
          <c:dPt>
            <c:idx val="1"/>
            <c:bubble3D val="0"/>
            <c:spPr>
              <a:solidFill>
                <a:srgbClr val="33407A"/>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Allowed</c:v>
                </c:pt>
                <c:pt idx="1">
                  <c:v>Throttled</c:v>
                </c:pt>
              </c:strCache>
            </c:strRef>
          </c:cat>
          <c:val>
            <c:numRef>
              <c:f>Sheet1!$B$2:$B$3</c:f>
              <c:numCache>
                <c:ptCount val="2"/>
                <c:pt idx="0">
                  <c:v>88</c:v>
                </c:pt>
                <c:pt idx="1">
                  <c:v>12</c:v>
                </c:pt>
              </c:numCache>
            </c:numRef>
          </c:val>
        </c:ser>
        <c:firstSliceAng val="0"/>
        <c:holeSize val="60"/>
      </c:doughnutChart>
      <c:spPr>
        <a:noFill/>
        <a:ln>
          <a:noFill/>
        </a:ln>
        <a:effectLst/>
      </c:spPr>
    </c:plotArea>
    <c:legend>
      <c:legendPos val="b"/>
      <c:overlay val="0"/>
      <c:txPr>
        <a:bodyPr/>
        <a:lstStyle/>
        <a:p>
          <a:pPr>
            <a:defRPr sz="900">
              <a:solidFill>
                <a:srgbClr val="9FB0D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83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86F7"/>
          </a:solidFill>
          <a:ln/>
        </p:spPr>
      </p:sp>
      <p:sp>
        <p:nvSpPr>
          <p:cNvPr id="3" name="Shape 1"/>
          <p:cNvSpPr/>
          <p:nvPr/>
        </p:nvSpPr>
        <p:spPr>
          <a:xfrm>
            <a:off x="164592" y="0"/>
            <a:ext cx="54864" cy="5143500"/>
          </a:xfrm>
          <a:prstGeom prst="rect">
            <a:avLst/>
          </a:prstGeom>
          <a:solidFill>
            <a:srgbClr val="F5B841"/>
          </a:solidFill>
          <a:ln/>
        </p:spPr>
      </p:sp>
      <p:sp>
        <p:nvSpPr>
          <p:cNvPr id="4" name="Text 2"/>
          <p:cNvSpPr/>
          <p:nvPr/>
        </p:nvSpPr>
        <p:spPr>
          <a:xfrm>
            <a:off x="822960" y="749808"/>
            <a:ext cx="7772400" cy="274320"/>
          </a:xfrm>
          <a:prstGeom prst="rect">
            <a:avLst/>
          </a:prstGeom>
          <a:noFill/>
          <a:ln/>
        </p:spPr>
        <p:txBody>
          <a:bodyPr wrap="square" lIns="0" tIns="0" rIns="0" bIns="0" rtlCol="0" anchor="ctr"/>
          <a:lstStyle/>
          <a:p>
            <a:pPr indent="0" marL="0">
              <a:buNone/>
            </a:pPr>
            <a:r>
              <a:rPr lang="en-US" sz="1250" b="1" spc="250" kern="0" dirty="0">
                <a:solidFill>
                  <a:srgbClr val="9BBDF9"/>
                </a:solidFill>
                <a:latin typeface="Calibri" pitchFamily="34" charset="0"/>
                <a:ea typeface="Calibri" pitchFamily="34" charset="-122"/>
                <a:cs typeface="Calibri" pitchFamily="34" charset="-120"/>
              </a:rPr>
              <a:t>MICROSOFT FOUNDRY  ·  AI GATEWAY</a:t>
            </a:r>
            <a:endParaRPr lang="en-US" sz="1250" dirty="0"/>
          </a:p>
        </p:txBody>
      </p:sp>
      <p:sp>
        <p:nvSpPr>
          <p:cNvPr id="5" name="Shape 3"/>
          <p:cNvSpPr/>
          <p:nvPr/>
        </p:nvSpPr>
        <p:spPr>
          <a:xfrm>
            <a:off x="822960" y="1078992"/>
            <a:ext cx="960120" cy="292608"/>
          </a:xfrm>
          <a:prstGeom prst="roundRect">
            <a:avLst>
              <a:gd name="adj" fmla="val 50000"/>
            </a:avLst>
          </a:prstGeom>
          <a:solidFill>
            <a:srgbClr val="F5B841"/>
          </a:solidFill>
          <a:ln/>
        </p:spPr>
      </p:sp>
      <p:sp>
        <p:nvSpPr>
          <p:cNvPr id="6" name="Text 4"/>
          <p:cNvSpPr/>
          <p:nvPr/>
        </p:nvSpPr>
        <p:spPr>
          <a:xfrm>
            <a:off x="822960" y="1078992"/>
            <a:ext cx="960120" cy="292608"/>
          </a:xfrm>
          <a:prstGeom prst="rect">
            <a:avLst/>
          </a:prstGeom>
          <a:noFill/>
          <a:ln/>
        </p:spPr>
        <p:txBody>
          <a:bodyPr wrap="square" lIns="0" tIns="0" rIns="0" bIns="0" rtlCol="0" anchor="ctr"/>
          <a:lstStyle/>
          <a:p>
            <a:pPr algn="ctr" indent="0" marL="0">
              <a:buNone/>
            </a:pPr>
            <a:r>
              <a:rPr lang="en-US" sz="1000" b="1" spc="150" kern="0" dirty="0">
                <a:solidFill>
                  <a:srgbClr val="13183C"/>
                </a:solidFill>
                <a:latin typeface="Calibri" pitchFamily="34" charset="0"/>
                <a:ea typeface="Calibri" pitchFamily="34" charset="-122"/>
                <a:cs typeface="Calibri" pitchFamily="34" charset="-120"/>
              </a:rPr>
              <a:t>PREVIEW</a:t>
            </a:r>
            <a:endParaRPr lang="en-US" sz="1000" dirty="0"/>
          </a:p>
        </p:txBody>
      </p:sp>
      <p:sp>
        <p:nvSpPr>
          <p:cNvPr id="7" name="Text 5"/>
          <p:cNvSpPr/>
          <p:nvPr/>
        </p:nvSpPr>
        <p:spPr>
          <a:xfrm>
            <a:off x="786384" y="1481328"/>
            <a:ext cx="7680960" cy="155448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Georgia" pitchFamily="34" charset="0"/>
                <a:ea typeface="Georgia" pitchFamily="34" charset="-122"/>
                <a:cs typeface="Georgia" pitchFamily="34" charset="-120"/>
              </a:rPr>
              <a:t>Enable the AI Gateway</a:t>
            </a:r>
            <a:endParaRPr lang="en-US" sz="4000" dirty="0"/>
          </a:p>
          <a:p>
            <a:pPr indent="0" marL="0">
              <a:lnSpc>
                <a:spcPct val="100000"/>
              </a:lnSpc>
              <a:buNone/>
            </a:pPr>
            <a:r>
              <a:rPr lang="en-US" sz="4000" b="1" dirty="0">
                <a:solidFill>
                  <a:srgbClr val="FFFFFF"/>
                </a:solidFill>
                <a:latin typeface="Georgia" pitchFamily="34" charset="0"/>
                <a:ea typeface="Georgia" pitchFamily="34" charset="-122"/>
                <a:cs typeface="Georgia" pitchFamily="34" charset="-120"/>
              </a:rPr>
              <a:t>from Microsoft Foundry</a:t>
            </a:r>
            <a:endParaRPr lang="en-US" sz="4000" dirty="0"/>
          </a:p>
        </p:txBody>
      </p:sp>
      <p:sp>
        <p:nvSpPr>
          <p:cNvPr id="8" name="Text 6"/>
          <p:cNvSpPr/>
          <p:nvPr/>
        </p:nvSpPr>
        <p:spPr>
          <a:xfrm>
            <a:off x="822960" y="3035808"/>
            <a:ext cx="7040880" cy="64008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Govern your models, agents and tools from inside Foundry — powered by Azure API Management, configured from the Foundry Admin console.</a:t>
            </a:r>
            <a:endParaRPr lang="en-US" sz="1500" dirty="0"/>
          </a:p>
        </p:txBody>
      </p:sp>
      <p:sp>
        <p:nvSpPr>
          <p:cNvPr id="9" name="Shape 7"/>
          <p:cNvSpPr/>
          <p:nvPr/>
        </p:nvSpPr>
        <p:spPr>
          <a:xfrm>
            <a:off x="822960" y="3822192"/>
            <a:ext cx="54864" cy="868680"/>
          </a:xfrm>
          <a:prstGeom prst="rect">
            <a:avLst/>
          </a:prstGeom>
          <a:solidFill>
            <a:srgbClr val="F5B841"/>
          </a:solidFill>
          <a:ln/>
        </p:spPr>
      </p:sp>
      <p:sp>
        <p:nvSpPr>
          <p:cNvPr id="10" name="Text 8"/>
          <p:cNvSpPr/>
          <p:nvPr/>
        </p:nvSpPr>
        <p:spPr>
          <a:xfrm>
            <a:off x="987552" y="3776472"/>
            <a:ext cx="4572000" cy="640080"/>
          </a:xfrm>
          <a:prstGeom prst="rect">
            <a:avLst/>
          </a:prstGeom>
          <a:noFill/>
          <a:ln/>
        </p:spPr>
        <p:txBody>
          <a:bodyPr wrap="square" lIns="0" tIns="0" rIns="0" bIns="0" rtlCol="0" anchor="ctr"/>
          <a:lstStyle/>
          <a:p>
            <a:pPr indent="0" marL="0">
              <a:buNone/>
            </a:pPr>
            <a:r>
              <a:rPr lang="en-US" sz="4600" b="1" dirty="0">
                <a:solidFill>
                  <a:srgbClr val="F5B841"/>
                </a:solidFill>
                <a:latin typeface="Georgia" pitchFamily="34" charset="0"/>
                <a:ea typeface="Georgia" pitchFamily="34" charset="-122"/>
                <a:cs typeface="Georgia" pitchFamily="34" charset="-120"/>
              </a:rPr>
              <a:t>0</a:t>
            </a:r>
            <a:pPr indent="0" marL="0">
              <a:buNone/>
            </a:pPr>
            <a:r>
              <a:rPr lang="en-US" sz="2200" b="1" dirty="0">
                <a:solidFill>
                  <a:srgbClr val="FFFFFF"/>
                </a:solidFill>
                <a:latin typeface="Georgia" pitchFamily="34" charset="0"/>
                <a:ea typeface="Georgia" pitchFamily="34" charset="-122"/>
                <a:cs typeface="Georgia" pitchFamily="34" charset="-120"/>
              </a:rPr>
              <a:t>  infra to wire up</a:t>
            </a:r>
            <a:endParaRPr lang="en-US" sz="4600" dirty="0"/>
          </a:p>
        </p:txBody>
      </p:sp>
      <p:sp>
        <p:nvSpPr>
          <p:cNvPr id="11" name="Text 9"/>
          <p:cNvSpPr/>
          <p:nvPr/>
        </p:nvSpPr>
        <p:spPr>
          <a:xfrm>
            <a:off x="1005840" y="4379976"/>
            <a:ext cx="4754880" cy="2743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create or attach a gateway in a few clicks</a:t>
            </a:r>
            <a:endParaRPr lang="en-US" sz="1200" dirty="0"/>
          </a:p>
        </p:txBody>
      </p:sp>
      <p:pic>
        <p:nvPicPr>
          <p:cNvPr id="12" name="Image 0" descr="preencoded.png">    </p:cNvPr>
          <p:cNvPicPr>
            <a:picLocks noChangeAspect="1"/>
          </p:cNvPicPr>
          <p:nvPr/>
        </p:nvPicPr>
        <p:blipFill>
          <a:blip r:embed="rId1"/>
          <a:stretch>
            <a:fillRect/>
          </a:stretch>
        </p:blipFill>
        <p:spPr>
          <a:xfrm>
            <a:off x="7360920" y="374904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What we'll cover</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SEVEN QUESTIONS, ONE NATIVE GATEWAY</a:t>
            </a:r>
            <a:endParaRPr lang="en-US" sz="1150" dirty="0"/>
          </a:p>
        </p:txBody>
      </p:sp>
      <p:sp>
        <p:nvSpPr>
          <p:cNvPr id="5" name="Shape 3"/>
          <p:cNvSpPr/>
          <p:nvPr/>
        </p:nvSpPr>
        <p:spPr>
          <a:xfrm>
            <a:off x="658368" y="1417320"/>
            <a:ext cx="457200" cy="45720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768096" y="1527048"/>
            <a:ext cx="237744" cy="237744"/>
          </a:xfrm>
          <a:prstGeom prst="rect">
            <a:avLst/>
          </a:prstGeom>
        </p:spPr>
      </p:pic>
      <p:sp>
        <p:nvSpPr>
          <p:cNvPr id="7" name="Text 4"/>
          <p:cNvSpPr/>
          <p:nvPr/>
        </p:nvSpPr>
        <p:spPr>
          <a:xfrm>
            <a:off x="1261872" y="1371600"/>
            <a:ext cx="3383280" cy="310896"/>
          </a:xfrm>
          <a:prstGeom prst="rect">
            <a:avLst/>
          </a:prstGeom>
          <a:noFill/>
          <a:ln/>
        </p:spPr>
        <p:txBody>
          <a:bodyPr wrap="square" lIns="0" tIns="0" rIns="0" bIns="0" rtlCol="0" anchor="ctr"/>
          <a:lstStyle/>
          <a:p>
            <a:pPr indent="0" marL="0">
              <a:buNone/>
            </a:pPr>
            <a:r>
              <a:rPr lang="en-US" sz="1400" b="1" dirty="0">
                <a:solidFill>
                  <a:srgbClr val="1B2447"/>
                </a:solidFill>
                <a:latin typeface="Georgia" pitchFamily="34" charset="0"/>
                <a:ea typeface="Georgia" pitchFamily="34" charset="-122"/>
                <a:cs typeface="Georgia" pitchFamily="34" charset="-120"/>
              </a:rPr>
              <a:t>When to use an AI gateway</a:t>
            </a:r>
            <a:endParaRPr lang="en-US" sz="1400" dirty="0"/>
          </a:p>
        </p:txBody>
      </p:sp>
      <p:sp>
        <p:nvSpPr>
          <p:cNvPr id="8" name="Text 5"/>
          <p:cNvSpPr/>
          <p:nvPr/>
        </p:nvSpPr>
        <p:spPr>
          <a:xfrm>
            <a:off x="1261872" y="1673352"/>
            <a:ext cx="3383280" cy="310896"/>
          </a:xfrm>
          <a:prstGeom prst="rect">
            <a:avLst/>
          </a:prstGeom>
          <a:noFill/>
          <a:ln/>
        </p:spPr>
        <p:txBody>
          <a:bodyPr wrap="square" lIns="0" tIns="0" rIns="0" bIns="0" rtlCol="0" anchor="ctr"/>
          <a:lstStyle/>
          <a:p>
            <a:pPr indent="0" marL="0">
              <a:buNone/>
            </a:pPr>
            <a:r>
              <a:rPr lang="en-US" sz="1050" dirty="0">
                <a:solidFill>
                  <a:srgbClr val="5A6781"/>
                </a:solidFill>
                <a:latin typeface="Calibri" pitchFamily="34" charset="0"/>
                <a:ea typeface="Calibri" pitchFamily="34" charset="-122"/>
                <a:cs typeface="Calibri" pitchFamily="34" charset="-120"/>
              </a:rPr>
              <a:t>The signals that point to it</a:t>
            </a:r>
            <a:endParaRPr lang="en-US" sz="1050" dirty="0"/>
          </a:p>
        </p:txBody>
      </p:sp>
      <p:sp>
        <p:nvSpPr>
          <p:cNvPr id="9" name="Shape 6"/>
          <p:cNvSpPr/>
          <p:nvPr/>
        </p:nvSpPr>
        <p:spPr>
          <a:xfrm>
            <a:off x="658368" y="2203704"/>
            <a:ext cx="457200" cy="457200"/>
          </a:xfrm>
          <a:prstGeom prst="ellipse">
            <a:avLst/>
          </a:prstGeom>
          <a:solidFill>
            <a:srgbClr val="1E2761"/>
          </a:solidFill>
          <a:ln/>
        </p:spPr>
      </p:sp>
      <p:pic>
        <p:nvPicPr>
          <p:cNvPr id="10" name="Image 1" descr="preencoded.png">    </p:cNvPr>
          <p:cNvPicPr>
            <a:picLocks noChangeAspect="1"/>
          </p:cNvPicPr>
          <p:nvPr/>
        </p:nvPicPr>
        <p:blipFill>
          <a:blip r:embed="rId2"/>
          <a:stretch>
            <a:fillRect/>
          </a:stretch>
        </p:blipFill>
        <p:spPr>
          <a:xfrm>
            <a:off x="768096" y="2313432"/>
            <a:ext cx="237744" cy="237744"/>
          </a:xfrm>
          <a:prstGeom prst="rect">
            <a:avLst/>
          </a:prstGeom>
        </p:spPr>
      </p:pic>
      <p:sp>
        <p:nvSpPr>
          <p:cNvPr id="11" name="Text 7"/>
          <p:cNvSpPr/>
          <p:nvPr/>
        </p:nvSpPr>
        <p:spPr>
          <a:xfrm>
            <a:off x="1261872" y="2157984"/>
            <a:ext cx="3383280" cy="310896"/>
          </a:xfrm>
          <a:prstGeom prst="rect">
            <a:avLst/>
          </a:prstGeom>
          <a:noFill/>
          <a:ln/>
        </p:spPr>
        <p:txBody>
          <a:bodyPr wrap="square" lIns="0" tIns="0" rIns="0" bIns="0" rtlCol="0" anchor="ctr"/>
          <a:lstStyle/>
          <a:p>
            <a:pPr indent="0" marL="0">
              <a:buNone/>
            </a:pPr>
            <a:r>
              <a:rPr lang="en-US" sz="1400" b="1" dirty="0">
                <a:solidFill>
                  <a:srgbClr val="1B2447"/>
                </a:solidFill>
                <a:latin typeface="Georgia" pitchFamily="34" charset="0"/>
                <a:ea typeface="Georgia" pitchFamily="34" charset="-122"/>
                <a:cs typeface="Georgia" pitchFamily="34" charset="-120"/>
              </a:rPr>
              <a:t>Why an AI gateway in Foundry</a:t>
            </a:r>
            <a:endParaRPr lang="en-US" sz="1400" dirty="0"/>
          </a:p>
        </p:txBody>
      </p:sp>
      <p:sp>
        <p:nvSpPr>
          <p:cNvPr id="12" name="Text 8"/>
          <p:cNvSpPr/>
          <p:nvPr/>
        </p:nvSpPr>
        <p:spPr>
          <a:xfrm>
            <a:off x="1261872" y="2459736"/>
            <a:ext cx="3383280" cy="310896"/>
          </a:xfrm>
          <a:prstGeom prst="rect">
            <a:avLst/>
          </a:prstGeom>
          <a:noFill/>
          <a:ln/>
        </p:spPr>
        <p:txBody>
          <a:bodyPr wrap="square" lIns="0" tIns="0" rIns="0" bIns="0" rtlCol="0" anchor="ctr"/>
          <a:lstStyle/>
          <a:p>
            <a:pPr indent="0" marL="0">
              <a:buNone/>
            </a:pPr>
            <a:r>
              <a:rPr lang="en-US" sz="1050" dirty="0">
                <a:solidFill>
                  <a:srgbClr val="5A6781"/>
                </a:solidFill>
                <a:latin typeface="Calibri" pitchFamily="34" charset="0"/>
                <a:ea typeface="Calibri" pitchFamily="34" charset="-122"/>
                <a:cs typeface="Calibri" pitchFamily="34" charset="-120"/>
              </a:rPr>
              <a:t>Governance, security and control</a:t>
            </a:r>
            <a:endParaRPr lang="en-US" sz="1050" dirty="0"/>
          </a:p>
        </p:txBody>
      </p:sp>
      <p:sp>
        <p:nvSpPr>
          <p:cNvPr id="13" name="Shape 9"/>
          <p:cNvSpPr/>
          <p:nvPr/>
        </p:nvSpPr>
        <p:spPr>
          <a:xfrm>
            <a:off x="658368" y="2990088"/>
            <a:ext cx="457200" cy="457200"/>
          </a:xfrm>
          <a:prstGeom prst="ellipse">
            <a:avLst/>
          </a:prstGeom>
          <a:solidFill>
            <a:srgbClr val="1E2761"/>
          </a:solidFill>
          <a:ln/>
        </p:spPr>
      </p:sp>
      <p:pic>
        <p:nvPicPr>
          <p:cNvPr id="14" name="Image 2" descr="preencoded.png">    </p:cNvPr>
          <p:cNvPicPr>
            <a:picLocks noChangeAspect="1"/>
          </p:cNvPicPr>
          <p:nvPr/>
        </p:nvPicPr>
        <p:blipFill>
          <a:blip r:embed="rId3"/>
          <a:stretch>
            <a:fillRect/>
          </a:stretch>
        </p:blipFill>
        <p:spPr>
          <a:xfrm>
            <a:off x="768096" y="3099816"/>
            <a:ext cx="237744" cy="237744"/>
          </a:xfrm>
          <a:prstGeom prst="rect">
            <a:avLst/>
          </a:prstGeom>
        </p:spPr>
      </p:pic>
      <p:sp>
        <p:nvSpPr>
          <p:cNvPr id="15" name="Text 10"/>
          <p:cNvSpPr/>
          <p:nvPr/>
        </p:nvSpPr>
        <p:spPr>
          <a:xfrm>
            <a:off x="1261872" y="2944368"/>
            <a:ext cx="3383280" cy="310896"/>
          </a:xfrm>
          <a:prstGeom prst="rect">
            <a:avLst/>
          </a:prstGeom>
          <a:noFill/>
          <a:ln/>
        </p:spPr>
        <p:txBody>
          <a:bodyPr wrap="square" lIns="0" tIns="0" rIns="0" bIns="0" rtlCol="0" anchor="ctr"/>
          <a:lstStyle/>
          <a:p>
            <a:pPr indent="0" marL="0">
              <a:buNone/>
            </a:pPr>
            <a:r>
              <a:rPr lang="en-US" sz="1400" b="1" dirty="0">
                <a:solidFill>
                  <a:srgbClr val="1B2447"/>
                </a:solidFill>
                <a:latin typeface="Georgia" pitchFamily="34" charset="0"/>
                <a:ea typeface="Georgia" pitchFamily="34" charset="-122"/>
                <a:cs typeface="Georgia" pitchFamily="34" charset="-120"/>
              </a:rPr>
              <a:t>Enabling &amp; managing it</a:t>
            </a:r>
            <a:endParaRPr lang="en-US" sz="1400" dirty="0"/>
          </a:p>
        </p:txBody>
      </p:sp>
      <p:sp>
        <p:nvSpPr>
          <p:cNvPr id="16" name="Text 11"/>
          <p:cNvSpPr/>
          <p:nvPr/>
        </p:nvSpPr>
        <p:spPr>
          <a:xfrm>
            <a:off x="1261872" y="3246120"/>
            <a:ext cx="3383280" cy="310896"/>
          </a:xfrm>
          <a:prstGeom prst="rect">
            <a:avLst/>
          </a:prstGeom>
          <a:noFill/>
          <a:ln/>
        </p:spPr>
        <p:txBody>
          <a:bodyPr wrap="square" lIns="0" tIns="0" rIns="0" bIns="0" rtlCol="0" anchor="ctr"/>
          <a:lstStyle/>
          <a:p>
            <a:pPr indent="0" marL="0">
              <a:buNone/>
            </a:pPr>
            <a:r>
              <a:rPr lang="en-US" sz="1050" dirty="0">
                <a:solidFill>
                  <a:srgbClr val="5A6781"/>
                </a:solidFill>
                <a:latin typeface="Calibri" pitchFamily="34" charset="0"/>
                <a:ea typeface="Calibri" pitchFamily="34" charset="-122"/>
                <a:cs typeface="Calibri" pitchFamily="34" charset="-120"/>
              </a:rPr>
              <a:t>Admin console, limits and quotas</a:t>
            </a:r>
            <a:endParaRPr lang="en-US" sz="1050" dirty="0"/>
          </a:p>
        </p:txBody>
      </p:sp>
      <p:sp>
        <p:nvSpPr>
          <p:cNvPr id="17" name="Shape 12"/>
          <p:cNvSpPr/>
          <p:nvPr/>
        </p:nvSpPr>
        <p:spPr>
          <a:xfrm>
            <a:off x="658368" y="3776472"/>
            <a:ext cx="457200" cy="457200"/>
          </a:xfrm>
          <a:prstGeom prst="ellipse">
            <a:avLst/>
          </a:prstGeom>
          <a:solidFill>
            <a:srgbClr val="1E2761"/>
          </a:solidFill>
          <a:ln/>
        </p:spPr>
      </p:sp>
      <p:pic>
        <p:nvPicPr>
          <p:cNvPr id="18" name="Image 3" descr="preencoded.png">    </p:cNvPr>
          <p:cNvPicPr>
            <a:picLocks noChangeAspect="1"/>
          </p:cNvPicPr>
          <p:nvPr/>
        </p:nvPicPr>
        <p:blipFill>
          <a:blip r:embed="rId4"/>
          <a:stretch>
            <a:fillRect/>
          </a:stretch>
        </p:blipFill>
        <p:spPr>
          <a:xfrm>
            <a:off x="768096" y="3886200"/>
            <a:ext cx="237744" cy="237744"/>
          </a:xfrm>
          <a:prstGeom prst="rect">
            <a:avLst/>
          </a:prstGeom>
        </p:spPr>
      </p:pic>
      <p:sp>
        <p:nvSpPr>
          <p:cNvPr id="19" name="Text 13"/>
          <p:cNvSpPr/>
          <p:nvPr/>
        </p:nvSpPr>
        <p:spPr>
          <a:xfrm>
            <a:off x="1261872" y="3730752"/>
            <a:ext cx="3383280" cy="310896"/>
          </a:xfrm>
          <a:prstGeom prst="rect">
            <a:avLst/>
          </a:prstGeom>
          <a:noFill/>
          <a:ln/>
        </p:spPr>
        <p:txBody>
          <a:bodyPr wrap="square" lIns="0" tIns="0" rIns="0" bIns="0" rtlCol="0" anchor="ctr"/>
          <a:lstStyle/>
          <a:p>
            <a:pPr indent="0" marL="0">
              <a:buNone/>
            </a:pPr>
            <a:r>
              <a:rPr lang="en-US" sz="1400" b="1" dirty="0">
                <a:solidFill>
                  <a:srgbClr val="1B2447"/>
                </a:solidFill>
                <a:latin typeface="Georgia" pitchFamily="34" charset="0"/>
                <a:ea typeface="Georgia" pitchFamily="34" charset="-122"/>
                <a:cs typeface="Georgia" pitchFamily="34" charset="-120"/>
              </a:rPr>
              <a:t>Capabilities</a:t>
            </a:r>
            <a:endParaRPr lang="en-US" sz="1400" dirty="0"/>
          </a:p>
        </p:txBody>
      </p:sp>
      <p:sp>
        <p:nvSpPr>
          <p:cNvPr id="20" name="Text 14"/>
          <p:cNvSpPr/>
          <p:nvPr/>
        </p:nvSpPr>
        <p:spPr>
          <a:xfrm>
            <a:off x="1261872" y="4032504"/>
            <a:ext cx="3383280" cy="310896"/>
          </a:xfrm>
          <a:prstGeom prst="rect">
            <a:avLst/>
          </a:prstGeom>
          <a:noFill/>
          <a:ln/>
        </p:spPr>
        <p:txBody>
          <a:bodyPr wrap="square" lIns="0" tIns="0" rIns="0" bIns="0" rtlCol="0" anchor="ctr"/>
          <a:lstStyle/>
          <a:p>
            <a:pPr indent="0" marL="0">
              <a:buNone/>
            </a:pPr>
            <a:r>
              <a:rPr lang="en-US" sz="1050" dirty="0">
                <a:solidFill>
                  <a:srgbClr val="5A6781"/>
                </a:solidFill>
                <a:latin typeface="Calibri" pitchFamily="34" charset="0"/>
                <a:ea typeface="Calibri" pitchFamily="34" charset="-122"/>
                <a:cs typeface="Calibri" pitchFamily="34" charset="-120"/>
              </a:rPr>
              <a:t>The full AI-gateway feature set</a:t>
            </a:r>
            <a:endParaRPr lang="en-US" sz="1050" dirty="0"/>
          </a:p>
        </p:txBody>
      </p:sp>
      <p:sp>
        <p:nvSpPr>
          <p:cNvPr id="21" name="Shape 15"/>
          <p:cNvSpPr/>
          <p:nvPr/>
        </p:nvSpPr>
        <p:spPr>
          <a:xfrm>
            <a:off x="4709160" y="1417320"/>
            <a:ext cx="457200" cy="457200"/>
          </a:xfrm>
          <a:prstGeom prst="ellipse">
            <a:avLst/>
          </a:prstGeom>
          <a:solidFill>
            <a:srgbClr val="1E2761"/>
          </a:solidFill>
          <a:ln/>
        </p:spPr>
      </p:sp>
      <p:pic>
        <p:nvPicPr>
          <p:cNvPr id="22" name="Image 4" descr="preencoded.png">    </p:cNvPr>
          <p:cNvPicPr>
            <a:picLocks noChangeAspect="1"/>
          </p:cNvPicPr>
          <p:nvPr/>
        </p:nvPicPr>
        <p:blipFill>
          <a:blip r:embed="rId5"/>
          <a:stretch>
            <a:fillRect/>
          </a:stretch>
        </p:blipFill>
        <p:spPr>
          <a:xfrm>
            <a:off x="4818888" y="1527048"/>
            <a:ext cx="237744" cy="237744"/>
          </a:xfrm>
          <a:prstGeom prst="rect">
            <a:avLst/>
          </a:prstGeom>
        </p:spPr>
      </p:pic>
      <p:sp>
        <p:nvSpPr>
          <p:cNvPr id="23" name="Text 16"/>
          <p:cNvSpPr/>
          <p:nvPr/>
        </p:nvSpPr>
        <p:spPr>
          <a:xfrm>
            <a:off x="5312664" y="1371600"/>
            <a:ext cx="3383280" cy="310896"/>
          </a:xfrm>
          <a:prstGeom prst="rect">
            <a:avLst/>
          </a:prstGeom>
          <a:noFill/>
          <a:ln/>
        </p:spPr>
        <p:txBody>
          <a:bodyPr wrap="square" lIns="0" tIns="0" rIns="0" bIns="0" rtlCol="0" anchor="ctr"/>
          <a:lstStyle/>
          <a:p>
            <a:pPr indent="0" marL="0">
              <a:buNone/>
            </a:pPr>
            <a:r>
              <a:rPr lang="en-US" sz="1400" b="1" dirty="0">
                <a:solidFill>
                  <a:srgbClr val="1B2447"/>
                </a:solidFill>
                <a:latin typeface="Georgia" pitchFamily="34" charset="0"/>
                <a:ea typeface="Georgia" pitchFamily="34" charset="-122"/>
                <a:cs typeface="Georgia" pitchFamily="34" charset="-120"/>
              </a:rPr>
              <a:t>Viewing &amp; managing cost</a:t>
            </a:r>
            <a:endParaRPr lang="en-US" sz="1400" dirty="0"/>
          </a:p>
        </p:txBody>
      </p:sp>
      <p:sp>
        <p:nvSpPr>
          <p:cNvPr id="24" name="Text 17"/>
          <p:cNvSpPr/>
          <p:nvPr/>
        </p:nvSpPr>
        <p:spPr>
          <a:xfrm>
            <a:off x="5312664" y="1673352"/>
            <a:ext cx="3383280" cy="310896"/>
          </a:xfrm>
          <a:prstGeom prst="rect">
            <a:avLst/>
          </a:prstGeom>
          <a:noFill/>
          <a:ln/>
        </p:spPr>
        <p:txBody>
          <a:bodyPr wrap="square" lIns="0" tIns="0" rIns="0" bIns="0" rtlCol="0" anchor="ctr"/>
          <a:lstStyle/>
          <a:p>
            <a:pPr indent="0" marL="0">
              <a:buNone/>
            </a:pPr>
            <a:r>
              <a:rPr lang="en-US" sz="1050" dirty="0">
                <a:solidFill>
                  <a:srgbClr val="5A6781"/>
                </a:solidFill>
                <a:latin typeface="Calibri" pitchFamily="34" charset="0"/>
                <a:ea typeface="Calibri" pitchFamily="34" charset="-122"/>
                <a:cs typeface="Calibri" pitchFamily="34" charset="-120"/>
              </a:rPr>
              <a:t>Token containment and chargeback</a:t>
            </a:r>
            <a:endParaRPr lang="en-US" sz="1050" dirty="0"/>
          </a:p>
        </p:txBody>
      </p:sp>
      <p:sp>
        <p:nvSpPr>
          <p:cNvPr id="25" name="Shape 18"/>
          <p:cNvSpPr/>
          <p:nvPr/>
        </p:nvSpPr>
        <p:spPr>
          <a:xfrm>
            <a:off x="4709160" y="2203704"/>
            <a:ext cx="457200" cy="457200"/>
          </a:xfrm>
          <a:prstGeom prst="ellipse">
            <a:avLst/>
          </a:prstGeom>
          <a:solidFill>
            <a:srgbClr val="1E2761"/>
          </a:solidFill>
          <a:ln/>
        </p:spPr>
      </p:sp>
      <p:pic>
        <p:nvPicPr>
          <p:cNvPr id="26" name="Image 5" descr="preencoded.png">    </p:cNvPr>
          <p:cNvPicPr>
            <a:picLocks noChangeAspect="1"/>
          </p:cNvPicPr>
          <p:nvPr/>
        </p:nvPicPr>
        <p:blipFill>
          <a:blip r:embed="rId6"/>
          <a:stretch>
            <a:fillRect/>
          </a:stretch>
        </p:blipFill>
        <p:spPr>
          <a:xfrm>
            <a:off x="4818888" y="2313432"/>
            <a:ext cx="237744" cy="237744"/>
          </a:xfrm>
          <a:prstGeom prst="rect">
            <a:avLst/>
          </a:prstGeom>
        </p:spPr>
      </p:pic>
      <p:sp>
        <p:nvSpPr>
          <p:cNvPr id="27" name="Text 19"/>
          <p:cNvSpPr/>
          <p:nvPr/>
        </p:nvSpPr>
        <p:spPr>
          <a:xfrm>
            <a:off x="5312664" y="2157984"/>
            <a:ext cx="3383280" cy="310896"/>
          </a:xfrm>
          <a:prstGeom prst="rect">
            <a:avLst/>
          </a:prstGeom>
          <a:noFill/>
          <a:ln/>
        </p:spPr>
        <p:txBody>
          <a:bodyPr wrap="square" lIns="0" tIns="0" rIns="0" bIns="0" rtlCol="0" anchor="ctr"/>
          <a:lstStyle/>
          <a:p>
            <a:pPr indent="0" marL="0">
              <a:buNone/>
            </a:pPr>
            <a:r>
              <a:rPr lang="en-US" sz="1400" b="1" dirty="0">
                <a:solidFill>
                  <a:srgbClr val="1B2447"/>
                </a:solidFill>
                <a:latin typeface="Georgia" pitchFamily="34" charset="0"/>
                <a:ea typeface="Georgia" pitchFamily="34" charset="-122"/>
                <a:cs typeface="Georgia" pitchFamily="34" charset="-120"/>
              </a:rPr>
              <a:t>Traces, logs &amp; metrics</a:t>
            </a:r>
            <a:endParaRPr lang="en-US" sz="1400" dirty="0"/>
          </a:p>
        </p:txBody>
      </p:sp>
      <p:sp>
        <p:nvSpPr>
          <p:cNvPr id="28" name="Text 20"/>
          <p:cNvSpPr/>
          <p:nvPr/>
        </p:nvSpPr>
        <p:spPr>
          <a:xfrm>
            <a:off x="5312664" y="2459736"/>
            <a:ext cx="3383280" cy="310896"/>
          </a:xfrm>
          <a:prstGeom prst="rect">
            <a:avLst/>
          </a:prstGeom>
          <a:noFill/>
          <a:ln/>
        </p:spPr>
        <p:txBody>
          <a:bodyPr wrap="square" lIns="0" tIns="0" rIns="0" bIns="0" rtlCol="0" anchor="ctr"/>
          <a:lstStyle/>
          <a:p>
            <a:pPr indent="0" marL="0">
              <a:buNone/>
            </a:pPr>
            <a:r>
              <a:rPr lang="en-US" sz="1050" dirty="0">
                <a:solidFill>
                  <a:srgbClr val="5A6781"/>
                </a:solidFill>
                <a:latin typeface="Calibri" pitchFamily="34" charset="0"/>
                <a:ea typeface="Calibri" pitchFamily="34" charset="-122"/>
                <a:cs typeface="Calibri" pitchFamily="34" charset="-120"/>
              </a:rPr>
              <a:t>In Foundry or Application Insights</a:t>
            </a:r>
            <a:endParaRPr lang="en-US" sz="1050" dirty="0"/>
          </a:p>
        </p:txBody>
      </p:sp>
      <p:sp>
        <p:nvSpPr>
          <p:cNvPr id="29" name="Shape 21"/>
          <p:cNvSpPr/>
          <p:nvPr/>
        </p:nvSpPr>
        <p:spPr>
          <a:xfrm>
            <a:off x="4709160" y="2990088"/>
            <a:ext cx="457200" cy="457200"/>
          </a:xfrm>
          <a:prstGeom prst="ellipse">
            <a:avLst/>
          </a:prstGeom>
          <a:solidFill>
            <a:srgbClr val="1E2761"/>
          </a:solidFill>
          <a:ln/>
        </p:spPr>
      </p:sp>
      <p:pic>
        <p:nvPicPr>
          <p:cNvPr id="30" name="Image 6" descr="preencoded.png">    </p:cNvPr>
          <p:cNvPicPr>
            <a:picLocks noChangeAspect="1"/>
          </p:cNvPicPr>
          <p:nvPr/>
        </p:nvPicPr>
        <p:blipFill>
          <a:blip r:embed="rId7"/>
          <a:stretch>
            <a:fillRect/>
          </a:stretch>
        </p:blipFill>
        <p:spPr>
          <a:xfrm>
            <a:off x="4818888" y="3099816"/>
            <a:ext cx="237744" cy="237744"/>
          </a:xfrm>
          <a:prstGeom prst="rect">
            <a:avLst/>
          </a:prstGeom>
        </p:spPr>
      </p:pic>
      <p:sp>
        <p:nvSpPr>
          <p:cNvPr id="31" name="Text 22"/>
          <p:cNvSpPr/>
          <p:nvPr/>
        </p:nvSpPr>
        <p:spPr>
          <a:xfrm>
            <a:off x="5312664" y="2944368"/>
            <a:ext cx="3383280" cy="310896"/>
          </a:xfrm>
          <a:prstGeom prst="rect">
            <a:avLst/>
          </a:prstGeom>
          <a:noFill/>
          <a:ln/>
        </p:spPr>
        <p:txBody>
          <a:bodyPr wrap="square" lIns="0" tIns="0" rIns="0" bIns="0" rtlCol="0" anchor="ctr"/>
          <a:lstStyle/>
          <a:p>
            <a:pPr indent="0" marL="0">
              <a:buNone/>
            </a:pPr>
            <a:r>
              <a:rPr lang="en-US" sz="1400" b="1" dirty="0">
                <a:solidFill>
                  <a:srgbClr val="1B2447"/>
                </a:solidFill>
                <a:latin typeface="Georgia" pitchFamily="34" charset="0"/>
                <a:ea typeface="Georgia" pitchFamily="34" charset="-122"/>
                <a:cs typeface="Georgia" pitchFamily="34" charset="-120"/>
              </a:rPr>
              <a:t>Models, agents, tools &amp; MCP</a:t>
            </a:r>
            <a:endParaRPr lang="en-US" sz="1400" dirty="0"/>
          </a:p>
        </p:txBody>
      </p:sp>
      <p:sp>
        <p:nvSpPr>
          <p:cNvPr id="32" name="Text 23"/>
          <p:cNvSpPr/>
          <p:nvPr/>
        </p:nvSpPr>
        <p:spPr>
          <a:xfrm>
            <a:off x="5312664" y="3246120"/>
            <a:ext cx="3383280" cy="310896"/>
          </a:xfrm>
          <a:prstGeom prst="rect">
            <a:avLst/>
          </a:prstGeom>
          <a:noFill/>
          <a:ln/>
        </p:spPr>
        <p:txBody>
          <a:bodyPr wrap="square" lIns="0" tIns="0" rIns="0" bIns="0" rtlCol="0" anchor="ctr"/>
          <a:lstStyle/>
          <a:p>
            <a:pPr indent="0" marL="0">
              <a:buNone/>
            </a:pPr>
            <a:r>
              <a:rPr lang="en-US" sz="1050" dirty="0">
                <a:solidFill>
                  <a:srgbClr val="5A6781"/>
                </a:solidFill>
                <a:latin typeface="Calibri" pitchFamily="34" charset="0"/>
                <a:ea typeface="Calibri" pitchFamily="34" charset="-122"/>
                <a:cs typeface="Calibri" pitchFamily="34" charset="-120"/>
              </a:rPr>
              <a:t>Govern every Foundry building block</a:t>
            </a:r>
            <a:endParaRPr lang="en-US" sz="1050" dirty="0"/>
          </a:p>
        </p:txBody>
      </p:sp>
      <p:sp>
        <p:nvSpPr>
          <p:cNvPr id="33" name="Text 24"/>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34" name="Text 25"/>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AI adoption outpaces AI control</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THE PROBLEM</a:t>
            </a:r>
            <a:endParaRPr lang="en-US" sz="1150" dirty="0"/>
          </a:p>
        </p:txBody>
      </p:sp>
      <p:sp>
        <p:nvSpPr>
          <p:cNvPr id="5" name="Shape 3"/>
          <p:cNvSpPr/>
          <p:nvPr/>
        </p:nvSpPr>
        <p:spPr>
          <a:xfrm>
            <a:off x="658368" y="1417320"/>
            <a:ext cx="2615184" cy="21031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6" name="Shape 4"/>
          <p:cNvSpPr/>
          <p:nvPr/>
        </p:nvSpPr>
        <p:spPr>
          <a:xfrm>
            <a:off x="658368" y="1417320"/>
            <a:ext cx="64008" cy="2103120"/>
          </a:xfrm>
          <a:prstGeom prst="rect">
            <a:avLst/>
          </a:prstGeom>
          <a:solidFill>
            <a:srgbClr val="E0563B"/>
          </a:solidFill>
          <a:ln/>
        </p:spPr>
      </p:sp>
      <p:sp>
        <p:nvSpPr>
          <p:cNvPr id="7" name="Shape 5"/>
          <p:cNvSpPr/>
          <p:nvPr/>
        </p:nvSpPr>
        <p:spPr>
          <a:xfrm>
            <a:off x="859536" y="1636776"/>
            <a:ext cx="548640" cy="548640"/>
          </a:xfrm>
          <a:prstGeom prst="ellipse">
            <a:avLst/>
          </a:prstGeom>
          <a:solidFill>
            <a:srgbClr val="FBE9E6"/>
          </a:solidFill>
          <a:ln/>
        </p:spPr>
      </p:sp>
      <p:pic>
        <p:nvPicPr>
          <p:cNvPr id="8" name="Image 0" descr="preencoded.png">    </p:cNvPr>
          <p:cNvPicPr>
            <a:picLocks noChangeAspect="1"/>
          </p:cNvPicPr>
          <p:nvPr/>
        </p:nvPicPr>
        <p:blipFill>
          <a:blip r:embed="rId1"/>
          <a:stretch>
            <a:fillRect/>
          </a:stretch>
        </p:blipFill>
        <p:spPr>
          <a:xfrm>
            <a:off x="987552" y="1764792"/>
            <a:ext cx="292608" cy="292608"/>
          </a:xfrm>
          <a:prstGeom prst="rect">
            <a:avLst/>
          </a:prstGeom>
        </p:spPr>
      </p:pic>
      <p:sp>
        <p:nvSpPr>
          <p:cNvPr id="9" name="Text 6"/>
          <p:cNvSpPr/>
          <p:nvPr/>
        </p:nvSpPr>
        <p:spPr>
          <a:xfrm>
            <a:off x="859536" y="2313432"/>
            <a:ext cx="2249424" cy="329184"/>
          </a:xfrm>
          <a:prstGeom prst="rect">
            <a:avLst/>
          </a:prstGeom>
          <a:noFill/>
          <a:ln/>
        </p:spPr>
        <p:txBody>
          <a:bodyPr wrap="square" lIns="0" tIns="0" rIns="0" bIns="0" rtlCol="0" anchor="ctr"/>
          <a:lstStyle/>
          <a:p>
            <a:pPr indent="0" marL="0">
              <a:buNone/>
            </a:pPr>
            <a:r>
              <a:rPr lang="en-US" sz="1600" b="1" dirty="0">
                <a:solidFill>
                  <a:srgbClr val="1B2447"/>
                </a:solidFill>
                <a:latin typeface="Georgia" pitchFamily="34" charset="0"/>
                <a:ea typeface="Georgia" pitchFamily="34" charset="-122"/>
                <a:cs typeface="Georgia" pitchFamily="34" charset="-120"/>
              </a:rPr>
              <a:t>Sprawl</a:t>
            </a:r>
            <a:endParaRPr lang="en-US" sz="1600" dirty="0"/>
          </a:p>
        </p:txBody>
      </p:sp>
      <p:sp>
        <p:nvSpPr>
          <p:cNvPr id="10" name="Text 7"/>
          <p:cNvSpPr/>
          <p:nvPr/>
        </p:nvSpPr>
        <p:spPr>
          <a:xfrm>
            <a:off x="859536" y="2660904"/>
            <a:ext cx="2231136" cy="786384"/>
          </a:xfrm>
          <a:prstGeom prst="rect">
            <a:avLst/>
          </a:prstGeom>
          <a:noFill/>
          <a:ln/>
        </p:spPr>
        <p:txBody>
          <a:bodyPr wrap="square" lIns="0" tIns="0" rIns="0" bIns="0" rtlCol="0" anchor="ctr"/>
          <a:lstStyle/>
          <a:p>
            <a:pPr indent="0" marL="0">
              <a:buNone/>
            </a:pPr>
            <a:r>
              <a:rPr lang="en-US" sz="1100" dirty="0">
                <a:solidFill>
                  <a:srgbClr val="5A6781"/>
                </a:solidFill>
                <a:latin typeface="Calibri" pitchFamily="34" charset="0"/>
                <a:ea typeface="Calibri" pitchFamily="34" charset="-122"/>
                <a:cs typeface="Calibri" pitchFamily="34" charset="-120"/>
              </a:rPr>
              <a:t>Every project and team calls model endpoints directly. No shared front door, no inventory of who calls what.</a:t>
            </a:r>
            <a:endParaRPr lang="en-US" sz="1100" dirty="0"/>
          </a:p>
        </p:txBody>
      </p:sp>
      <p:sp>
        <p:nvSpPr>
          <p:cNvPr id="11" name="Shape 8"/>
          <p:cNvSpPr/>
          <p:nvPr/>
        </p:nvSpPr>
        <p:spPr>
          <a:xfrm>
            <a:off x="3456432" y="1417320"/>
            <a:ext cx="2615184" cy="21031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2" name="Shape 9"/>
          <p:cNvSpPr/>
          <p:nvPr/>
        </p:nvSpPr>
        <p:spPr>
          <a:xfrm>
            <a:off x="3456432" y="1417320"/>
            <a:ext cx="64008" cy="2103120"/>
          </a:xfrm>
          <a:prstGeom prst="rect">
            <a:avLst/>
          </a:prstGeom>
          <a:solidFill>
            <a:srgbClr val="E0563B"/>
          </a:solidFill>
          <a:ln/>
        </p:spPr>
      </p:sp>
      <p:sp>
        <p:nvSpPr>
          <p:cNvPr id="13" name="Shape 10"/>
          <p:cNvSpPr/>
          <p:nvPr/>
        </p:nvSpPr>
        <p:spPr>
          <a:xfrm>
            <a:off x="3657600" y="1636776"/>
            <a:ext cx="548640" cy="548640"/>
          </a:xfrm>
          <a:prstGeom prst="ellipse">
            <a:avLst/>
          </a:prstGeom>
          <a:solidFill>
            <a:srgbClr val="FBE9E6"/>
          </a:solidFill>
          <a:ln/>
        </p:spPr>
      </p:sp>
      <p:pic>
        <p:nvPicPr>
          <p:cNvPr id="14" name="Image 1" descr="preencoded.png">    </p:cNvPr>
          <p:cNvPicPr>
            <a:picLocks noChangeAspect="1"/>
          </p:cNvPicPr>
          <p:nvPr/>
        </p:nvPicPr>
        <p:blipFill>
          <a:blip r:embed="rId2"/>
          <a:stretch>
            <a:fillRect/>
          </a:stretch>
        </p:blipFill>
        <p:spPr>
          <a:xfrm>
            <a:off x="3785616" y="1764792"/>
            <a:ext cx="292608" cy="292608"/>
          </a:xfrm>
          <a:prstGeom prst="rect">
            <a:avLst/>
          </a:prstGeom>
        </p:spPr>
      </p:pic>
      <p:sp>
        <p:nvSpPr>
          <p:cNvPr id="15" name="Text 11"/>
          <p:cNvSpPr/>
          <p:nvPr/>
        </p:nvSpPr>
        <p:spPr>
          <a:xfrm>
            <a:off x="3657600" y="2313432"/>
            <a:ext cx="2249424" cy="329184"/>
          </a:xfrm>
          <a:prstGeom prst="rect">
            <a:avLst/>
          </a:prstGeom>
          <a:noFill/>
          <a:ln/>
        </p:spPr>
        <p:txBody>
          <a:bodyPr wrap="square" lIns="0" tIns="0" rIns="0" bIns="0" rtlCol="0" anchor="ctr"/>
          <a:lstStyle/>
          <a:p>
            <a:pPr indent="0" marL="0">
              <a:buNone/>
            </a:pPr>
            <a:r>
              <a:rPr lang="en-US" sz="1600" b="1" dirty="0">
                <a:solidFill>
                  <a:srgbClr val="1B2447"/>
                </a:solidFill>
                <a:latin typeface="Georgia" pitchFamily="34" charset="0"/>
                <a:ea typeface="Georgia" pitchFamily="34" charset="-122"/>
                <a:cs typeface="Georgia" pitchFamily="34" charset="-120"/>
              </a:rPr>
              <a:t>Runaway cost</a:t>
            </a:r>
            <a:endParaRPr lang="en-US" sz="1600" dirty="0"/>
          </a:p>
        </p:txBody>
      </p:sp>
      <p:sp>
        <p:nvSpPr>
          <p:cNvPr id="16" name="Text 12"/>
          <p:cNvSpPr/>
          <p:nvPr/>
        </p:nvSpPr>
        <p:spPr>
          <a:xfrm>
            <a:off x="3657600" y="2660904"/>
            <a:ext cx="2231136" cy="786384"/>
          </a:xfrm>
          <a:prstGeom prst="rect">
            <a:avLst/>
          </a:prstGeom>
          <a:noFill/>
          <a:ln/>
        </p:spPr>
        <p:txBody>
          <a:bodyPr wrap="square" lIns="0" tIns="0" rIns="0" bIns="0" rtlCol="0" anchor="ctr"/>
          <a:lstStyle/>
          <a:p>
            <a:pPr indent="0" marL="0">
              <a:buNone/>
            </a:pPr>
            <a:r>
              <a:rPr lang="en-US" sz="1100" dirty="0">
                <a:solidFill>
                  <a:srgbClr val="5A6781"/>
                </a:solidFill>
                <a:latin typeface="Calibri" pitchFamily="34" charset="0"/>
                <a:ea typeface="Calibri" pitchFamily="34" charset="-122"/>
                <a:cs typeface="Calibri" pitchFamily="34" charset="-120"/>
              </a:rPr>
              <a:t>Tokens are billed per call with no per-project budget, quota or visibility until the invoice arrives.</a:t>
            </a:r>
            <a:endParaRPr lang="en-US" sz="1100" dirty="0"/>
          </a:p>
        </p:txBody>
      </p:sp>
      <p:sp>
        <p:nvSpPr>
          <p:cNvPr id="17" name="Shape 13"/>
          <p:cNvSpPr/>
          <p:nvPr/>
        </p:nvSpPr>
        <p:spPr>
          <a:xfrm>
            <a:off x="6254496" y="1417320"/>
            <a:ext cx="2615184" cy="21031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8" name="Shape 14"/>
          <p:cNvSpPr/>
          <p:nvPr/>
        </p:nvSpPr>
        <p:spPr>
          <a:xfrm>
            <a:off x="6254496" y="1417320"/>
            <a:ext cx="64008" cy="2103120"/>
          </a:xfrm>
          <a:prstGeom prst="rect">
            <a:avLst/>
          </a:prstGeom>
          <a:solidFill>
            <a:srgbClr val="E0563B"/>
          </a:solidFill>
          <a:ln/>
        </p:spPr>
      </p:sp>
      <p:sp>
        <p:nvSpPr>
          <p:cNvPr id="19" name="Shape 15"/>
          <p:cNvSpPr/>
          <p:nvPr/>
        </p:nvSpPr>
        <p:spPr>
          <a:xfrm>
            <a:off x="6455664" y="1636776"/>
            <a:ext cx="548640" cy="548640"/>
          </a:xfrm>
          <a:prstGeom prst="ellipse">
            <a:avLst/>
          </a:prstGeom>
          <a:solidFill>
            <a:srgbClr val="FBE9E6"/>
          </a:solidFill>
          <a:ln/>
        </p:spPr>
      </p:sp>
      <p:pic>
        <p:nvPicPr>
          <p:cNvPr id="20" name="Image 2" descr="preencoded.png">    </p:cNvPr>
          <p:cNvPicPr>
            <a:picLocks noChangeAspect="1"/>
          </p:cNvPicPr>
          <p:nvPr/>
        </p:nvPicPr>
        <p:blipFill>
          <a:blip r:embed="rId3"/>
          <a:stretch>
            <a:fillRect/>
          </a:stretch>
        </p:blipFill>
        <p:spPr>
          <a:xfrm>
            <a:off x="6583680" y="1764792"/>
            <a:ext cx="292608" cy="292608"/>
          </a:xfrm>
          <a:prstGeom prst="rect">
            <a:avLst/>
          </a:prstGeom>
        </p:spPr>
      </p:pic>
      <p:sp>
        <p:nvSpPr>
          <p:cNvPr id="21" name="Text 16"/>
          <p:cNvSpPr/>
          <p:nvPr/>
        </p:nvSpPr>
        <p:spPr>
          <a:xfrm>
            <a:off x="6455664" y="2313432"/>
            <a:ext cx="2249424" cy="329184"/>
          </a:xfrm>
          <a:prstGeom prst="rect">
            <a:avLst/>
          </a:prstGeom>
          <a:noFill/>
          <a:ln/>
        </p:spPr>
        <p:txBody>
          <a:bodyPr wrap="square" lIns="0" tIns="0" rIns="0" bIns="0" rtlCol="0" anchor="ctr"/>
          <a:lstStyle/>
          <a:p>
            <a:pPr indent="0" marL="0">
              <a:buNone/>
            </a:pPr>
            <a:r>
              <a:rPr lang="en-US" sz="1600" b="1" dirty="0">
                <a:solidFill>
                  <a:srgbClr val="1B2447"/>
                </a:solidFill>
                <a:latin typeface="Georgia" pitchFamily="34" charset="0"/>
                <a:ea typeface="Georgia" pitchFamily="34" charset="-122"/>
                <a:cs typeface="Georgia" pitchFamily="34" charset="-120"/>
              </a:rPr>
              <a:t>Weak guardrails</a:t>
            </a:r>
            <a:endParaRPr lang="en-US" sz="1600" dirty="0"/>
          </a:p>
        </p:txBody>
      </p:sp>
      <p:sp>
        <p:nvSpPr>
          <p:cNvPr id="22" name="Text 17"/>
          <p:cNvSpPr/>
          <p:nvPr/>
        </p:nvSpPr>
        <p:spPr>
          <a:xfrm>
            <a:off x="6455664" y="2660904"/>
            <a:ext cx="2231136" cy="786384"/>
          </a:xfrm>
          <a:prstGeom prst="rect">
            <a:avLst/>
          </a:prstGeom>
          <a:noFill/>
          <a:ln/>
        </p:spPr>
        <p:txBody>
          <a:bodyPr wrap="square" lIns="0" tIns="0" rIns="0" bIns="0" rtlCol="0" anchor="ctr"/>
          <a:lstStyle/>
          <a:p>
            <a:pPr indent="0" marL="0">
              <a:buNone/>
            </a:pPr>
            <a:r>
              <a:rPr lang="en-US" sz="1100" dirty="0">
                <a:solidFill>
                  <a:srgbClr val="5A6781"/>
                </a:solidFill>
                <a:latin typeface="Calibri" pitchFamily="34" charset="0"/>
                <a:ea typeface="Calibri" pitchFamily="34" charset="-122"/>
                <a:cs typeface="Calibri" pitchFamily="34" charset="-120"/>
              </a:rPr>
              <a:t>Keys land in apps, moderation is inconsistent, and there is no central audit trail across projects.</a:t>
            </a:r>
            <a:endParaRPr lang="en-US" sz="1100" dirty="0"/>
          </a:p>
        </p:txBody>
      </p:sp>
      <p:sp>
        <p:nvSpPr>
          <p:cNvPr id="23" name="Shape 18"/>
          <p:cNvSpPr/>
          <p:nvPr/>
        </p:nvSpPr>
        <p:spPr>
          <a:xfrm>
            <a:off x="658368" y="3794760"/>
            <a:ext cx="7827264" cy="786384"/>
          </a:xfrm>
          <a:prstGeom prst="rect">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914400" y="4023360"/>
            <a:ext cx="329184" cy="329184"/>
          </a:xfrm>
          <a:prstGeom prst="rect">
            <a:avLst/>
          </a:prstGeom>
        </p:spPr>
      </p:pic>
      <p:sp>
        <p:nvSpPr>
          <p:cNvPr id="25" name="Text 19"/>
          <p:cNvSpPr/>
          <p:nvPr/>
        </p:nvSpPr>
        <p:spPr>
          <a:xfrm>
            <a:off x="1371600" y="3794760"/>
            <a:ext cx="6949440" cy="786384"/>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Foundry now lets you </a:t>
            </a:r>
            <a:pPr indent="0" marL="0">
              <a:buNone/>
            </a:pPr>
            <a:r>
              <a:rPr lang="en-US" sz="1350" b="1" dirty="0">
                <a:solidFill>
                  <a:srgbClr val="FFFFFF"/>
                </a:solidFill>
                <a:latin typeface="Calibri" pitchFamily="34" charset="0"/>
                <a:ea typeface="Calibri" pitchFamily="34" charset="-122"/>
                <a:cs typeface="Calibri" pitchFamily="34" charset="-120"/>
              </a:rPr>
              <a:t>turn governance on at the resource level</a:t>
            </a:r>
            <a:pPr indent="0" marL="0">
              <a:buNone/>
            </a:pPr>
            <a:r>
              <a:rPr lang="en-US" sz="1350" dirty="0">
                <a:solidFill>
                  <a:srgbClr val="CADCFC"/>
                </a:solidFill>
                <a:latin typeface="Calibri" pitchFamily="34" charset="0"/>
                <a:ea typeface="Calibri" pitchFamily="34" charset="-122"/>
                <a:cs typeface="Calibri" pitchFamily="34" charset="-120"/>
              </a:rPr>
              <a:t> — no per-app plumbing.</a:t>
            </a:r>
            <a:endParaRPr lang="en-US" sz="1350" dirty="0"/>
          </a:p>
        </p:txBody>
      </p:sp>
      <p:sp>
        <p:nvSpPr>
          <p:cNvPr id="26" name="Text 20"/>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27" name="Text 21"/>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The AI gateway, now native in Foundry</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GOVERN FROM INSIDE YOUR FOUNDRY ENVIRONMENT</a:t>
            </a:r>
            <a:endParaRPr lang="en-US" sz="1150" dirty="0"/>
          </a:p>
        </p:txBody>
      </p:sp>
      <p:sp>
        <p:nvSpPr>
          <p:cNvPr id="5" name="Text 3"/>
          <p:cNvSpPr/>
          <p:nvPr/>
        </p:nvSpPr>
        <p:spPr>
          <a:xfrm>
            <a:off x="658368" y="1234440"/>
            <a:ext cx="7772400" cy="868680"/>
          </a:xfrm>
          <a:prstGeom prst="rect">
            <a:avLst/>
          </a:prstGeom>
          <a:noFill/>
          <a:ln/>
        </p:spPr>
        <p:txBody>
          <a:bodyPr wrap="square" lIns="0" tIns="0" rIns="0" bIns="0" rtlCol="0" anchor="ctr"/>
          <a:lstStyle/>
          <a:p>
            <a:pPr indent="0" marL="0">
              <a:buNone/>
            </a:pPr>
            <a:r>
              <a:rPr lang="en-US" sz="1300" dirty="0">
                <a:solidFill>
                  <a:srgbClr val="1B2447"/>
                </a:solidFill>
                <a:latin typeface="Calibri" pitchFamily="34" charset="0"/>
                <a:ea typeface="Calibri" pitchFamily="34" charset="-122"/>
                <a:cs typeface="Calibri" pitchFamily="34" charset="-120"/>
              </a:rPr>
              <a:t>You can integrate an AI gateway directly into Microsoft Foundry. Azure API Management runs behind the scenes, but you create, attach and govern it from the Foundry Admin console. Once associated, every model, agent and tool call for an enabled project flows through the gateway.</a:t>
            </a:r>
            <a:endParaRPr lang="en-US" sz="1300" dirty="0"/>
          </a:p>
        </p:txBody>
      </p:sp>
      <p:sp>
        <p:nvSpPr>
          <p:cNvPr id="6" name="Shape 4"/>
          <p:cNvSpPr/>
          <p:nvPr/>
        </p:nvSpPr>
        <p:spPr>
          <a:xfrm>
            <a:off x="822960" y="2788920"/>
            <a:ext cx="1920240" cy="1097280"/>
          </a:xfrm>
          <a:prstGeom prst="roundRect">
            <a:avLst>
              <a:gd name="adj" fmla="val 6667"/>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1591056" y="2898648"/>
            <a:ext cx="384048" cy="384048"/>
          </a:xfrm>
          <a:prstGeom prst="rect">
            <a:avLst/>
          </a:prstGeom>
        </p:spPr>
      </p:pic>
      <p:sp>
        <p:nvSpPr>
          <p:cNvPr id="8" name="Text 5"/>
          <p:cNvSpPr/>
          <p:nvPr/>
        </p:nvSpPr>
        <p:spPr>
          <a:xfrm>
            <a:off x="877824" y="3355848"/>
            <a:ext cx="1810512" cy="310896"/>
          </a:xfrm>
          <a:prstGeom prst="rect">
            <a:avLst/>
          </a:prstGeom>
          <a:noFill/>
          <a:ln/>
        </p:spPr>
        <p:txBody>
          <a:bodyPr wrap="square" lIns="0" tIns="0" rIns="0" bIns="0" rtlCol="0" anchor="ctr"/>
          <a:lstStyle/>
          <a:p>
            <a:pPr algn="ctr" indent="0" marL="0">
              <a:buNone/>
            </a:pPr>
            <a:r>
              <a:rPr lang="en-US" sz="1300" b="1" dirty="0">
                <a:solidFill>
                  <a:srgbClr val="1B2447"/>
                </a:solidFill>
                <a:latin typeface="Georgia" pitchFamily="34" charset="0"/>
                <a:ea typeface="Georgia" pitchFamily="34" charset="-122"/>
                <a:cs typeface="Georgia" pitchFamily="34" charset="-120"/>
              </a:rPr>
              <a:t>Foundry project</a:t>
            </a:r>
            <a:endParaRPr lang="en-US" sz="1300" dirty="0"/>
          </a:p>
        </p:txBody>
      </p:sp>
      <p:sp>
        <p:nvSpPr>
          <p:cNvPr id="9" name="Text 6"/>
          <p:cNvSpPr/>
          <p:nvPr/>
        </p:nvSpPr>
        <p:spPr>
          <a:xfrm>
            <a:off x="896112" y="3666744"/>
            <a:ext cx="1773936" cy="164592"/>
          </a:xfrm>
          <a:prstGeom prst="rect">
            <a:avLst/>
          </a:prstGeom>
          <a:noFill/>
          <a:ln/>
        </p:spPr>
        <p:txBody>
          <a:bodyPr wrap="square" lIns="0" tIns="0" rIns="0" bIns="0" rtlCol="0" anchor="t"/>
          <a:lstStyle/>
          <a:p>
            <a:pPr algn="ctr" indent="0" marL="0">
              <a:buNone/>
            </a:pPr>
            <a:r>
              <a:rPr lang="en-US" sz="950" dirty="0">
                <a:solidFill>
                  <a:srgbClr val="5A6781"/>
                </a:solidFill>
                <a:latin typeface="Calibri" pitchFamily="34" charset="0"/>
                <a:ea typeface="Calibri" pitchFamily="34" charset="-122"/>
                <a:cs typeface="Calibri" pitchFamily="34" charset="-120"/>
              </a:rPr>
              <a:t>Apps · agents · tools</a:t>
            </a:r>
            <a:endParaRPr lang="en-US" sz="950" dirty="0"/>
          </a:p>
        </p:txBody>
      </p:sp>
      <p:sp>
        <p:nvSpPr>
          <p:cNvPr id="10" name="Shape 7"/>
          <p:cNvSpPr/>
          <p:nvPr/>
        </p:nvSpPr>
        <p:spPr>
          <a:xfrm>
            <a:off x="3611880" y="2788920"/>
            <a:ext cx="1920240" cy="1097280"/>
          </a:xfrm>
          <a:prstGeom prst="roundRect">
            <a:avLst>
              <a:gd name="adj" fmla="val 6667"/>
            </a:avLst>
          </a:prstGeom>
          <a:solidFill>
            <a:srgbClr val="1E2761"/>
          </a:solidFill>
          <a:ln w="12700">
            <a:solidFill>
              <a:srgbClr val="1E2761"/>
            </a:solidFill>
            <a:prstDash val="solid"/>
          </a:ln>
          <a:effectLst>
            <a:outerShdw sx="100000" sy="100000" kx="0" ky="0" algn="bl" rotWithShape="0" blurRad="88900" dist="38100" dir="81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4379976" y="2898648"/>
            <a:ext cx="384048" cy="384048"/>
          </a:xfrm>
          <a:prstGeom prst="rect">
            <a:avLst/>
          </a:prstGeom>
        </p:spPr>
      </p:pic>
      <p:sp>
        <p:nvSpPr>
          <p:cNvPr id="12" name="Text 8"/>
          <p:cNvSpPr/>
          <p:nvPr/>
        </p:nvSpPr>
        <p:spPr>
          <a:xfrm>
            <a:off x="3666744" y="3355848"/>
            <a:ext cx="1810512"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AI Gateway</a:t>
            </a:r>
            <a:endParaRPr lang="en-US" sz="1300" dirty="0"/>
          </a:p>
        </p:txBody>
      </p:sp>
      <p:sp>
        <p:nvSpPr>
          <p:cNvPr id="13" name="Text 9"/>
          <p:cNvSpPr/>
          <p:nvPr/>
        </p:nvSpPr>
        <p:spPr>
          <a:xfrm>
            <a:off x="3685032" y="3666744"/>
            <a:ext cx="1773936" cy="164592"/>
          </a:xfrm>
          <a:prstGeom prst="rect">
            <a:avLst/>
          </a:prstGeom>
          <a:noFill/>
          <a:ln/>
        </p:spPr>
        <p:txBody>
          <a:bodyPr wrap="square" lIns="0" tIns="0" rIns="0" bIns="0" rtlCol="0" anchor="t"/>
          <a:lstStyle/>
          <a:p>
            <a:pPr algn="ctr" indent="0" marL="0">
              <a:buNone/>
            </a:pPr>
            <a:r>
              <a:rPr lang="en-US" sz="950" dirty="0">
                <a:solidFill>
                  <a:srgbClr val="CADCFC"/>
                </a:solidFill>
                <a:latin typeface="Calibri" pitchFamily="34" charset="0"/>
                <a:ea typeface="Calibri" pitchFamily="34" charset="-122"/>
                <a:cs typeface="Calibri" pitchFamily="34" charset="-120"/>
              </a:rPr>
              <a:t>API Management, managed by Foundry</a:t>
            </a:r>
            <a:endParaRPr lang="en-US" sz="950" dirty="0"/>
          </a:p>
        </p:txBody>
      </p:sp>
      <p:sp>
        <p:nvSpPr>
          <p:cNvPr id="14" name="Shape 10"/>
          <p:cNvSpPr/>
          <p:nvPr/>
        </p:nvSpPr>
        <p:spPr>
          <a:xfrm>
            <a:off x="6400800" y="2788920"/>
            <a:ext cx="1920240" cy="1097280"/>
          </a:xfrm>
          <a:prstGeom prst="roundRect">
            <a:avLst>
              <a:gd name="adj" fmla="val 6667"/>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7168896" y="2898648"/>
            <a:ext cx="384048" cy="384048"/>
          </a:xfrm>
          <a:prstGeom prst="rect">
            <a:avLst/>
          </a:prstGeom>
        </p:spPr>
      </p:pic>
      <p:sp>
        <p:nvSpPr>
          <p:cNvPr id="16" name="Text 11"/>
          <p:cNvSpPr/>
          <p:nvPr/>
        </p:nvSpPr>
        <p:spPr>
          <a:xfrm>
            <a:off x="6455664" y="3355848"/>
            <a:ext cx="1810512" cy="310896"/>
          </a:xfrm>
          <a:prstGeom prst="rect">
            <a:avLst/>
          </a:prstGeom>
          <a:noFill/>
          <a:ln/>
        </p:spPr>
        <p:txBody>
          <a:bodyPr wrap="square" lIns="0" tIns="0" rIns="0" bIns="0" rtlCol="0" anchor="ctr"/>
          <a:lstStyle/>
          <a:p>
            <a:pPr algn="ctr" indent="0" marL="0">
              <a:buNone/>
            </a:pPr>
            <a:r>
              <a:rPr lang="en-US" sz="1300" b="1" dirty="0">
                <a:solidFill>
                  <a:srgbClr val="1B2447"/>
                </a:solidFill>
                <a:latin typeface="Georgia" pitchFamily="34" charset="0"/>
                <a:ea typeface="Georgia" pitchFamily="34" charset="-122"/>
                <a:cs typeface="Georgia" pitchFamily="34" charset="-120"/>
              </a:rPr>
              <a:t>Foundry building blocks</a:t>
            </a:r>
            <a:endParaRPr lang="en-US" sz="1300" dirty="0"/>
          </a:p>
        </p:txBody>
      </p:sp>
      <p:sp>
        <p:nvSpPr>
          <p:cNvPr id="17" name="Text 12"/>
          <p:cNvSpPr/>
          <p:nvPr/>
        </p:nvSpPr>
        <p:spPr>
          <a:xfrm>
            <a:off x="6473952" y="3666744"/>
            <a:ext cx="1773936" cy="164592"/>
          </a:xfrm>
          <a:prstGeom prst="rect">
            <a:avLst/>
          </a:prstGeom>
          <a:noFill/>
          <a:ln/>
        </p:spPr>
        <p:txBody>
          <a:bodyPr wrap="square" lIns="0" tIns="0" rIns="0" bIns="0" rtlCol="0" anchor="t"/>
          <a:lstStyle/>
          <a:p>
            <a:pPr algn="ctr" indent="0" marL="0">
              <a:buNone/>
            </a:pPr>
            <a:r>
              <a:rPr lang="en-US" sz="950" dirty="0">
                <a:solidFill>
                  <a:srgbClr val="5A6781"/>
                </a:solidFill>
                <a:latin typeface="Calibri" pitchFamily="34" charset="0"/>
                <a:ea typeface="Calibri" pitchFamily="34" charset="-122"/>
                <a:cs typeface="Calibri" pitchFamily="34" charset="-120"/>
              </a:rPr>
              <a:t>Models · agents · MCP tools</a:t>
            </a:r>
            <a:endParaRPr lang="en-US" sz="950" dirty="0"/>
          </a:p>
        </p:txBody>
      </p:sp>
      <p:sp>
        <p:nvSpPr>
          <p:cNvPr id="18" name="Shape 13"/>
          <p:cNvSpPr/>
          <p:nvPr/>
        </p:nvSpPr>
        <p:spPr>
          <a:xfrm>
            <a:off x="2788920" y="3337560"/>
            <a:ext cx="749808" cy="0"/>
          </a:xfrm>
          <a:prstGeom prst="line">
            <a:avLst/>
          </a:prstGeom>
          <a:noFill/>
          <a:ln w="28575">
            <a:solidFill>
              <a:srgbClr val="4F86F7"/>
            </a:solidFill>
            <a:prstDash val="solid"/>
            <a:tailEnd type="triangle"/>
          </a:ln>
        </p:spPr>
      </p:sp>
      <p:sp>
        <p:nvSpPr>
          <p:cNvPr id="19" name="Shape 14"/>
          <p:cNvSpPr/>
          <p:nvPr/>
        </p:nvSpPr>
        <p:spPr>
          <a:xfrm>
            <a:off x="5577840" y="3337560"/>
            <a:ext cx="749808" cy="0"/>
          </a:xfrm>
          <a:prstGeom prst="line">
            <a:avLst/>
          </a:prstGeom>
          <a:noFill/>
          <a:ln w="28575">
            <a:solidFill>
              <a:srgbClr val="4F86F7"/>
            </a:solidFill>
            <a:prstDash val="solid"/>
            <a:tailEnd type="triangle"/>
          </a:ln>
        </p:spPr>
      </p:sp>
      <p:sp>
        <p:nvSpPr>
          <p:cNvPr id="20" name="Shape 15"/>
          <p:cNvSpPr/>
          <p:nvPr/>
        </p:nvSpPr>
        <p:spPr>
          <a:xfrm>
            <a:off x="868680" y="4160520"/>
            <a:ext cx="1389888" cy="365760"/>
          </a:xfrm>
          <a:prstGeom prst="roundRect">
            <a:avLst>
              <a:gd name="adj" fmla="val 50000"/>
            </a:avLst>
          </a:prstGeom>
          <a:solidFill>
            <a:srgbClr val="CADCFC"/>
          </a:solidFill>
          <a:ln/>
        </p:spPr>
      </p:sp>
      <p:sp>
        <p:nvSpPr>
          <p:cNvPr id="21" name="Text 16"/>
          <p:cNvSpPr/>
          <p:nvPr/>
        </p:nvSpPr>
        <p:spPr>
          <a:xfrm>
            <a:off x="868680" y="4160520"/>
            <a:ext cx="1389888" cy="3657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Token limits</a:t>
            </a:r>
            <a:endParaRPr lang="en-US" sz="1050" dirty="0"/>
          </a:p>
        </p:txBody>
      </p:sp>
      <p:sp>
        <p:nvSpPr>
          <p:cNvPr id="22" name="Shape 17"/>
          <p:cNvSpPr/>
          <p:nvPr/>
        </p:nvSpPr>
        <p:spPr>
          <a:xfrm>
            <a:off x="2423160" y="4160520"/>
            <a:ext cx="923544" cy="365760"/>
          </a:xfrm>
          <a:prstGeom prst="roundRect">
            <a:avLst>
              <a:gd name="adj" fmla="val 50000"/>
            </a:avLst>
          </a:prstGeom>
          <a:solidFill>
            <a:srgbClr val="CADCFC"/>
          </a:solidFill>
          <a:ln/>
        </p:spPr>
      </p:sp>
      <p:sp>
        <p:nvSpPr>
          <p:cNvPr id="23" name="Text 18"/>
          <p:cNvSpPr/>
          <p:nvPr/>
        </p:nvSpPr>
        <p:spPr>
          <a:xfrm>
            <a:off x="2423160" y="4160520"/>
            <a:ext cx="923544" cy="3657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Quotas</a:t>
            </a:r>
            <a:endParaRPr lang="en-US" sz="1050" dirty="0"/>
          </a:p>
        </p:txBody>
      </p:sp>
      <p:sp>
        <p:nvSpPr>
          <p:cNvPr id="24" name="Shape 19"/>
          <p:cNvSpPr/>
          <p:nvPr/>
        </p:nvSpPr>
        <p:spPr>
          <a:xfrm>
            <a:off x="3511296" y="4160520"/>
            <a:ext cx="1545336" cy="365760"/>
          </a:xfrm>
          <a:prstGeom prst="roundRect">
            <a:avLst>
              <a:gd name="adj" fmla="val 50000"/>
            </a:avLst>
          </a:prstGeom>
          <a:solidFill>
            <a:srgbClr val="CADCFC"/>
          </a:solidFill>
          <a:ln/>
        </p:spPr>
      </p:sp>
      <p:sp>
        <p:nvSpPr>
          <p:cNvPr id="25" name="Text 20"/>
          <p:cNvSpPr/>
          <p:nvPr/>
        </p:nvSpPr>
        <p:spPr>
          <a:xfrm>
            <a:off x="3511296" y="4160520"/>
            <a:ext cx="1545336" cy="3657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Content safety</a:t>
            </a:r>
            <a:endParaRPr lang="en-US" sz="1050" dirty="0"/>
          </a:p>
        </p:txBody>
      </p:sp>
      <p:sp>
        <p:nvSpPr>
          <p:cNvPr id="26" name="Shape 21"/>
          <p:cNvSpPr/>
          <p:nvPr/>
        </p:nvSpPr>
        <p:spPr>
          <a:xfrm>
            <a:off x="5221224" y="4160520"/>
            <a:ext cx="1234440" cy="365760"/>
          </a:xfrm>
          <a:prstGeom prst="roundRect">
            <a:avLst>
              <a:gd name="adj" fmla="val 50000"/>
            </a:avLst>
          </a:prstGeom>
          <a:solidFill>
            <a:srgbClr val="CADCFC"/>
          </a:solidFill>
          <a:ln/>
        </p:spPr>
      </p:sp>
      <p:sp>
        <p:nvSpPr>
          <p:cNvPr id="27" name="Text 22"/>
          <p:cNvSpPr/>
          <p:nvPr/>
        </p:nvSpPr>
        <p:spPr>
          <a:xfrm>
            <a:off x="5221224" y="4160520"/>
            <a:ext cx="1234440" cy="3657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Throttling</a:t>
            </a:r>
            <a:endParaRPr lang="en-US" sz="1050" dirty="0"/>
          </a:p>
        </p:txBody>
      </p:sp>
      <p:sp>
        <p:nvSpPr>
          <p:cNvPr id="28" name="Shape 23"/>
          <p:cNvSpPr/>
          <p:nvPr/>
        </p:nvSpPr>
        <p:spPr>
          <a:xfrm>
            <a:off x="6620256" y="4160520"/>
            <a:ext cx="1156716" cy="365760"/>
          </a:xfrm>
          <a:prstGeom prst="roundRect">
            <a:avLst>
              <a:gd name="adj" fmla="val 50000"/>
            </a:avLst>
          </a:prstGeom>
          <a:solidFill>
            <a:srgbClr val="CADCFC"/>
          </a:solidFill>
          <a:ln/>
        </p:spPr>
      </p:sp>
      <p:sp>
        <p:nvSpPr>
          <p:cNvPr id="29" name="Text 24"/>
          <p:cNvSpPr/>
          <p:nvPr/>
        </p:nvSpPr>
        <p:spPr>
          <a:xfrm>
            <a:off x="6620256" y="4160520"/>
            <a:ext cx="1156716" cy="3657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Telemetry</a:t>
            </a:r>
            <a:endParaRPr lang="en-US" sz="1050" dirty="0"/>
          </a:p>
        </p:txBody>
      </p:sp>
      <p:sp>
        <p:nvSpPr>
          <p:cNvPr id="30" name="Shape 25"/>
          <p:cNvSpPr/>
          <p:nvPr/>
        </p:nvSpPr>
        <p:spPr>
          <a:xfrm>
            <a:off x="7941564" y="4160520"/>
            <a:ext cx="1156716" cy="365760"/>
          </a:xfrm>
          <a:prstGeom prst="roundRect">
            <a:avLst>
              <a:gd name="adj" fmla="val 50000"/>
            </a:avLst>
          </a:prstGeom>
          <a:solidFill>
            <a:srgbClr val="CADCFC"/>
          </a:solidFill>
          <a:ln/>
        </p:spPr>
      </p:sp>
      <p:sp>
        <p:nvSpPr>
          <p:cNvPr id="31" name="Text 26"/>
          <p:cNvSpPr/>
          <p:nvPr/>
        </p:nvSpPr>
        <p:spPr>
          <a:xfrm>
            <a:off x="7941564" y="4160520"/>
            <a:ext cx="1156716" cy="36576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Inventory</a:t>
            </a:r>
            <a:endParaRPr lang="en-US" sz="1050" dirty="0"/>
          </a:p>
        </p:txBody>
      </p:sp>
      <p:sp>
        <p:nvSpPr>
          <p:cNvPr id="32" name="Text 27"/>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33" name="Text 28"/>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Why enable it in Foundry</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FOUR JOBS, ONE CONTROL PLANE</a:t>
            </a:r>
            <a:endParaRPr lang="en-US" sz="1150" dirty="0"/>
          </a:p>
        </p:txBody>
      </p:sp>
      <p:sp>
        <p:nvSpPr>
          <p:cNvPr id="5" name="Shape 3"/>
          <p:cNvSpPr/>
          <p:nvPr/>
        </p:nvSpPr>
        <p:spPr>
          <a:xfrm>
            <a:off x="658368" y="1371600"/>
            <a:ext cx="3822192" cy="14173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6" name="Shape 4"/>
          <p:cNvSpPr/>
          <p:nvPr/>
        </p:nvSpPr>
        <p:spPr>
          <a:xfrm>
            <a:off x="658368" y="1371600"/>
            <a:ext cx="64008" cy="1417320"/>
          </a:xfrm>
          <a:prstGeom prst="rect">
            <a:avLst/>
          </a:prstGeom>
          <a:solidFill>
            <a:srgbClr val="4F86F7"/>
          </a:solidFill>
          <a:ln/>
        </p:spPr>
      </p:sp>
      <p:sp>
        <p:nvSpPr>
          <p:cNvPr id="7" name="Shape 5"/>
          <p:cNvSpPr/>
          <p:nvPr/>
        </p:nvSpPr>
        <p:spPr>
          <a:xfrm>
            <a:off x="896112" y="1627632"/>
            <a:ext cx="603504" cy="603504"/>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1051560" y="1783080"/>
            <a:ext cx="292608" cy="292608"/>
          </a:xfrm>
          <a:prstGeom prst="rect">
            <a:avLst/>
          </a:prstGeom>
        </p:spPr>
      </p:pic>
      <p:sp>
        <p:nvSpPr>
          <p:cNvPr id="9" name="Text 6"/>
          <p:cNvSpPr/>
          <p:nvPr/>
        </p:nvSpPr>
        <p:spPr>
          <a:xfrm>
            <a:off x="1682496" y="1591056"/>
            <a:ext cx="2633472" cy="347472"/>
          </a:xfrm>
          <a:prstGeom prst="rect">
            <a:avLst/>
          </a:prstGeom>
          <a:noFill/>
          <a:ln/>
        </p:spPr>
        <p:txBody>
          <a:bodyPr wrap="square" lIns="0" tIns="0" rIns="0" bIns="0"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Secure</a:t>
            </a:r>
            <a:endParaRPr lang="en-US" sz="1700" dirty="0"/>
          </a:p>
        </p:txBody>
      </p:sp>
      <p:sp>
        <p:nvSpPr>
          <p:cNvPr id="10" name="Text 7"/>
          <p:cNvSpPr/>
          <p:nvPr/>
        </p:nvSpPr>
        <p:spPr>
          <a:xfrm>
            <a:off x="1682496" y="1956816"/>
            <a:ext cx="2596896" cy="749808"/>
          </a:xfrm>
          <a:prstGeom prst="rect">
            <a:avLst/>
          </a:prstGeom>
          <a:noFill/>
          <a:ln/>
        </p:spPr>
        <p:txBody>
          <a:bodyPr wrap="square" lIns="0" tIns="0" rIns="0" bIns="0" rtlCol="0" anchor="ctr"/>
          <a:lstStyle/>
          <a:p>
            <a:pPr indent="0" marL="0">
              <a:buNone/>
            </a:pPr>
            <a:r>
              <a:rPr lang="en-US" sz="1050" dirty="0">
                <a:solidFill>
                  <a:srgbClr val="5A6781"/>
                </a:solidFill>
                <a:latin typeface="Calibri" pitchFamily="34" charset="0"/>
                <a:ea typeface="Calibri" pitchFamily="34" charset="-122"/>
                <a:cs typeface="Calibri" pitchFamily="34" charset="-120"/>
              </a:rPr>
              <a:t>Keyless managed-identity auth, content safety and policy enforcement applied centrally to every project.</a:t>
            </a:r>
            <a:endParaRPr lang="en-US" sz="1050" dirty="0"/>
          </a:p>
        </p:txBody>
      </p:sp>
      <p:sp>
        <p:nvSpPr>
          <p:cNvPr id="11" name="Shape 8"/>
          <p:cNvSpPr/>
          <p:nvPr/>
        </p:nvSpPr>
        <p:spPr>
          <a:xfrm>
            <a:off x="4663440" y="1371600"/>
            <a:ext cx="3822192" cy="14173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2" name="Shape 9"/>
          <p:cNvSpPr/>
          <p:nvPr/>
        </p:nvSpPr>
        <p:spPr>
          <a:xfrm>
            <a:off x="4663440" y="1371600"/>
            <a:ext cx="64008" cy="1417320"/>
          </a:xfrm>
          <a:prstGeom prst="rect">
            <a:avLst/>
          </a:prstGeom>
          <a:solidFill>
            <a:srgbClr val="4F86F7"/>
          </a:solidFill>
          <a:ln/>
        </p:spPr>
      </p:sp>
      <p:sp>
        <p:nvSpPr>
          <p:cNvPr id="13" name="Shape 10"/>
          <p:cNvSpPr/>
          <p:nvPr/>
        </p:nvSpPr>
        <p:spPr>
          <a:xfrm>
            <a:off x="4901184" y="1627632"/>
            <a:ext cx="603504" cy="603504"/>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5056632" y="1783080"/>
            <a:ext cx="292608" cy="292608"/>
          </a:xfrm>
          <a:prstGeom prst="rect">
            <a:avLst/>
          </a:prstGeom>
        </p:spPr>
      </p:pic>
      <p:sp>
        <p:nvSpPr>
          <p:cNvPr id="15" name="Text 11"/>
          <p:cNvSpPr/>
          <p:nvPr/>
        </p:nvSpPr>
        <p:spPr>
          <a:xfrm>
            <a:off x="5687568" y="1591056"/>
            <a:ext cx="2633472" cy="347472"/>
          </a:xfrm>
          <a:prstGeom prst="rect">
            <a:avLst/>
          </a:prstGeom>
          <a:noFill/>
          <a:ln/>
        </p:spPr>
        <p:txBody>
          <a:bodyPr wrap="square" lIns="0" tIns="0" rIns="0" bIns="0"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Contain</a:t>
            </a:r>
            <a:endParaRPr lang="en-US" sz="1700" dirty="0"/>
          </a:p>
        </p:txBody>
      </p:sp>
      <p:sp>
        <p:nvSpPr>
          <p:cNvPr id="16" name="Text 12"/>
          <p:cNvSpPr/>
          <p:nvPr/>
        </p:nvSpPr>
        <p:spPr>
          <a:xfrm>
            <a:off x="5687568" y="1956816"/>
            <a:ext cx="2596896" cy="749808"/>
          </a:xfrm>
          <a:prstGeom prst="rect">
            <a:avLst/>
          </a:prstGeom>
          <a:noFill/>
          <a:ln/>
        </p:spPr>
        <p:txBody>
          <a:bodyPr wrap="square" lIns="0" tIns="0" rIns="0" bIns="0" rtlCol="0" anchor="ctr"/>
          <a:lstStyle/>
          <a:p>
            <a:pPr indent="0" marL="0">
              <a:buNone/>
            </a:pPr>
            <a:r>
              <a:rPr lang="en-US" sz="1050" dirty="0">
                <a:solidFill>
                  <a:srgbClr val="5A6781"/>
                </a:solidFill>
                <a:latin typeface="Calibri" pitchFamily="34" charset="0"/>
                <a:ea typeface="Calibri" pitchFamily="34" charset="-122"/>
                <a:cs typeface="Calibri" pitchFamily="34" charset="-120"/>
              </a:rPr>
              <a:t>Per-project token limits stop one team monopolizing shared capacity and enforce predictable ceilings.</a:t>
            </a:r>
            <a:endParaRPr lang="en-US" sz="1050" dirty="0"/>
          </a:p>
        </p:txBody>
      </p:sp>
      <p:sp>
        <p:nvSpPr>
          <p:cNvPr id="17" name="Shape 13"/>
          <p:cNvSpPr/>
          <p:nvPr/>
        </p:nvSpPr>
        <p:spPr>
          <a:xfrm>
            <a:off x="658368" y="2971800"/>
            <a:ext cx="3822192" cy="14173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8" name="Shape 14"/>
          <p:cNvSpPr/>
          <p:nvPr/>
        </p:nvSpPr>
        <p:spPr>
          <a:xfrm>
            <a:off x="658368" y="2971800"/>
            <a:ext cx="64008" cy="1417320"/>
          </a:xfrm>
          <a:prstGeom prst="rect">
            <a:avLst/>
          </a:prstGeom>
          <a:solidFill>
            <a:srgbClr val="4F86F7"/>
          </a:solidFill>
          <a:ln/>
        </p:spPr>
      </p:sp>
      <p:sp>
        <p:nvSpPr>
          <p:cNvPr id="19" name="Shape 15"/>
          <p:cNvSpPr/>
          <p:nvPr/>
        </p:nvSpPr>
        <p:spPr>
          <a:xfrm>
            <a:off x="896112" y="3227832"/>
            <a:ext cx="603504" cy="603504"/>
          </a:xfrm>
          <a:prstGeom prst="ellipse">
            <a:avLst/>
          </a:prstGeom>
          <a:solidFill>
            <a:srgbClr val="1E2761"/>
          </a:solidFill>
          <a:ln/>
        </p:spPr>
      </p:sp>
      <p:pic>
        <p:nvPicPr>
          <p:cNvPr id="20" name="Image 2" descr="preencoded.png">    </p:cNvPr>
          <p:cNvPicPr>
            <a:picLocks noChangeAspect="1"/>
          </p:cNvPicPr>
          <p:nvPr/>
        </p:nvPicPr>
        <p:blipFill>
          <a:blip r:embed="rId3"/>
          <a:stretch>
            <a:fillRect/>
          </a:stretch>
        </p:blipFill>
        <p:spPr>
          <a:xfrm>
            <a:off x="1051560" y="3383280"/>
            <a:ext cx="292608" cy="292608"/>
          </a:xfrm>
          <a:prstGeom prst="rect">
            <a:avLst/>
          </a:prstGeom>
        </p:spPr>
      </p:pic>
      <p:sp>
        <p:nvSpPr>
          <p:cNvPr id="21" name="Text 16"/>
          <p:cNvSpPr/>
          <p:nvPr/>
        </p:nvSpPr>
        <p:spPr>
          <a:xfrm>
            <a:off x="1682496" y="3191256"/>
            <a:ext cx="2633472" cy="347472"/>
          </a:xfrm>
          <a:prstGeom prst="rect">
            <a:avLst/>
          </a:prstGeom>
          <a:noFill/>
          <a:ln/>
        </p:spPr>
        <p:txBody>
          <a:bodyPr wrap="square" lIns="0" tIns="0" rIns="0" bIns="0"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Observe</a:t>
            </a:r>
            <a:endParaRPr lang="en-US" sz="1700" dirty="0"/>
          </a:p>
        </p:txBody>
      </p:sp>
      <p:sp>
        <p:nvSpPr>
          <p:cNvPr id="22" name="Text 17"/>
          <p:cNvSpPr/>
          <p:nvPr/>
        </p:nvSpPr>
        <p:spPr>
          <a:xfrm>
            <a:off x="1682496" y="3557016"/>
            <a:ext cx="2596896" cy="749808"/>
          </a:xfrm>
          <a:prstGeom prst="rect">
            <a:avLst/>
          </a:prstGeom>
          <a:noFill/>
          <a:ln/>
        </p:spPr>
        <p:txBody>
          <a:bodyPr wrap="square" lIns="0" tIns="0" rIns="0" bIns="0" rtlCol="0" anchor="ctr"/>
          <a:lstStyle/>
          <a:p>
            <a:pPr indent="0" marL="0">
              <a:buNone/>
            </a:pPr>
            <a:r>
              <a:rPr lang="en-US" sz="1050" dirty="0">
                <a:solidFill>
                  <a:srgbClr val="5A6781"/>
                </a:solidFill>
                <a:latin typeface="Calibri" pitchFamily="34" charset="0"/>
                <a:ea typeface="Calibri" pitchFamily="34" charset="-122"/>
                <a:cs typeface="Calibri" pitchFamily="34" charset="-120"/>
              </a:rPr>
              <a:t>View telemetry in Foundry or Application Insights — tokens, latency, errors and gateway logs.</a:t>
            </a:r>
            <a:endParaRPr lang="en-US" sz="1050" dirty="0"/>
          </a:p>
        </p:txBody>
      </p:sp>
      <p:sp>
        <p:nvSpPr>
          <p:cNvPr id="23" name="Shape 18"/>
          <p:cNvSpPr/>
          <p:nvPr/>
        </p:nvSpPr>
        <p:spPr>
          <a:xfrm>
            <a:off x="4663440" y="2971800"/>
            <a:ext cx="3822192" cy="14173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24" name="Shape 19"/>
          <p:cNvSpPr/>
          <p:nvPr/>
        </p:nvSpPr>
        <p:spPr>
          <a:xfrm>
            <a:off x="4663440" y="2971800"/>
            <a:ext cx="64008" cy="1417320"/>
          </a:xfrm>
          <a:prstGeom prst="rect">
            <a:avLst/>
          </a:prstGeom>
          <a:solidFill>
            <a:srgbClr val="4F86F7"/>
          </a:solidFill>
          <a:ln/>
        </p:spPr>
      </p:sp>
      <p:sp>
        <p:nvSpPr>
          <p:cNvPr id="25" name="Shape 20"/>
          <p:cNvSpPr/>
          <p:nvPr/>
        </p:nvSpPr>
        <p:spPr>
          <a:xfrm>
            <a:off x="4901184" y="3227832"/>
            <a:ext cx="603504" cy="603504"/>
          </a:xfrm>
          <a:prstGeom prst="ellipse">
            <a:avLst/>
          </a:prstGeom>
          <a:solidFill>
            <a:srgbClr val="1E2761"/>
          </a:solidFill>
          <a:ln/>
        </p:spPr>
      </p:sp>
      <p:pic>
        <p:nvPicPr>
          <p:cNvPr id="26" name="Image 3" descr="preencoded.png">    </p:cNvPr>
          <p:cNvPicPr>
            <a:picLocks noChangeAspect="1"/>
          </p:cNvPicPr>
          <p:nvPr/>
        </p:nvPicPr>
        <p:blipFill>
          <a:blip r:embed="rId4"/>
          <a:stretch>
            <a:fillRect/>
          </a:stretch>
        </p:blipFill>
        <p:spPr>
          <a:xfrm>
            <a:off x="5056632" y="3383280"/>
            <a:ext cx="292608" cy="292608"/>
          </a:xfrm>
          <a:prstGeom prst="rect">
            <a:avLst/>
          </a:prstGeom>
        </p:spPr>
      </p:pic>
      <p:sp>
        <p:nvSpPr>
          <p:cNvPr id="27" name="Text 21"/>
          <p:cNvSpPr/>
          <p:nvPr/>
        </p:nvSpPr>
        <p:spPr>
          <a:xfrm>
            <a:off x="5687568" y="3191256"/>
            <a:ext cx="2633472" cy="347472"/>
          </a:xfrm>
          <a:prstGeom prst="rect">
            <a:avLst/>
          </a:prstGeom>
          <a:noFill/>
          <a:ln/>
        </p:spPr>
        <p:txBody>
          <a:bodyPr wrap="square" lIns="0" tIns="0" rIns="0" bIns="0"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Govern</a:t>
            </a:r>
            <a:endParaRPr lang="en-US" sz="1700" dirty="0"/>
          </a:p>
        </p:txBody>
      </p:sp>
      <p:sp>
        <p:nvSpPr>
          <p:cNvPr id="28" name="Text 22"/>
          <p:cNvSpPr/>
          <p:nvPr/>
        </p:nvSpPr>
        <p:spPr>
          <a:xfrm>
            <a:off x="5687568" y="3557016"/>
            <a:ext cx="2596896" cy="749808"/>
          </a:xfrm>
          <a:prstGeom prst="rect">
            <a:avLst/>
          </a:prstGeom>
          <a:noFill/>
          <a:ln/>
        </p:spPr>
        <p:txBody>
          <a:bodyPr wrap="square" lIns="0" tIns="0" rIns="0" bIns="0" rtlCol="0" anchor="ctr"/>
          <a:lstStyle/>
          <a:p>
            <a:pPr indent="0" marL="0">
              <a:buNone/>
            </a:pPr>
            <a:r>
              <a:rPr lang="en-US" sz="1050" dirty="0">
                <a:solidFill>
                  <a:srgbClr val="5A6781"/>
                </a:solidFill>
                <a:latin typeface="Calibri" pitchFamily="34" charset="0"/>
                <a:ea typeface="Calibri" pitchFamily="34" charset="-122"/>
                <a:cs typeface="Calibri" pitchFamily="34" charset="-120"/>
              </a:rPr>
              <a:t>Register models, agents and tools into one inventory and apply throttling and policies across them.</a:t>
            </a:r>
            <a:endParaRPr lang="en-US" sz="1050" dirty="0"/>
          </a:p>
        </p:txBody>
      </p:sp>
      <p:sp>
        <p:nvSpPr>
          <p:cNvPr id="29" name="Text 23"/>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30" name="Text 24"/>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When to turn the gateway on</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DIRECT-TO-FOUNDRY VS. FOUNDRY AI GATEWAY</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 y="1371600"/>
          <a:ext cx="7827264" cy="914400"/>
        </p:xfrm>
        <a:graphic>
          <a:graphicData uri="http://schemas.openxmlformats.org/drawingml/2006/table">
            <a:tbl>
              <a:tblPr/>
              <a:tblGrid>
                <a:gridCol w="2157984"/>
                <a:gridCol w="2743200"/>
                <a:gridCol w="2926080"/>
              </a:tblGrid>
              <a:tr h="384048">
                <a:tc>
                  <a:txBody>
                    <a:bodyPr/>
                    <a:lstStyle/>
                    <a:p>
                      <a:pPr indent="0" marL="0">
                        <a:buNone/>
                      </a:pPr>
                      <a:r>
                        <a:rPr lang="en-US" sz="1200" b="1" dirty="0">
                          <a:solidFill>
                            <a:srgbClr val="FFFFFF"/>
                          </a:solidFill>
                          <a:latin typeface="Georgia" pitchFamily="34" charset="0"/>
                          <a:ea typeface="Georgia" pitchFamily="34" charset="-122"/>
                          <a:cs typeface="Georgia" pitchFamily="34" charset="-120"/>
                        </a:rPr>
                        <a:t>Consideration</a:t>
                      </a:r>
                      <a:endParaRPr lang="en-US" sz="1200" dirty="0">
                        <a:latin typeface="Georgia" charset="0"/>
                        <a:ea typeface="Georgia" charset="0"/>
                        <a:cs typeface="Georgia"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Georgia" pitchFamily="34" charset="0"/>
                          <a:ea typeface="Georgia" pitchFamily="34" charset="-122"/>
                          <a:cs typeface="Georgia" pitchFamily="34" charset="-120"/>
                        </a:rPr>
                        <a:t>Direct to Foundry</a:t>
                      </a:r>
                      <a:endParaRPr lang="en-US" sz="1200" dirty="0">
                        <a:latin typeface="Georgia" charset="0"/>
                        <a:ea typeface="Georgia" charset="0"/>
                        <a:cs typeface="Georgia"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Georgia" pitchFamily="34" charset="0"/>
                          <a:ea typeface="Georgia" pitchFamily="34" charset="-122"/>
                          <a:cs typeface="Georgia" pitchFamily="34" charset="-120"/>
                        </a:rPr>
                        <a:t>Foundry AI gateway</a:t>
                      </a:r>
                      <a:endParaRPr lang="en-US" sz="1200" dirty="0">
                        <a:latin typeface="Georgia" charset="0"/>
                        <a:ea typeface="Georgia" charset="0"/>
                        <a:cs typeface="Georgia"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1E2761"/>
                    </a:solidFill>
                  </a:tcPr>
                </a:tc>
              </a:tr>
              <a:tr h="384048">
                <a:tc>
                  <a:txBody>
                    <a:bodyPr/>
                    <a:lstStyle/>
                    <a:p>
                      <a:pPr indent="0" marL="0">
                        <a:buNone/>
                      </a:pPr>
                      <a:r>
                        <a:rPr lang="en-US" sz="1150" b="1" dirty="0">
                          <a:solidFill>
                            <a:srgbClr val="1B2447"/>
                          </a:solidFill>
                          <a:latin typeface="Calibri" pitchFamily="34" charset="0"/>
                          <a:ea typeface="Calibri" pitchFamily="34" charset="-122"/>
                          <a:cs typeface="Calibri" pitchFamily="34" charset="-120"/>
                        </a:rPr>
                        <a:t>Consumers</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150" dirty="0">
                          <a:solidFill>
                            <a:srgbClr val="5A6781"/>
                          </a:solidFill>
                          <a:latin typeface="Calibri" pitchFamily="34" charset="0"/>
                          <a:ea typeface="Calibri" pitchFamily="34" charset="-122"/>
                          <a:cs typeface="Calibri" pitchFamily="34" charset="-120"/>
                        </a:rPr>
                        <a:t>Single project or prototype</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Many projects, teams and agents</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B2447"/>
                          </a:solidFill>
                          <a:latin typeface="Calibri" pitchFamily="34" charset="0"/>
                          <a:ea typeface="Calibri" pitchFamily="34" charset="-122"/>
                          <a:cs typeface="Calibri" pitchFamily="34" charset="-120"/>
                        </a:rPr>
                        <a:t>Cost control</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150" dirty="0">
                          <a:solidFill>
                            <a:srgbClr val="5A6781"/>
                          </a:solidFill>
                          <a:latin typeface="Calibri" pitchFamily="34" charset="0"/>
                          <a:ea typeface="Calibri" pitchFamily="34" charset="-122"/>
                          <a:cs typeface="Calibri" pitchFamily="34" charset="-120"/>
                        </a:rPr>
                        <a:t>Per-call billing, no quotas</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Per-project token limits &amp; quotas</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r>
              <a:tr h="384048">
                <a:tc>
                  <a:txBody>
                    <a:bodyPr/>
                    <a:lstStyle/>
                    <a:p>
                      <a:pPr indent="0" marL="0">
                        <a:buNone/>
                      </a:pPr>
                      <a:r>
                        <a:rPr lang="en-US" sz="1150" b="1" dirty="0">
                          <a:solidFill>
                            <a:srgbClr val="1B2447"/>
                          </a:solidFill>
                          <a:latin typeface="Calibri" pitchFamily="34" charset="0"/>
                          <a:ea typeface="Calibri" pitchFamily="34" charset="-122"/>
                          <a:cs typeface="Calibri" pitchFamily="34" charset="-120"/>
                        </a:rPr>
                        <a:t>Auth to models</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150" dirty="0">
                          <a:solidFill>
                            <a:srgbClr val="5A6781"/>
                          </a:solidFill>
                          <a:latin typeface="Calibri" pitchFamily="34" charset="0"/>
                          <a:ea typeface="Calibri" pitchFamily="34" charset="-122"/>
                          <a:cs typeface="Calibri" pitchFamily="34" charset="-120"/>
                        </a:rPr>
                        <a:t>Keys in apps</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Central managed identity</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B2447"/>
                          </a:solidFill>
                          <a:latin typeface="Calibri" pitchFamily="34" charset="0"/>
                          <a:ea typeface="Calibri" pitchFamily="34" charset="-122"/>
                          <a:cs typeface="Calibri" pitchFamily="34" charset="-120"/>
                        </a:rPr>
                        <a:t>Agents &amp; tools</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150" dirty="0">
                          <a:solidFill>
                            <a:srgbClr val="5A6781"/>
                          </a:solidFill>
                          <a:latin typeface="Calibri" pitchFamily="34" charset="0"/>
                          <a:ea typeface="Calibri" pitchFamily="34" charset="-122"/>
                          <a:cs typeface="Calibri" pitchFamily="34" charset="-120"/>
                        </a:rPr>
                        <a:t>Ungoverned, scattered</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Registered into one inventory</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r>
              <a:tr h="384048">
                <a:tc>
                  <a:txBody>
                    <a:bodyPr/>
                    <a:lstStyle/>
                    <a:p>
                      <a:pPr indent="0" marL="0">
                        <a:buNone/>
                      </a:pPr>
                      <a:r>
                        <a:rPr lang="en-US" sz="1150" b="1" dirty="0">
                          <a:solidFill>
                            <a:srgbClr val="1B2447"/>
                          </a:solidFill>
                          <a:latin typeface="Calibri" pitchFamily="34" charset="0"/>
                          <a:ea typeface="Calibri" pitchFamily="34" charset="-122"/>
                          <a:cs typeface="Calibri" pitchFamily="34" charset="-120"/>
                        </a:rPr>
                        <a:t>Safety</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150" dirty="0">
                          <a:solidFill>
                            <a:srgbClr val="5A6781"/>
                          </a:solidFill>
                          <a:latin typeface="Calibri" pitchFamily="34" charset="0"/>
                          <a:ea typeface="Calibri" pitchFamily="34" charset="-122"/>
                          <a:cs typeface="Calibri" pitchFamily="34" charset="-120"/>
                        </a:rPr>
                        <a:t>Per-app, inconsistent</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Central content-safety policy</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1B2447"/>
                          </a:solidFill>
                          <a:latin typeface="Calibri" pitchFamily="34" charset="0"/>
                          <a:ea typeface="Calibri" pitchFamily="34" charset="-122"/>
                          <a:cs typeface="Calibri" pitchFamily="34" charset="-120"/>
                        </a:rPr>
                        <a:t>Observability</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150" dirty="0">
                          <a:solidFill>
                            <a:srgbClr val="5A6781"/>
                          </a:solidFill>
                          <a:latin typeface="Calibri" pitchFamily="34" charset="0"/>
                          <a:ea typeface="Calibri" pitchFamily="34" charset="-122"/>
                          <a:cs typeface="Calibri" pitchFamily="34" charset="-120"/>
                        </a:rPr>
                        <a:t>Per-app, fragmented</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Foundry or Application Insights</a:t>
                      </a:r>
                      <a:endParaRPr lang="en-US" sz="11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r>
            </a:tbl>
          </a:graphicData>
        </a:graphic>
      </p:graphicFrame>
      <p:sp>
        <p:nvSpPr>
          <p:cNvPr id="6" name="Text 3"/>
          <p:cNvSpPr/>
          <p:nvPr/>
        </p:nvSpPr>
        <p:spPr>
          <a:xfrm>
            <a:off x="658368" y="4526280"/>
            <a:ext cx="7827264" cy="320040"/>
          </a:xfrm>
          <a:prstGeom prst="rect">
            <a:avLst/>
          </a:prstGeom>
          <a:noFill/>
          <a:ln/>
        </p:spPr>
        <p:txBody>
          <a:bodyPr wrap="square" lIns="0" tIns="0" rIns="0" bIns="0" rtlCol="0" anchor="ctr"/>
          <a:lstStyle/>
          <a:p>
            <a:pPr indent="0" marL="0">
              <a:buNone/>
            </a:pPr>
            <a:r>
              <a:rPr lang="en-US" sz="1150" i="1" dirty="0">
                <a:solidFill>
                  <a:srgbClr val="1E2761"/>
                </a:solidFill>
                <a:latin typeface="Calibri" pitchFamily="34" charset="0"/>
                <a:ea typeface="Calibri" pitchFamily="34" charset="-122"/>
                <a:cs typeface="Calibri" pitchFamily="34" charset="-120"/>
              </a:rPr>
              <a:t>Rule of thumb: the moment a second project or a production workload appears, enable the gateway on the resource.</a:t>
            </a:r>
            <a:endParaRPr lang="en-US" sz="1150" dirty="0"/>
          </a:p>
        </p:txBody>
      </p:sp>
      <p:sp>
        <p:nvSpPr>
          <p:cNvPr id="7" name="Text 4"/>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8" name="Text 5"/>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How it fits together</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ENABLED AT THE RESOURCE, ENFORCED PER PROJECT</a:t>
            </a:r>
            <a:endParaRPr lang="en-US" sz="1150" dirty="0"/>
          </a:p>
        </p:txBody>
      </p:sp>
      <p:sp>
        <p:nvSpPr>
          <p:cNvPr id="5" name="Shape 3"/>
          <p:cNvSpPr/>
          <p:nvPr/>
        </p:nvSpPr>
        <p:spPr>
          <a:xfrm>
            <a:off x="658368" y="1554480"/>
            <a:ext cx="1645920" cy="1371600"/>
          </a:xfrm>
          <a:prstGeom prst="roundRect">
            <a:avLst>
              <a:gd name="adj" fmla="val 5333"/>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1289304" y="1664208"/>
            <a:ext cx="384048" cy="384048"/>
          </a:xfrm>
          <a:prstGeom prst="rect">
            <a:avLst/>
          </a:prstGeom>
        </p:spPr>
      </p:pic>
      <p:sp>
        <p:nvSpPr>
          <p:cNvPr id="7" name="Text 4"/>
          <p:cNvSpPr/>
          <p:nvPr/>
        </p:nvSpPr>
        <p:spPr>
          <a:xfrm>
            <a:off x="713232" y="2121408"/>
            <a:ext cx="1536192" cy="310896"/>
          </a:xfrm>
          <a:prstGeom prst="rect">
            <a:avLst/>
          </a:prstGeom>
          <a:noFill/>
          <a:ln/>
        </p:spPr>
        <p:txBody>
          <a:bodyPr wrap="square" lIns="0" tIns="0" rIns="0" bIns="0" rtlCol="0" anchor="ctr"/>
          <a:lstStyle/>
          <a:p>
            <a:pPr algn="ctr" indent="0" marL="0">
              <a:buNone/>
            </a:pPr>
            <a:r>
              <a:rPr lang="en-US" sz="1300" b="1" dirty="0">
                <a:solidFill>
                  <a:srgbClr val="1B2447"/>
                </a:solidFill>
                <a:latin typeface="Georgia" pitchFamily="34" charset="0"/>
                <a:ea typeface="Georgia" pitchFamily="34" charset="-122"/>
                <a:cs typeface="Georgia" pitchFamily="34" charset="-120"/>
              </a:rPr>
              <a:t>Clients</a:t>
            </a:r>
            <a:endParaRPr lang="en-US" sz="1300" dirty="0"/>
          </a:p>
        </p:txBody>
      </p:sp>
      <p:sp>
        <p:nvSpPr>
          <p:cNvPr id="8" name="Text 5"/>
          <p:cNvSpPr/>
          <p:nvPr/>
        </p:nvSpPr>
        <p:spPr>
          <a:xfrm>
            <a:off x="731520" y="2432304"/>
            <a:ext cx="1499616" cy="438912"/>
          </a:xfrm>
          <a:prstGeom prst="rect">
            <a:avLst/>
          </a:prstGeom>
          <a:noFill/>
          <a:ln/>
        </p:spPr>
        <p:txBody>
          <a:bodyPr wrap="square" lIns="0" tIns="0" rIns="0" bIns="0" rtlCol="0" anchor="t"/>
          <a:lstStyle/>
          <a:p>
            <a:pPr algn="ctr" indent="0" marL="0">
              <a:buNone/>
            </a:pPr>
            <a:r>
              <a:rPr lang="en-US" sz="950" dirty="0">
                <a:solidFill>
                  <a:srgbClr val="5A6781"/>
                </a:solidFill>
                <a:latin typeface="Calibri" pitchFamily="34" charset="0"/>
                <a:ea typeface="Calibri" pitchFamily="34" charset="-122"/>
                <a:cs typeface="Calibri" pitchFamily="34" charset="-120"/>
              </a:rPr>
              <a:t>Apps · agents · MCP clients</a:t>
            </a:r>
            <a:endParaRPr lang="en-US" sz="950" dirty="0"/>
          </a:p>
        </p:txBody>
      </p:sp>
      <p:sp>
        <p:nvSpPr>
          <p:cNvPr id="9" name="Shape 6"/>
          <p:cNvSpPr/>
          <p:nvPr/>
        </p:nvSpPr>
        <p:spPr>
          <a:xfrm>
            <a:off x="2880360" y="1417320"/>
            <a:ext cx="2743200" cy="2331720"/>
          </a:xfrm>
          <a:prstGeom prst="roundRect">
            <a:avLst>
              <a:gd name="adj" fmla="val 3137"/>
            </a:avLst>
          </a:prstGeom>
          <a:solidFill>
            <a:srgbClr val="1E2761"/>
          </a:solidFill>
          <a:ln/>
          <a:effectLst>
            <a:outerShdw sx="100000" sy="100000" kx="0" ky="0" algn="bl" rotWithShape="0" blurRad="88900" dist="38100" dir="81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4114800" y="1554480"/>
            <a:ext cx="310896" cy="310896"/>
          </a:xfrm>
          <a:prstGeom prst="rect">
            <a:avLst/>
          </a:prstGeom>
        </p:spPr>
      </p:pic>
      <p:sp>
        <p:nvSpPr>
          <p:cNvPr id="11" name="Text 7"/>
          <p:cNvSpPr/>
          <p:nvPr/>
        </p:nvSpPr>
        <p:spPr>
          <a:xfrm>
            <a:off x="2880360" y="1883664"/>
            <a:ext cx="27432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AI Gateway</a:t>
            </a:r>
            <a:endParaRPr lang="en-US" sz="1400" dirty="0"/>
          </a:p>
        </p:txBody>
      </p:sp>
      <p:sp>
        <p:nvSpPr>
          <p:cNvPr id="12" name="Text 8"/>
          <p:cNvSpPr/>
          <p:nvPr/>
        </p:nvSpPr>
        <p:spPr>
          <a:xfrm>
            <a:off x="2880360" y="2130552"/>
            <a:ext cx="2743200" cy="237744"/>
          </a:xfrm>
          <a:prstGeom prst="rect">
            <a:avLst/>
          </a:prstGeom>
          <a:noFill/>
          <a:ln/>
        </p:spPr>
        <p:txBody>
          <a:bodyPr wrap="square" lIns="0" tIns="0" rIns="0" bIns="0" rtlCol="0" anchor="ctr"/>
          <a:lstStyle/>
          <a:p>
            <a:pPr algn="ctr" indent="0" marL="0">
              <a:buNone/>
            </a:pPr>
            <a:r>
              <a:rPr lang="en-US" sz="900" dirty="0">
                <a:solidFill>
                  <a:srgbClr val="9BBDF9"/>
                </a:solidFill>
                <a:latin typeface="Calibri" pitchFamily="34" charset="0"/>
                <a:ea typeface="Calibri" pitchFamily="34" charset="-122"/>
                <a:cs typeface="Calibri" pitchFamily="34" charset="-120"/>
              </a:rPr>
              <a:t>API Management · managed by Foundry</a:t>
            </a:r>
            <a:endParaRPr lang="en-US" sz="900" dirty="0"/>
          </a:p>
        </p:txBody>
      </p:sp>
      <p:sp>
        <p:nvSpPr>
          <p:cNvPr id="13" name="Text 9"/>
          <p:cNvSpPr/>
          <p:nvPr/>
        </p:nvSpPr>
        <p:spPr>
          <a:xfrm>
            <a:off x="3035808" y="2432304"/>
            <a:ext cx="2468880" cy="201168"/>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  Per-project token limits</a:t>
            </a:r>
            <a:endParaRPr lang="en-US" sz="950" dirty="0"/>
          </a:p>
        </p:txBody>
      </p:sp>
      <p:sp>
        <p:nvSpPr>
          <p:cNvPr id="14" name="Text 10"/>
          <p:cNvSpPr/>
          <p:nvPr/>
        </p:nvSpPr>
        <p:spPr>
          <a:xfrm>
            <a:off x="3035808" y="2647188"/>
            <a:ext cx="2468880" cy="201168"/>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  Daily / period quotas</a:t>
            </a:r>
            <a:endParaRPr lang="en-US" sz="950" dirty="0"/>
          </a:p>
        </p:txBody>
      </p:sp>
      <p:sp>
        <p:nvSpPr>
          <p:cNvPr id="15" name="Text 11"/>
          <p:cNvSpPr/>
          <p:nvPr/>
        </p:nvSpPr>
        <p:spPr>
          <a:xfrm>
            <a:off x="3035808" y="2862072"/>
            <a:ext cx="2468880" cy="201168"/>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  Content safety &amp; throttling</a:t>
            </a:r>
            <a:endParaRPr lang="en-US" sz="950" dirty="0"/>
          </a:p>
        </p:txBody>
      </p:sp>
      <p:sp>
        <p:nvSpPr>
          <p:cNvPr id="16" name="Text 12"/>
          <p:cNvSpPr/>
          <p:nvPr/>
        </p:nvSpPr>
        <p:spPr>
          <a:xfrm>
            <a:off x="3035808" y="3076956"/>
            <a:ext cx="2468880" cy="201168"/>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  Managed-identity auth</a:t>
            </a:r>
            <a:endParaRPr lang="en-US" sz="950" dirty="0"/>
          </a:p>
        </p:txBody>
      </p:sp>
      <p:sp>
        <p:nvSpPr>
          <p:cNvPr id="17" name="Text 13"/>
          <p:cNvSpPr/>
          <p:nvPr/>
        </p:nvSpPr>
        <p:spPr>
          <a:xfrm>
            <a:off x="3035808" y="3291840"/>
            <a:ext cx="2468880" cy="201168"/>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  Agent &amp; tool inventory</a:t>
            </a:r>
            <a:endParaRPr lang="en-US" sz="950" dirty="0"/>
          </a:p>
        </p:txBody>
      </p:sp>
      <p:sp>
        <p:nvSpPr>
          <p:cNvPr id="18" name="Text 14"/>
          <p:cNvSpPr/>
          <p:nvPr/>
        </p:nvSpPr>
        <p:spPr>
          <a:xfrm>
            <a:off x="3035808" y="3506724"/>
            <a:ext cx="2468880" cy="201168"/>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  Gateway logs &amp; metrics</a:t>
            </a:r>
            <a:endParaRPr lang="en-US" sz="950" dirty="0"/>
          </a:p>
        </p:txBody>
      </p:sp>
      <p:sp>
        <p:nvSpPr>
          <p:cNvPr id="19" name="Shape 15"/>
          <p:cNvSpPr/>
          <p:nvPr/>
        </p:nvSpPr>
        <p:spPr>
          <a:xfrm>
            <a:off x="6199632" y="1417320"/>
            <a:ext cx="2286000" cy="960120"/>
          </a:xfrm>
          <a:prstGeom prst="roundRect">
            <a:avLst>
              <a:gd name="adj" fmla="val 7619"/>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20" name="Image 2" descr="preencoded.png">    </p:cNvPr>
          <p:cNvPicPr>
            <a:picLocks noChangeAspect="1"/>
          </p:cNvPicPr>
          <p:nvPr/>
        </p:nvPicPr>
        <p:blipFill>
          <a:blip r:embed="rId3"/>
          <a:stretch>
            <a:fillRect/>
          </a:stretch>
        </p:blipFill>
        <p:spPr>
          <a:xfrm>
            <a:off x="7150608" y="1527048"/>
            <a:ext cx="384048" cy="384048"/>
          </a:xfrm>
          <a:prstGeom prst="rect">
            <a:avLst/>
          </a:prstGeom>
        </p:spPr>
      </p:pic>
      <p:sp>
        <p:nvSpPr>
          <p:cNvPr id="21" name="Text 16"/>
          <p:cNvSpPr/>
          <p:nvPr/>
        </p:nvSpPr>
        <p:spPr>
          <a:xfrm>
            <a:off x="6254496" y="1984248"/>
            <a:ext cx="2176272" cy="310896"/>
          </a:xfrm>
          <a:prstGeom prst="rect">
            <a:avLst/>
          </a:prstGeom>
          <a:noFill/>
          <a:ln/>
        </p:spPr>
        <p:txBody>
          <a:bodyPr wrap="square" lIns="0" tIns="0" rIns="0" bIns="0" rtlCol="0" anchor="ctr"/>
          <a:lstStyle/>
          <a:p>
            <a:pPr algn="ctr" indent="0" marL="0">
              <a:buNone/>
            </a:pPr>
            <a:r>
              <a:rPr lang="en-US" sz="1300" b="1" dirty="0">
                <a:solidFill>
                  <a:srgbClr val="1B2447"/>
                </a:solidFill>
                <a:latin typeface="Georgia" pitchFamily="34" charset="0"/>
                <a:ea typeface="Georgia" pitchFamily="34" charset="-122"/>
                <a:cs typeface="Georgia" pitchFamily="34" charset="-120"/>
              </a:rPr>
              <a:t>Foundry models</a:t>
            </a:r>
            <a:endParaRPr lang="en-US" sz="1300" dirty="0"/>
          </a:p>
        </p:txBody>
      </p:sp>
      <p:sp>
        <p:nvSpPr>
          <p:cNvPr id="22" name="Text 17"/>
          <p:cNvSpPr/>
          <p:nvPr/>
        </p:nvSpPr>
        <p:spPr>
          <a:xfrm>
            <a:off x="6272784" y="2295144"/>
            <a:ext cx="2139696" cy="27432"/>
          </a:xfrm>
          <a:prstGeom prst="rect">
            <a:avLst/>
          </a:prstGeom>
          <a:noFill/>
          <a:ln/>
        </p:spPr>
        <p:txBody>
          <a:bodyPr wrap="square" lIns="0" tIns="0" rIns="0" bIns="0" rtlCol="0" anchor="t"/>
          <a:lstStyle/>
          <a:p>
            <a:pPr algn="ctr" indent="0" marL="0">
              <a:buNone/>
            </a:pPr>
            <a:r>
              <a:rPr lang="en-US" sz="950" dirty="0">
                <a:solidFill>
                  <a:srgbClr val="5A6781"/>
                </a:solidFill>
                <a:latin typeface="Calibri" pitchFamily="34" charset="0"/>
                <a:ea typeface="Calibri" pitchFamily="34" charset="-122"/>
                <a:cs typeface="Calibri" pitchFamily="34" charset="-120"/>
              </a:rPr>
              <a:t>Azure OpenAI + providers</a:t>
            </a:r>
            <a:endParaRPr lang="en-US" sz="950" dirty="0"/>
          </a:p>
        </p:txBody>
      </p:sp>
      <p:sp>
        <p:nvSpPr>
          <p:cNvPr id="23" name="Shape 18"/>
          <p:cNvSpPr/>
          <p:nvPr/>
        </p:nvSpPr>
        <p:spPr>
          <a:xfrm>
            <a:off x="6199632" y="2514600"/>
            <a:ext cx="2286000" cy="960120"/>
          </a:xfrm>
          <a:prstGeom prst="roundRect">
            <a:avLst>
              <a:gd name="adj" fmla="val 7619"/>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24" name="Image 3" descr="preencoded.png">    </p:cNvPr>
          <p:cNvPicPr>
            <a:picLocks noChangeAspect="1"/>
          </p:cNvPicPr>
          <p:nvPr/>
        </p:nvPicPr>
        <p:blipFill>
          <a:blip r:embed="rId4"/>
          <a:stretch>
            <a:fillRect/>
          </a:stretch>
        </p:blipFill>
        <p:spPr>
          <a:xfrm>
            <a:off x="7150608" y="2624328"/>
            <a:ext cx="384048" cy="384048"/>
          </a:xfrm>
          <a:prstGeom prst="rect">
            <a:avLst/>
          </a:prstGeom>
        </p:spPr>
      </p:pic>
      <p:sp>
        <p:nvSpPr>
          <p:cNvPr id="25" name="Text 19"/>
          <p:cNvSpPr/>
          <p:nvPr/>
        </p:nvSpPr>
        <p:spPr>
          <a:xfrm>
            <a:off x="6254496" y="3081528"/>
            <a:ext cx="2176272" cy="310896"/>
          </a:xfrm>
          <a:prstGeom prst="rect">
            <a:avLst/>
          </a:prstGeom>
          <a:noFill/>
          <a:ln/>
        </p:spPr>
        <p:txBody>
          <a:bodyPr wrap="square" lIns="0" tIns="0" rIns="0" bIns="0" rtlCol="0" anchor="ctr"/>
          <a:lstStyle/>
          <a:p>
            <a:pPr algn="ctr" indent="0" marL="0">
              <a:buNone/>
            </a:pPr>
            <a:r>
              <a:rPr lang="en-US" sz="1300" b="1" dirty="0">
                <a:solidFill>
                  <a:srgbClr val="1B2447"/>
                </a:solidFill>
                <a:latin typeface="Georgia" pitchFamily="34" charset="0"/>
                <a:ea typeface="Georgia" pitchFamily="34" charset="-122"/>
                <a:cs typeface="Georgia" pitchFamily="34" charset="-120"/>
              </a:rPr>
              <a:t>Agents &amp; MCP tools</a:t>
            </a:r>
            <a:endParaRPr lang="en-US" sz="1300" dirty="0"/>
          </a:p>
        </p:txBody>
      </p:sp>
      <p:sp>
        <p:nvSpPr>
          <p:cNvPr id="26" name="Text 20"/>
          <p:cNvSpPr/>
          <p:nvPr/>
        </p:nvSpPr>
        <p:spPr>
          <a:xfrm>
            <a:off x="6272784" y="3392424"/>
            <a:ext cx="2139696" cy="27432"/>
          </a:xfrm>
          <a:prstGeom prst="rect">
            <a:avLst/>
          </a:prstGeom>
          <a:noFill/>
          <a:ln/>
        </p:spPr>
        <p:txBody>
          <a:bodyPr wrap="square" lIns="0" tIns="0" rIns="0" bIns="0" rtlCol="0" anchor="t"/>
          <a:lstStyle/>
          <a:p>
            <a:pPr algn="ctr" indent="0" marL="0">
              <a:buNone/>
            </a:pPr>
            <a:r>
              <a:rPr lang="en-US" sz="950" dirty="0">
                <a:solidFill>
                  <a:srgbClr val="5A6781"/>
                </a:solidFill>
                <a:latin typeface="Calibri" pitchFamily="34" charset="0"/>
                <a:ea typeface="Calibri" pitchFamily="34" charset="-122"/>
                <a:cs typeface="Calibri" pitchFamily="34" charset="-120"/>
              </a:rPr>
              <a:t>Anywhere — Azure, cloud, on-prem</a:t>
            </a:r>
            <a:endParaRPr lang="en-US" sz="950" dirty="0"/>
          </a:p>
        </p:txBody>
      </p:sp>
      <p:sp>
        <p:nvSpPr>
          <p:cNvPr id="27" name="Shape 21"/>
          <p:cNvSpPr/>
          <p:nvPr/>
        </p:nvSpPr>
        <p:spPr>
          <a:xfrm>
            <a:off x="2304288" y="2240280"/>
            <a:ext cx="548640" cy="0"/>
          </a:xfrm>
          <a:prstGeom prst="line">
            <a:avLst/>
          </a:prstGeom>
          <a:noFill/>
          <a:ln w="28575">
            <a:solidFill>
              <a:srgbClr val="4F86F7"/>
            </a:solidFill>
            <a:prstDash val="solid"/>
            <a:tailEnd type="triangle"/>
          </a:ln>
        </p:spPr>
      </p:sp>
      <p:sp>
        <p:nvSpPr>
          <p:cNvPr id="28" name="Shape 22"/>
          <p:cNvSpPr/>
          <p:nvPr/>
        </p:nvSpPr>
        <p:spPr>
          <a:xfrm>
            <a:off x="5623560" y="1901952"/>
            <a:ext cx="548640" cy="0"/>
          </a:xfrm>
          <a:prstGeom prst="line">
            <a:avLst/>
          </a:prstGeom>
          <a:noFill/>
          <a:ln w="28575">
            <a:solidFill>
              <a:srgbClr val="4F86F7"/>
            </a:solidFill>
            <a:prstDash val="solid"/>
            <a:tailEnd type="triangle"/>
          </a:ln>
        </p:spPr>
      </p:sp>
      <p:sp>
        <p:nvSpPr>
          <p:cNvPr id="29" name="Shape 23"/>
          <p:cNvSpPr/>
          <p:nvPr/>
        </p:nvSpPr>
        <p:spPr>
          <a:xfrm>
            <a:off x="5623560" y="2999232"/>
            <a:ext cx="548640" cy="0"/>
          </a:xfrm>
          <a:prstGeom prst="line">
            <a:avLst/>
          </a:prstGeom>
          <a:noFill/>
          <a:ln w="28575">
            <a:solidFill>
              <a:srgbClr val="4F86F7"/>
            </a:solidFill>
            <a:prstDash val="solid"/>
            <a:tailEnd type="triangle"/>
          </a:ln>
        </p:spPr>
      </p:sp>
      <p:sp>
        <p:nvSpPr>
          <p:cNvPr id="30" name="Shape 24"/>
          <p:cNvSpPr/>
          <p:nvPr/>
        </p:nvSpPr>
        <p:spPr>
          <a:xfrm>
            <a:off x="658368" y="3977640"/>
            <a:ext cx="7827264" cy="640080"/>
          </a:xfrm>
          <a:prstGeom prst="rect">
            <a:avLst/>
          </a:prstGeom>
          <a:solidFill>
            <a:srgbClr val="CADCFC"/>
          </a:solidFill>
          <a:ln/>
        </p:spPr>
      </p:sp>
      <p:pic>
        <p:nvPicPr>
          <p:cNvPr id="31" name="Image 4" descr="preencoded.png">    </p:cNvPr>
          <p:cNvPicPr>
            <a:picLocks noChangeAspect="1"/>
          </p:cNvPicPr>
          <p:nvPr/>
        </p:nvPicPr>
        <p:blipFill>
          <a:blip r:embed="rId5"/>
          <a:stretch>
            <a:fillRect/>
          </a:stretch>
        </p:blipFill>
        <p:spPr>
          <a:xfrm>
            <a:off x="868680" y="4114800"/>
            <a:ext cx="329184" cy="329184"/>
          </a:xfrm>
          <a:prstGeom prst="rect">
            <a:avLst/>
          </a:prstGeom>
        </p:spPr>
      </p:pic>
      <p:sp>
        <p:nvSpPr>
          <p:cNvPr id="32" name="Text 25"/>
          <p:cNvSpPr/>
          <p:nvPr/>
        </p:nvSpPr>
        <p:spPr>
          <a:xfrm>
            <a:off x="1325880" y="3977640"/>
            <a:ext cx="7040880" cy="64008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Telemetry in Foundry or Application Insights</a:t>
            </a:r>
            <a:pPr indent="0" marL="0">
              <a:buNone/>
            </a:pPr>
            <a:r>
              <a:rPr lang="en-US" sz="1150" dirty="0">
                <a:solidFill>
                  <a:srgbClr val="5A6781"/>
                </a:solidFill>
                <a:latin typeface="Calibri" pitchFamily="34" charset="0"/>
                <a:ea typeface="Calibri" pitchFamily="34" charset="-122"/>
                <a:cs typeface="Calibri" pitchFamily="34" charset="-120"/>
              </a:rPr>
              <a:t>   ·   enable on the resource, set limits per project</a:t>
            </a:r>
            <a:endParaRPr lang="en-US" sz="1150" dirty="0"/>
          </a:p>
        </p:txBody>
      </p:sp>
      <p:sp>
        <p:nvSpPr>
          <p:cNvPr id="33" name="Shape 26"/>
          <p:cNvSpPr/>
          <p:nvPr/>
        </p:nvSpPr>
        <p:spPr>
          <a:xfrm>
            <a:off x="4251960" y="3749040"/>
            <a:ext cx="0" cy="201168"/>
          </a:xfrm>
          <a:prstGeom prst="line">
            <a:avLst/>
          </a:prstGeom>
          <a:noFill/>
          <a:ln w="25400">
            <a:solidFill>
              <a:srgbClr val="1E2761"/>
            </a:solidFill>
            <a:prstDash val="solid"/>
            <a:tailEnd type="triangle"/>
          </a:ln>
        </p:spPr>
      </p:sp>
      <p:sp>
        <p:nvSpPr>
          <p:cNvPr id="34" name="Text 27"/>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35" name="Text 28"/>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B841"/>
          </a:solidFill>
          <a:ln/>
        </p:spPr>
      </p:sp>
      <p:sp>
        <p:nvSpPr>
          <p:cNvPr id="3" name="Text 1"/>
          <p:cNvSpPr/>
          <p:nvPr/>
        </p:nvSpPr>
        <p:spPr>
          <a:xfrm>
            <a:off x="731520" y="1371600"/>
            <a:ext cx="2743200" cy="1463040"/>
          </a:xfrm>
          <a:prstGeom prst="rect">
            <a:avLst/>
          </a:prstGeom>
          <a:noFill/>
          <a:ln/>
        </p:spPr>
        <p:txBody>
          <a:bodyPr wrap="square" lIns="0" tIns="0" rIns="0" bIns="0" rtlCol="0" anchor="ctr"/>
          <a:lstStyle/>
          <a:p>
            <a:pPr indent="0" marL="0">
              <a:buNone/>
            </a:pPr>
            <a:r>
              <a:rPr lang="en-US" sz="9600" b="1" dirty="0">
                <a:solidFill>
                  <a:srgbClr val="2C376E"/>
                </a:solidFill>
                <a:latin typeface="Georgia" pitchFamily="34" charset="0"/>
                <a:ea typeface="Georgia" pitchFamily="34" charset="-122"/>
                <a:cs typeface="Georgia" pitchFamily="34" charset="-120"/>
              </a:rPr>
              <a:t>01</a:t>
            </a:r>
            <a:endParaRPr lang="en-US" sz="9600" dirty="0"/>
          </a:p>
        </p:txBody>
      </p:sp>
      <p:sp>
        <p:nvSpPr>
          <p:cNvPr id="4" name="Text 2"/>
          <p:cNvSpPr/>
          <p:nvPr/>
        </p:nvSpPr>
        <p:spPr>
          <a:xfrm>
            <a:off x="777240" y="2743200"/>
            <a:ext cx="7132320" cy="77724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Enable &amp; configure</a:t>
            </a:r>
            <a:endParaRPr lang="en-US" sz="3600" dirty="0"/>
          </a:p>
        </p:txBody>
      </p:sp>
      <p:sp>
        <p:nvSpPr>
          <p:cNvPr id="5" name="Text 3"/>
          <p:cNvSpPr/>
          <p:nvPr/>
        </p:nvSpPr>
        <p:spPr>
          <a:xfrm>
            <a:off x="804672" y="3520440"/>
            <a:ext cx="6766560" cy="6400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Add a gateway and set per-project limits from the Foundry Admin console.</a:t>
            </a:r>
            <a:endParaRPr lang="en-US" sz="1400" dirty="0"/>
          </a:p>
        </p:txBody>
      </p:sp>
      <p:sp>
        <p:nvSpPr>
          <p:cNvPr id="6" name="Shape 4"/>
          <p:cNvSpPr/>
          <p:nvPr/>
        </p:nvSpPr>
        <p:spPr>
          <a:xfrm>
            <a:off x="7223760" y="1463040"/>
            <a:ext cx="1188720" cy="1188720"/>
          </a:xfrm>
          <a:prstGeom prst="ellipse">
            <a:avLst/>
          </a:prstGeom>
          <a:solidFill>
            <a:srgbClr val="2C376E"/>
          </a:solidFill>
          <a:ln/>
        </p:spPr>
      </p:sp>
      <p:pic>
        <p:nvPicPr>
          <p:cNvPr id="7" name="Image 0" descr="preencoded.png">    </p:cNvPr>
          <p:cNvPicPr>
            <a:picLocks noChangeAspect="1"/>
          </p:cNvPicPr>
          <p:nvPr/>
        </p:nvPicPr>
        <p:blipFill>
          <a:blip r:embed="rId1"/>
          <a:stretch>
            <a:fillRect/>
          </a:stretch>
        </p:blipFill>
        <p:spPr>
          <a:xfrm>
            <a:off x="7607808" y="1847088"/>
            <a:ext cx="420624" cy="420624"/>
          </a:xfrm>
          <a:prstGeom prst="rect">
            <a:avLst/>
          </a:prstGeom>
        </p:spPr>
      </p:pic>
      <p:sp>
        <p:nvSpPr>
          <p:cNvPr id="8" name="Text 5"/>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8893B8"/>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Enable the gateway in a few clicks</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FOUNDRY PORTAL · OPERATE › ADMIN CONSOLE › AI GATEWAY</a:t>
            </a:r>
            <a:endParaRPr lang="en-US" sz="1150" dirty="0"/>
          </a:p>
        </p:txBody>
      </p:sp>
      <p:sp>
        <p:nvSpPr>
          <p:cNvPr id="5" name="Shape 3"/>
          <p:cNvSpPr/>
          <p:nvPr/>
        </p:nvSpPr>
        <p:spPr>
          <a:xfrm>
            <a:off x="658368" y="1463040"/>
            <a:ext cx="1883664" cy="21945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6" name="Shape 4"/>
          <p:cNvSpPr/>
          <p:nvPr/>
        </p:nvSpPr>
        <p:spPr>
          <a:xfrm>
            <a:off x="658368" y="1463040"/>
            <a:ext cx="64008" cy="2194560"/>
          </a:xfrm>
          <a:prstGeom prst="rect">
            <a:avLst/>
          </a:prstGeom>
          <a:solidFill>
            <a:srgbClr val="4F86F7"/>
          </a:solidFill>
          <a:ln/>
        </p:spPr>
      </p:sp>
      <p:sp>
        <p:nvSpPr>
          <p:cNvPr id="7" name="Shape 5"/>
          <p:cNvSpPr/>
          <p:nvPr/>
        </p:nvSpPr>
        <p:spPr>
          <a:xfrm>
            <a:off x="1298448" y="1682496"/>
            <a:ext cx="603504" cy="603504"/>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1444752" y="1837944"/>
            <a:ext cx="310896" cy="310896"/>
          </a:xfrm>
          <a:prstGeom prst="rect">
            <a:avLst/>
          </a:prstGeom>
        </p:spPr>
      </p:pic>
      <p:sp>
        <p:nvSpPr>
          <p:cNvPr id="9" name="Text 6"/>
          <p:cNvSpPr/>
          <p:nvPr/>
        </p:nvSpPr>
        <p:spPr>
          <a:xfrm>
            <a:off x="749808" y="2395728"/>
            <a:ext cx="1700784" cy="219456"/>
          </a:xfrm>
          <a:prstGeom prst="rect">
            <a:avLst/>
          </a:prstGeom>
          <a:noFill/>
          <a:ln/>
        </p:spPr>
        <p:txBody>
          <a:bodyPr wrap="square" lIns="0" tIns="0" rIns="0" bIns="0" rtlCol="0" anchor="ctr"/>
          <a:lstStyle/>
          <a:p>
            <a:pPr algn="ctr" indent="0" marL="0">
              <a:buNone/>
            </a:pPr>
            <a:r>
              <a:rPr lang="en-US" sz="900" b="1" spc="150" kern="0" dirty="0">
                <a:solidFill>
                  <a:srgbClr val="4F86F7"/>
                </a:solidFill>
                <a:latin typeface="Calibri" pitchFamily="34" charset="0"/>
                <a:ea typeface="Calibri" pitchFamily="34" charset="-122"/>
                <a:cs typeface="Calibri" pitchFamily="34" charset="-120"/>
              </a:rPr>
              <a:t>STEP 1</a:t>
            </a:r>
            <a:endParaRPr lang="en-US" sz="900" dirty="0"/>
          </a:p>
        </p:txBody>
      </p:sp>
      <p:sp>
        <p:nvSpPr>
          <p:cNvPr id="10" name="Text 7"/>
          <p:cNvSpPr/>
          <p:nvPr/>
        </p:nvSpPr>
        <p:spPr>
          <a:xfrm>
            <a:off x="768096" y="2596896"/>
            <a:ext cx="1664208" cy="329184"/>
          </a:xfrm>
          <a:prstGeom prst="rect">
            <a:avLst/>
          </a:prstGeom>
          <a:noFill/>
          <a:ln/>
        </p:spPr>
        <p:txBody>
          <a:bodyPr wrap="square" lIns="0" tIns="0" rIns="0" bIns="0" rtlCol="0" anchor="ctr"/>
          <a:lstStyle/>
          <a:p>
            <a:pPr algn="ctr" indent="0" marL="0">
              <a:buNone/>
            </a:pPr>
            <a:r>
              <a:rPr lang="en-US" sz="1250" b="1" dirty="0">
                <a:solidFill>
                  <a:srgbClr val="1E2761"/>
                </a:solidFill>
                <a:latin typeface="Georgia" pitchFamily="34" charset="0"/>
                <a:ea typeface="Georgia" pitchFamily="34" charset="-122"/>
                <a:cs typeface="Georgia" pitchFamily="34" charset="-120"/>
              </a:rPr>
              <a:t>Open AI Gateway</a:t>
            </a:r>
            <a:endParaRPr lang="en-US" sz="1250" dirty="0"/>
          </a:p>
        </p:txBody>
      </p:sp>
      <p:sp>
        <p:nvSpPr>
          <p:cNvPr id="11" name="Text 8"/>
          <p:cNvSpPr/>
          <p:nvPr/>
        </p:nvSpPr>
        <p:spPr>
          <a:xfrm>
            <a:off x="786384" y="2926080"/>
            <a:ext cx="1627632" cy="676656"/>
          </a:xfrm>
          <a:prstGeom prst="rect">
            <a:avLst/>
          </a:prstGeom>
          <a:noFill/>
          <a:ln/>
        </p:spPr>
        <p:txBody>
          <a:bodyPr wrap="square" lIns="0" tIns="0" rIns="0" bIns="0" rtlCol="0" anchor="ctr"/>
          <a:lstStyle/>
          <a:p>
            <a:pPr algn="ctr" indent="0" marL="0">
              <a:buNone/>
            </a:pPr>
            <a:r>
              <a:rPr lang="en-US" sz="900" dirty="0">
                <a:solidFill>
                  <a:srgbClr val="5A6781"/>
                </a:solidFill>
                <a:latin typeface="Calibri" pitchFamily="34" charset="0"/>
                <a:ea typeface="Calibri" pitchFamily="34" charset="-122"/>
                <a:cs typeface="Calibri" pitchFamily="34" charset="-120"/>
              </a:rPr>
              <a:t>In Foundry (new), go to Operate › Admin console and open the AI Gateway tab.</a:t>
            </a:r>
            <a:endParaRPr lang="en-US" sz="900" dirty="0"/>
          </a:p>
        </p:txBody>
      </p:sp>
      <p:sp>
        <p:nvSpPr>
          <p:cNvPr id="12" name="Shape 9"/>
          <p:cNvSpPr/>
          <p:nvPr/>
        </p:nvSpPr>
        <p:spPr>
          <a:xfrm>
            <a:off x="2551176" y="2377440"/>
            <a:ext cx="128016" cy="0"/>
          </a:xfrm>
          <a:prstGeom prst="line">
            <a:avLst/>
          </a:prstGeom>
          <a:noFill/>
          <a:ln w="25400">
            <a:solidFill>
              <a:srgbClr val="4F86F7"/>
            </a:solidFill>
            <a:prstDash val="solid"/>
            <a:tailEnd type="triangle"/>
          </a:ln>
        </p:spPr>
      </p:sp>
      <p:sp>
        <p:nvSpPr>
          <p:cNvPr id="13" name="Shape 10"/>
          <p:cNvSpPr/>
          <p:nvPr/>
        </p:nvSpPr>
        <p:spPr>
          <a:xfrm>
            <a:off x="2688336" y="1463040"/>
            <a:ext cx="1883664" cy="21945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4" name="Shape 11"/>
          <p:cNvSpPr/>
          <p:nvPr/>
        </p:nvSpPr>
        <p:spPr>
          <a:xfrm>
            <a:off x="2688336" y="1463040"/>
            <a:ext cx="64008" cy="2194560"/>
          </a:xfrm>
          <a:prstGeom prst="rect">
            <a:avLst/>
          </a:prstGeom>
          <a:solidFill>
            <a:srgbClr val="4F86F7"/>
          </a:solidFill>
          <a:ln/>
        </p:spPr>
      </p:sp>
      <p:sp>
        <p:nvSpPr>
          <p:cNvPr id="15" name="Shape 12"/>
          <p:cNvSpPr/>
          <p:nvPr/>
        </p:nvSpPr>
        <p:spPr>
          <a:xfrm>
            <a:off x="3328416" y="1682496"/>
            <a:ext cx="603504" cy="603504"/>
          </a:xfrm>
          <a:prstGeom prst="ellipse">
            <a:avLst/>
          </a:prstGeom>
          <a:solidFill>
            <a:srgbClr val="1E2761"/>
          </a:solidFill>
          <a:ln/>
        </p:spPr>
      </p:sp>
      <p:pic>
        <p:nvPicPr>
          <p:cNvPr id="16" name="Image 1" descr="preencoded.png">    </p:cNvPr>
          <p:cNvPicPr>
            <a:picLocks noChangeAspect="1"/>
          </p:cNvPicPr>
          <p:nvPr/>
        </p:nvPicPr>
        <p:blipFill>
          <a:blip r:embed="rId2"/>
          <a:stretch>
            <a:fillRect/>
          </a:stretch>
        </p:blipFill>
        <p:spPr>
          <a:xfrm>
            <a:off x="3474720" y="1837944"/>
            <a:ext cx="310896" cy="310896"/>
          </a:xfrm>
          <a:prstGeom prst="rect">
            <a:avLst/>
          </a:prstGeom>
        </p:spPr>
      </p:pic>
      <p:sp>
        <p:nvSpPr>
          <p:cNvPr id="17" name="Text 13"/>
          <p:cNvSpPr/>
          <p:nvPr/>
        </p:nvSpPr>
        <p:spPr>
          <a:xfrm>
            <a:off x="2779776" y="2395728"/>
            <a:ext cx="1700784" cy="219456"/>
          </a:xfrm>
          <a:prstGeom prst="rect">
            <a:avLst/>
          </a:prstGeom>
          <a:noFill/>
          <a:ln/>
        </p:spPr>
        <p:txBody>
          <a:bodyPr wrap="square" lIns="0" tIns="0" rIns="0" bIns="0" rtlCol="0" anchor="ctr"/>
          <a:lstStyle/>
          <a:p>
            <a:pPr algn="ctr" indent="0" marL="0">
              <a:buNone/>
            </a:pPr>
            <a:r>
              <a:rPr lang="en-US" sz="900" b="1" spc="150" kern="0" dirty="0">
                <a:solidFill>
                  <a:srgbClr val="4F86F7"/>
                </a:solidFill>
                <a:latin typeface="Calibri" pitchFamily="34" charset="0"/>
                <a:ea typeface="Calibri" pitchFamily="34" charset="-122"/>
                <a:cs typeface="Calibri" pitchFamily="34" charset="-120"/>
              </a:rPr>
              <a:t>STEP 2</a:t>
            </a:r>
            <a:endParaRPr lang="en-US" sz="900" dirty="0"/>
          </a:p>
        </p:txBody>
      </p:sp>
      <p:sp>
        <p:nvSpPr>
          <p:cNvPr id="18" name="Text 14"/>
          <p:cNvSpPr/>
          <p:nvPr/>
        </p:nvSpPr>
        <p:spPr>
          <a:xfrm>
            <a:off x="2798064" y="2596896"/>
            <a:ext cx="1664208" cy="329184"/>
          </a:xfrm>
          <a:prstGeom prst="rect">
            <a:avLst/>
          </a:prstGeom>
          <a:noFill/>
          <a:ln/>
        </p:spPr>
        <p:txBody>
          <a:bodyPr wrap="square" lIns="0" tIns="0" rIns="0" bIns="0" rtlCol="0" anchor="ctr"/>
          <a:lstStyle/>
          <a:p>
            <a:pPr algn="ctr" indent="0" marL="0">
              <a:buNone/>
            </a:pPr>
            <a:r>
              <a:rPr lang="en-US" sz="1250" b="1" dirty="0">
                <a:solidFill>
                  <a:srgbClr val="1E2761"/>
                </a:solidFill>
                <a:latin typeface="Georgia" pitchFamily="34" charset="0"/>
                <a:ea typeface="Georgia" pitchFamily="34" charset="-122"/>
                <a:cs typeface="Georgia" pitchFamily="34" charset="-120"/>
              </a:rPr>
              <a:t>Add AI Gateway</a:t>
            </a:r>
            <a:endParaRPr lang="en-US" sz="1250" dirty="0"/>
          </a:p>
        </p:txBody>
      </p:sp>
      <p:sp>
        <p:nvSpPr>
          <p:cNvPr id="19" name="Text 15"/>
          <p:cNvSpPr/>
          <p:nvPr/>
        </p:nvSpPr>
        <p:spPr>
          <a:xfrm>
            <a:off x="2816352" y="2926080"/>
            <a:ext cx="1627632" cy="676656"/>
          </a:xfrm>
          <a:prstGeom prst="rect">
            <a:avLst/>
          </a:prstGeom>
          <a:noFill/>
          <a:ln/>
        </p:spPr>
        <p:txBody>
          <a:bodyPr wrap="square" lIns="0" tIns="0" rIns="0" bIns="0" rtlCol="0" anchor="ctr"/>
          <a:lstStyle/>
          <a:p>
            <a:pPr algn="ctr" indent="0" marL="0">
              <a:buNone/>
            </a:pPr>
            <a:r>
              <a:rPr lang="en-US" sz="900" dirty="0">
                <a:solidFill>
                  <a:srgbClr val="5A6781"/>
                </a:solidFill>
                <a:latin typeface="Calibri" pitchFamily="34" charset="0"/>
                <a:ea typeface="Calibri" pitchFamily="34" charset="-122"/>
                <a:cs typeface="Calibri" pitchFamily="34" charset="-120"/>
              </a:rPr>
              <a:t>Select Add AI Gateway, then choose the Foundry resource to govern.</a:t>
            </a:r>
            <a:endParaRPr lang="en-US" sz="900" dirty="0"/>
          </a:p>
        </p:txBody>
      </p:sp>
      <p:sp>
        <p:nvSpPr>
          <p:cNvPr id="20" name="Shape 16"/>
          <p:cNvSpPr/>
          <p:nvPr/>
        </p:nvSpPr>
        <p:spPr>
          <a:xfrm>
            <a:off x="4581144" y="2377440"/>
            <a:ext cx="128016" cy="0"/>
          </a:xfrm>
          <a:prstGeom prst="line">
            <a:avLst/>
          </a:prstGeom>
          <a:noFill/>
          <a:ln w="25400">
            <a:solidFill>
              <a:srgbClr val="4F86F7"/>
            </a:solidFill>
            <a:prstDash val="solid"/>
            <a:tailEnd type="triangle"/>
          </a:ln>
        </p:spPr>
      </p:sp>
      <p:sp>
        <p:nvSpPr>
          <p:cNvPr id="21" name="Shape 17"/>
          <p:cNvSpPr/>
          <p:nvPr/>
        </p:nvSpPr>
        <p:spPr>
          <a:xfrm>
            <a:off x="4718304" y="1463040"/>
            <a:ext cx="1883664" cy="21945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22" name="Shape 18"/>
          <p:cNvSpPr/>
          <p:nvPr/>
        </p:nvSpPr>
        <p:spPr>
          <a:xfrm>
            <a:off x="4718304" y="1463040"/>
            <a:ext cx="64008" cy="2194560"/>
          </a:xfrm>
          <a:prstGeom prst="rect">
            <a:avLst/>
          </a:prstGeom>
          <a:solidFill>
            <a:srgbClr val="4F86F7"/>
          </a:solidFill>
          <a:ln/>
        </p:spPr>
      </p:sp>
      <p:sp>
        <p:nvSpPr>
          <p:cNvPr id="23" name="Shape 19"/>
          <p:cNvSpPr/>
          <p:nvPr/>
        </p:nvSpPr>
        <p:spPr>
          <a:xfrm>
            <a:off x="5358384" y="1682496"/>
            <a:ext cx="603504" cy="603504"/>
          </a:xfrm>
          <a:prstGeom prst="ellipse">
            <a:avLst/>
          </a:prstGeom>
          <a:solidFill>
            <a:srgbClr val="1E2761"/>
          </a:solidFill>
          <a:ln/>
        </p:spPr>
      </p:sp>
      <p:pic>
        <p:nvPicPr>
          <p:cNvPr id="24" name="Image 2" descr="preencoded.png">    </p:cNvPr>
          <p:cNvPicPr>
            <a:picLocks noChangeAspect="1"/>
          </p:cNvPicPr>
          <p:nvPr/>
        </p:nvPicPr>
        <p:blipFill>
          <a:blip r:embed="rId3"/>
          <a:stretch>
            <a:fillRect/>
          </a:stretch>
        </p:blipFill>
        <p:spPr>
          <a:xfrm>
            <a:off x="5504688" y="1837944"/>
            <a:ext cx="310896" cy="310896"/>
          </a:xfrm>
          <a:prstGeom prst="rect">
            <a:avLst/>
          </a:prstGeom>
        </p:spPr>
      </p:pic>
      <p:sp>
        <p:nvSpPr>
          <p:cNvPr id="25" name="Text 20"/>
          <p:cNvSpPr/>
          <p:nvPr/>
        </p:nvSpPr>
        <p:spPr>
          <a:xfrm>
            <a:off x="4809744" y="2395728"/>
            <a:ext cx="1700784" cy="219456"/>
          </a:xfrm>
          <a:prstGeom prst="rect">
            <a:avLst/>
          </a:prstGeom>
          <a:noFill/>
          <a:ln/>
        </p:spPr>
        <p:txBody>
          <a:bodyPr wrap="square" lIns="0" tIns="0" rIns="0" bIns="0" rtlCol="0" anchor="ctr"/>
          <a:lstStyle/>
          <a:p>
            <a:pPr algn="ctr" indent="0" marL="0">
              <a:buNone/>
            </a:pPr>
            <a:r>
              <a:rPr lang="en-US" sz="900" b="1" spc="150" kern="0" dirty="0">
                <a:solidFill>
                  <a:srgbClr val="4F86F7"/>
                </a:solidFill>
                <a:latin typeface="Calibri" pitchFamily="34" charset="0"/>
                <a:ea typeface="Calibri" pitchFamily="34" charset="-122"/>
                <a:cs typeface="Calibri" pitchFamily="34" charset="-120"/>
              </a:rPr>
              <a:t>STEP 3</a:t>
            </a:r>
            <a:endParaRPr lang="en-US" sz="900" dirty="0"/>
          </a:p>
        </p:txBody>
      </p:sp>
      <p:sp>
        <p:nvSpPr>
          <p:cNvPr id="26" name="Text 21"/>
          <p:cNvSpPr/>
          <p:nvPr/>
        </p:nvSpPr>
        <p:spPr>
          <a:xfrm>
            <a:off x="4828032" y="2596896"/>
            <a:ext cx="1664208" cy="329184"/>
          </a:xfrm>
          <a:prstGeom prst="rect">
            <a:avLst/>
          </a:prstGeom>
          <a:noFill/>
          <a:ln/>
        </p:spPr>
        <p:txBody>
          <a:bodyPr wrap="square" lIns="0" tIns="0" rIns="0" bIns="0" rtlCol="0" anchor="ctr"/>
          <a:lstStyle/>
          <a:p>
            <a:pPr algn="ctr" indent="0" marL="0">
              <a:buNone/>
            </a:pPr>
            <a:r>
              <a:rPr lang="en-US" sz="1250" b="1" dirty="0">
                <a:solidFill>
                  <a:srgbClr val="1E2761"/>
                </a:solidFill>
                <a:latin typeface="Georgia" pitchFamily="34" charset="0"/>
                <a:ea typeface="Georgia" pitchFamily="34" charset="-122"/>
                <a:cs typeface="Georgia" pitchFamily="34" charset="-120"/>
              </a:rPr>
              <a:t>Create or reuse APIM</a:t>
            </a:r>
            <a:endParaRPr lang="en-US" sz="1250" dirty="0"/>
          </a:p>
        </p:txBody>
      </p:sp>
      <p:sp>
        <p:nvSpPr>
          <p:cNvPr id="27" name="Text 22"/>
          <p:cNvSpPr/>
          <p:nvPr/>
        </p:nvSpPr>
        <p:spPr>
          <a:xfrm>
            <a:off x="4846320" y="2926080"/>
            <a:ext cx="1627632" cy="676656"/>
          </a:xfrm>
          <a:prstGeom prst="rect">
            <a:avLst/>
          </a:prstGeom>
          <a:noFill/>
          <a:ln/>
        </p:spPr>
        <p:txBody>
          <a:bodyPr wrap="square" lIns="0" tIns="0" rIns="0" bIns="0" rtlCol="0" anchor="ctr"/>
          <a:lstStyle/>
          <a:p>
            <a:pPr algn="ctr" indent="0" marL="0">
              <a:buNone/>
            </a:pPr>
            <a:r>
              <a:rPr lang="en-US" sz="900" dirty="0">
                <a:solidFill>
                  <a:srgbClr val="5A6781"/>
                </a:solidFill>
                <a:latin typeface="Calibri" pitchFamily="34" charset="0"/>
                <a:ea typeface="Calibri" pitchFamily="34" charset="-122"/>
                <a:cs typeface="Calibri" pitchFamily="34" charset="-120"/>
              </a:rPr>
              <a:t>Create new (Basic v2) or use an existing v2 instance, then name the gateway.</a:t>
            </a:r>
            <a:endParaRPr lang="en-US" sz="900" dirty="0"/>
          </a:p>
        </p:txBody>
      </p:sp>
      <p:sp>
        <p:nvSpPr>
          <p:cNvPr id="28" name="Shape 23"/>
          <p:cNvSpPr/>
          <p:nvPr/>
        </p:nvSpPr>
        <p:spPr>
          <a:xfrm>
            <a:off x="6611112" y="2377440"/>
            <a:ext cx="128016" cy="0"/>
          </a:xfrm>
          <a:prstGeom prst="line">
            <a:avLst/>
          </a:prstGeom>
          <a:noFill/>
          <a:ln w="25400">
            <a:solidFill>
              <a:srgbClr val="4F86F7"/>
            </a:solidFill>
            <a:prstDash val="solid"/>
            <a:tailEnd type="triangle"/>
          </a:ln>
        </p:spPr>
      </p:sp>
      <p:sp>
        <p:nvSpPr>
          <p:cNvPr id="29" name="Shape 24"/>
          <p:cNvSpPr/>
          <p:nvPr/>
        </p:nvSpPr>
        <p:spPr>
          <a:xfrm>
            <a:off x="6748272" y="1463040"/>
            <a:ext cx="1883664" cy="21945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30" name="Shape 25"/>
          <p:cNvSpPr/>
          <p:nvPr/>
        </p:nvSpPr>
        <p:spPr>
          <a:xfrm>
            <a:off x="6748272" y="1463040"/>
            <a:ext cx="64008" cy="2194560"/>
          </a:xfrm>
          <a:prstGeom prst="rect">
            <a:avLst/>
          </a:prstGeom>
          <a:solidFill>
            <a:srgbClr val="4F86F7"/>
          </a:solidFill>
          <a:ln/>
        </p:spPr>
      </p:sp>
      <p:sp>
        <p:nvSpPr>
          <p:cNvPr id="31" name="Shape 26"/>
          <p:cNvSpPr/>
          <p:nvPr/>
        </p:nvSpPr>
        <p:spPr>
          <a:xfrm>
            <a:off x="7388352" y="1682496"/>
            <a:ext cx="603504" cy="603504"/>
          </a:xfrm>
          <a:prstGeom prst="ellipse">
            <a:avLst/>
          </a:prstGeom>
          <a:solidFill>
            <a:srgbClr val="1E2761"/>
          </a:solidFill>
          <a:ln/>
        </p:spPr>
      </p:sp>
      <p:pic>
        <p:nvPicPr>
          <p:cNvPr id="32" name="Image 3" descr="preencoded.png">    </p:cNvPr>
          <p:cNvPicPr>
            <a:picLocks noChangeAspect="1"/>
          </p:cNvPicPr>
          <p:nvPr/>
        </p:nvPicPr>
        <p:blipFill>
          <a:blip r:embed="rId4"/>
          <a:stretch>
            <a:fillRect/>
          </a:stretch>
        </p:blipFill>
        <p:spPr>
          <a:xfrm>
            <a:off x="7534656" y="1837944"/>
            <a:ext cx="310896" cy="310896"/>
          </a:xfrm>
          <a:prstGeom prst="rect">
            <a:avLst/>
          </a:prstGeom>
        </p:spPr>
      </p:pic>
      <p:sp>
        <p:nvSpPr>
          <p:cNvPr id="33" name="Text 27"/>
          <p:cNvSpPr/>
          <p:nvPr/>
        </p:nvSpPr>
        <p:spPr>
          <a:xfrm>
            <a:off x="6839712" y="2395728"/>
            <a:ext cx="1700784" cy="219456"/>
          </a:xfrm>
          <a:prstGeom prst="rect">
            <a:avLst/>
          </a:prstGeom>
          <a:noFill/>
          <a:ln/>
        </p:spPr>
        <p:txBody>
          <a:bodyPr wrap="square" lIns="0" tIns="0" rIns="0" bIns="0" rtlCol="0" anchor="ctr"/>
          <a:lstStyle/>
          <a:p>
            <a:pPr algn="ctr" indent="0" marL="0">
              <a:buNone/>
            </a:pPr>
            <a:r>
              <a:rPr lang="en-US" sz="900" b="1" spc="150" kern="0" dirty="0">
                <a:solidFill>
                  <a:srgbClr val="4F86F7"/>
                </a:solidFill>
                <a:latin typeface="Calibri" pitchFamily="34" charset="0"/>
                <a:ea typeface="Calibri" pitchFamily="34" charset="-122"/>
                <a:cs typeface="Calibri" pitchFamily="34" charset="-120"/>
              </a:rPr>
              <a:t>STEP 4</a:t>
            </a:r>
            <a:endParaRPr lang="en-US" sz="900" dirty="0"/>
          </a:p>
        </p:txBody>
      </p:sp>
      <p:sp>
        <p:nvSpPr>
          <p:cNvPr id="34" name="Text 28"/>
          <p:cNvSpPr/>
          <p:nvPr/>
        </p:nvSpPr>
        <p:spPr>
          <a:xfrm>
            <a:off x="6858000" y="2596896"/>
            <a:ext cx="1664208" cy="329184"/>
          </a:xfrm>
          <a:prstGeom prst="rect">
            <a:avLst/>
          </a:prstGeom>
          <a:noFill/>
          <a:ln/>
        </p:spPr>
        <p:txBody>
          <a:bodyPr wrap="square" lIns="0" tIns="0" rIns="0" bIns="0" rtlCol="0" anchor="ctr"/>
          <a:lstStyle/>
          <a:p>
            <a:pPr algn="ctr" indent="0" marL="0">
              <a:buNone/>
            </a:pPr>
            <a:r>
              <a:rPr lang="en-US" sz="1250" b="1" dirty="0">
                <a:solidFill>
                  <a:srgbClr val="1E2761"/>
                </a:solidFill>
                <a:latin typeface="Georgia" pitchFamily="34" charset="0"/>
                <a:ea typeface="Georgia" pitchFamily="34" charset="-122"/>
                <a:cs typeface="Georgia" pitchFamily="34" charset="-120"/>
              </a:rPr>
              <a:t>Add projects</a:t>
            </a:r>
            <a:endParaRPr lang="en-US" sz="1250" dirty="0"/>
          </a:p>
        </p:txBody>
      </p:sp>
      <p:sp>
        <p:nvSpPr>
          <p:cNvPr id="35" name="Text 29"/>
          <p:cNvSpPr/>
          <p:nvPr/>
        </p:nvSpPr>
        <p:spPr>
          <a:xfrm>
            <a:off x="6876288" y="2926080"/>
            <a:ext cx="1627632" cy="676656"/>
          </a:xfrm>
          <a:prstGeom prst="rect">
            <a:avLst/>
          </a:prstGeom>
          <a:noFill/>
          <a:ln/>
        </p:spPr>
        <p:txBody>
          <a:bodyPr wrap="square" lIns="0" tIns="0" rIns="0" bIns="0" rtlCol="0" anchor="ctr"/>
          <a:lstStyle/>
          <a:p>
            <a:pPr algn="ctr" indent="0" marL="0">
              <a:buNone/>
            </a:pPr>
            <a:r>
              <a:rPr lang="en-US" sz="900" dirty="0">
                <a:solidFill>
                  <a:srgbClr val="5A6781"/>
                </a:solidFill>
                <a:latin typeface="Calibri" pitchFamily="34" charset="0"/>
                <a:ea typeface="Calibri" pitchFamily="34" charset="-122"/>
                <a:cs typeface="Calibri" pitchFamily="34" charset="-120"/>
              </a:rPr>
              <a:t>Status goes Provisioning → Enabled. New projects join by default; add existing ones.</a:t>
            </a:r>
            <a:endParaRPr lang="en-US" sz="900" dirty="0"/>
          </a:p>
        </p:txBody>
      </p:sp>
      <p:sp>
        <p:nvSpPr>
          <p:cNvPr id="36" name="Shape 30"/>
          <p:cNvSpPr/>
          <p:nvPr/>
        </p:nvSpPr>
        <p:spPr>
          <a:xfrm>
            <a:off x="658368" y="3886200"/>
            <a:ext cx="7827264" cy="713232"/>
          </a:xfrm>
          <a:prstGeom prst="rect">
            <a:avLst/>
          </a:prstGeom>
          <a:solidFill>
            <a:srgbClr val="CADCFC"/>
          </a:solidFill>
          <a:ln/>
        </p:spPr>
      </p:sp>
      <p:pic>
        <p:nvPicPr>
          <p:cNvPr id="37" name="Image 4" descr="preencoded.png">    </p:cNvPr>
          <p:cNvPicPr>
            <a:picLocks noChangeAspect="1"/>
          </p:cNvPicPr>
          <p:nvPr/>
        </p:nvPicPr>
        <p:blipFill>
          <a:blip r:embed="rId5"/>
          <a:stretch>
            <a:fillRect/>
          </a:stretch>
        </p:blipFill>
        <p:spPr>
          <a:xfrm>
            <a:off x="868680" y="4078224"/>
            <a:ext cx="329184" cy="329184"/>
          </a:xfrm>
          <a:prstGeom prst="rect">
            <a:avLst/>
          </a:prstGeom>
        </p:spPr>
      </p:pic>
      <p:sp>
        <p:nvSpPr>
          <p:cNvPr id="38" name="Text 31"/>
          <p:cNvSpPr/>
          <p:nvPr/>
        </p:nvSpPr>
        <p:spPr>
          <a:xfrm>
            <a:off x="1325880" y="3886200"/>
            <a:ext cx="6949440" cy="7132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AI Gateway includes a free tier for API Management. </a:t>
            </a:r>
            <a:pPr indent="0" marL="0">
              <a:buNone/>
            </a:pPr>
            <a:r>
              <a:rPr lang="en-US" sz="1150" dirty="0">
                <a:solidFill>
                  <a:srgbClr val="5A6781"/>
                </a:solidFill>
                <a:latin typeface="Calibri" pitchFamily="34" charset="0"/>
                <a:ea typeface="Calibri" pitchFamily="34" charset="-122"/>
                <a:cs typeface="Calibri" pitchFamily="34" charset="-120"/>
              </a:rPr>
              <a:t>Verify status shows Enabled for both the resource and each project.</a:t>
            </a:r>
            <a:endParaRPr lang="en-US" sz="1150" dirty="0"/>
          </a:p>
        </p:txBody>
      </p:sp>
      <p:sp>
        <p:nvSpPr>
          <p:cNvPr id="39" name="Text 32"/>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40" name="Text 33"/>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Create new or reuse API Management</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TWO WAYS TO BACK THE GATEWAY</a:t>
            </a:r>
            <a:endParaRPr lang="en-US" sz="1150" dirty="0"/>
          </a:p>
        </p:txBody>
      </p:sp>
      <p:sp>
        <p:nvSpPr>
          <p:cNvPr id="5" name="Shape 3"/>
          <p:cNvSpPr/>
          <p:nvPr/>
        </p:nvSpPr>
        <p:spPr>
          <a:xfrm>
            <a:off x="658368" y="1417320"/>
            <a:ext cx="3822192" cy="18745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6" name="Shape 4"/>
          <p:cNvSpPr/>
          <p:nvPr/>
        </p:nvSpPr>
        <p:spPr>
          <a:xfrm>
            <a:off x="658368" y="1417320"/>
            <a:ext cx="3822192" cy="502920"/>
          </a:xfrm>
          <a:prstGeom prst="rect">
            <a:avLst/>
          </a:prstGeom>
          <a:solidFill>
            <a:srgbClr val="4F86F7"/>
          </a:solidFill>
          <a:ln/>
        </p:spPr>
      </p:sp>
      <p:pic>
        <p:nvPicPr>
          <p:cNvPr id="7" name="Image 0" descr="preencoded.png">    </p:cNvPr>
          <p:cNvPicPr>
            <a:picLocks noChangeAspect="1"/>
          </p:cNvPicPr>
          <p:nvPr/>
        </p:nvPicPr>
        <p:blipFill>
          <a:blip r:embed="rId1"/>
          <a:stretch>
            <a:fillRect/>
          </a:stretch>
        </p:blipFill>
        <p:spPr>
          <a:xfrm>
            <a:off x="868680" y="1527048"/>
            <a:ext cx="274320" cy="274320"/>
          </a:xfrm>
          <a:prstGeom prst="rect">
            <a:avLst/>
          </a:prstGeom>
        </p:spPr>
      </p:pic>
      <p:sp>
        <p:nvSpPr>
          <p:cNvPr id="8" name="Text 5"/>
          <p:cNvSpPr/>
          <p:nvPr/>
        </p:nvSpPr>
        <p:spPr>
          <a:xfrm>
            <a:off x="1234440" y="1417320"/>
            <a:ext cx="3182112"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Create new</a:t>
            </a:r>
            <a:endParaRPr lang="en-US" sz="1400" dirty="0"/>
          </a:p>
        </p:txBody>
      </p:sp>
      <p:sp>
        <p:nvSpPr>
          <p:cNvPr id="9" name="Text 6"/>
          <p:cNvSpPr/>
          <p:nvPr/>
        </p:nvSpPr>
        <p:spPr>
          <a:xfrm>
            <a:off x="868680" y="2075688"/>
            <a:ext cx="3364992" cy="11430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B2447"/>
                </a:solidFill>
                <a:latin typeface="Calibri" pitchFamily="34" charset="0"/>
                <a:ea typeface="Calibri" pitchFamily="34" charset="-122"/>
                <a:cs typeface="Calibri" pitchFamily="34" charset="-120"/>
              </a:rPr>
              <a:t>Creates a Basic v2 instance</a:t>
            </a:r>
            <a:endParaRPr lang="en-US" sz="1100" dirty="0"/>
          </a:p>
          <a:p>
            <a:pPr marL="342900" indent="-342900">
              <a:spcAft>
                <a:spcPts val="600"/>
              </a:spcAft>
              <a:buSzPct val="100000"/>
              <a:buChar char="•"/>
            </a:pPr>
            <a:r>
              <a:rPr lang="en-US" sz="1100" dirty="0">
                <a:solidFill>
                  <a:srgbClr val="1B2447"/>
                </a:solidFill>
                <a:latin typeface="Calibri" pitchFamily="34" charset="0"/>
                <a:ea typeface="Calibri" pitchFamily="34" charset="-122"/>
                <a:cs typeface="Calibri" pitchFamily="34" charset="-120"/>
              </a:rPr>
              <a:t>Designed for development &amp; testing, with SLA</a:t>
            </a:r>
            <a:endParaRPr lang="en-US" sz="1100" dirty="0"/>
          </a:p>
          <a:p>
            <a:pPr marL="342900" indent="-342900">
              <a:spcAft>
                <a:spcPts val="600"/>
              </a:spcAft>
              <a:buSzPct val="100000"/>
              <a:buChar char="•"/>
            </a:pPr>
            <a:r>
              <a:rPr lang="en-US" sz="1100" dirty="0">
                <a:solidFill>
                  <a:srgbClr val="1B2447"/>
                </a:solidFill>
                <a:latin typeface="Calibri" pitchFamily="34" charset="0"/>
                <a:ea typeface="Calibri" pitchFamily="34" charset="-122"/>
                <a:cs typeface="Calibri" pitchFamily="34" charset="-120"/>
              </a:rPr>
              <a:t>Fastest path — Foundry provisions it for you</a:t>
            </a:r>
            <a:endParaRPr lang="en-US" sz="1100" dirty="0"/>
          </a:p>
        </p:txBody>
      </p:sp>
      <p:sp>
        <p:nvSpPr>
          <p:cNvPr id="10" name="Shape 7"/>
          <p:cNvSpPr/>
          <p:nvPr/>
        </p:nvSpPr>
        <p:spPr>
          <a:xfrm>
            <a:off x="4663440" y="1417320"/>
            <a:ext cx="3822192" cy="18745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1" name="Shape 8"/>
          <p:cNvSpPr/>
          <p:nvPr/>
        </p:nvSpPr>
        <p:spPr>
          <a:xfrm>
            <a:off x="4663440" y="1417320"/>
            <a:ext cx="3822192" cy="502920"/>
          </a:xfrm>
          <a:prstGeom prst="rect">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4873752" y="1527048"/>
            <a:ext cx="274320" cy="274320"/>
          </a:xfrm>
          <a:prstGeom prst="rect">
            <a:avLst/>
          </a:prstGeom>
        </p:spPr>
      </p:pic>
      <p:sp>
        <p:nvSpPr>
          <p:cNvPr id="13" name="Text 9"/>
          <p:cNvSpPr/>
          <p:nvPr/>
        </p:nvSpPr>
        <p:spPr>
          <a:xfrm>
            <a:off x="5239512" y="1417320"/>
            <a:ext cx="3182112" cy="5029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Use existing</a:t>
            </a:r>
            <a:endParaRPr lang="en-US" sz="1400" dirty="0"/>
          </a:p>
        </p:txBody>
      </p:sp>
      <p:sp>
        <p:nvSpPr>
          <p:cNvPr id="14" name="Text 10"/>
          <p:cNvSpPr/>
          <p:nvPr/>
        </p:nvSpPr>
        <p:spPr>
          <a:xfrm>
            <a:off x="4873752" y="2075688"/>
            <a:ext cx="3364992" cy="11430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B2447"/>
                </a:solidFill>
                <a:latin typeface="Calibri" pitchFamily="34" charset="0"/>
                <a:ea typeface="Calibri" pitchFamily="34" charset="-122"/>
                <a:cs typeface="Calibri" pitchFamily="34" charset="-120"/>
              </a:rPr>
              <a:t>Standard v2 or Premium v2 for production</a:t>
            </a:r>
            <a:endParaRPr lang="en-US" sz="1100" dirty="0"/>
          </a:p>
          <a:p>
            <a:pPr marL="342900" indent="-342900">
              <a:spcAft>
                <a:spcPts val="600"/>
              </a:spcAft>
              <a:buSzPct val="100000"/>
              <a:buChar char="•"/>
            </a:pPr>
            <a:r>
              <a:rPr lang="en-US" sz="1100" dirty="0">
                <a:solidFill>
                  <a:srgbClr val="1B2447"/>
                </a:solidFill>
                <a:latin typeface="Calibri" pitchFamily="34" charset="0"/>
                <a:ea typeface="Calibri" pitchFamily="34" charset="-122"/>
                <a:cs typeface="Calibri" pitchFamily="34" charset="-120"/>
              </a:rPr>
              <a:t>Meets your governance &amp; networking needs</a:t>
            </a:r>
            <a:endParaRPr lang="en-US" sz="1100" dirty="0"/>
          </a:p>
          <a:p>
            <a:pPr marL="342900" indent="-342900">
              <a:spcAft>
                <a:spcPts val="600"/>
              </a:spcAft>
              <a:buSzPct val="100000"/>
              <a:buChar char="•"/>
            </a:pPr>
            <a:r>
              <a:rPr lang="en-US" sz="1100" dirty="0">
                <a:solidFill>
                  <a:srgbClr val="1B2447"/>
                </a:solidFill>
                <a:latin typeface="Calibri" pitchFamily="34" charset="0"/>
                <a:ea typeface="Calibri" pitchFamily="34" charset="-122"/>
                <a:cs typeface="Calibri" pitchFamily="34" charset="-120"/>
              </a:rPr>
              <a:t>Private endpoint / VNet for private Foundry</a:t>
            </a:r>
            <a:endParaRPr lang="en-US" sz="1100" dirty="0"/>
          </a:p>
        </p:txBody>
      </p:sp>
      <p:sp>
        <p:nvSpPr>
          <p:cNvPr id="15" name="Shape 11"/>
          <p:cNvSpPr/>
          <p:nvPr/>
        </p:nvSpPr>
        <p:spPr>
          <a:xfrm>
            <a:off x="658368" y="3520440"/>
            <a:ext cx="7827264" cy="1051560"/>
          </a:xfrm>
          <a:prstGeom prst="rect">
            <a:avLst/>
          </a:prstGeom>
          <a:solidFill>
            <a:srgbClr val="1E2761"/>
          </a:solidFill>
          <a:ln/>
        </p:spPr>
      </p:sp>
      <p:sp>
        <p:nvSpPr>
          <p:cNvPr id="16" name="Text 12"/>
          <p:cNvSpPr/>
          <p:nvPr/>
        </p:nvSpPr>
        <p:spPr>
          <a:xfrm>
            <a:off x="868680" y="3611880"/>
            <a:ext cx="731520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Requirements to reuse an instance</a:t>
            </a:r>
            <a:endParaRPr lang="en-US" sz="1300" dirty="0"/>
          </a:p>
        </p:txBody>
      </p:sp>
      <p:sp>
        <p:nvSpPr>
          <p:cNvPr id="17" name="Text 13"/>
          <p:cNvSpPr/>
          <p:nvPr/>
        </p:nvSpPr>
        <p:spPr>
          <a:xfrm>
            <a:off x="914400" y="3913632"/>
            <a:ext cx="7406640" cy="621792"/>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CADCFC"/>
                </a:solidFill>
                <a:latin typeface="Calibri" pitchFamily="34" charset="0"/>
                <a:ea typeface="Calibri" pitchFamily="34" charset="-122"/>
                <a:cs typeface="Calibri" pitchFamily="34" charset="-120"/>
              </a:rPr>
              <a:t>Same Microsoft Entra tenant and subscription as the Foundry resource</a:t>
            </a:r>
            <a:endParaRPr lang="en-US" sz="1050" dirty="0"/>
          </a:p>
          <a:p>
            <a:pPr marL="342900" indent="-342900">
              <a:spcAft>
                <a:spcPts val="300"/>
              </a:spcAft>
              <a:buSzPct val="100000"/>
              <a:buChar char="•"/>
            </a:pPr>
            <a:r>
              <a:rPr lang="en-US" sz="1050" dirty="0">
                <a:solidFill>
                  <a:srgbClr val="CADCFC"/>
                </a:solidFill>
                <a:latin typeface="Calibri" pitchFamily="34" charset="0"/>
                <a:ea typeface="Calibri" pitchFamily="34" charset="-122"/>
                <a:cs typeface="Calibri" pitchFamily="34" charset="-120"/>
              </a:rPr>
              <a:t>At least API Management Service Contributor (or Owner) on the instance</a:t>
            </a:r>
            <a:endParaRPr lang="en-US" sz="1050" dirty="0"/>
          </a:p>
          <a:p>
            <a:pPr marL="342900" indent="-342900">
              <a:spcAft>
                <a:spcPts val="300"/>
              </a:spcAft>
              <a:buSzPct val="100000"/>
              <a:buChar char="•"/>
            </a:pPr>
            <a:r>
              <a:rPr lang="en-US" sz="1050" dirty="0">
                <a:solidFill>
                  <a:srgbClr val="CADCFC"/>
                </a:solidFill>
                <a:latin typeface="Calibri" pitchFamily="34" charset="0"/>
                <a:ea typeface="Calibri" pitchFamily="34" charset="-122"/>
                <a:cs typeface="Calibri" pitchFamily="34" charset="-120"/>
              </a:rPr>
              <a:t>A v2 tier (Basic v2 / Standard v2 / Premium v2) · one gateway per instance</a:t>
            </a:r>
            <a:endParaRPr lang="en-US" sz="1050" dirty="0"/>
          </a:p>
        </p:txBody>
      </p:sp>
      <p:sp>
        <p:nvSpPr>
          <p:cNvPr id="18" name="Text 14"/>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19" name="Text 15"/>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Token limits &amp; quotas, set in Foundry</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ADMIN CONSOLE · TOKEN MANAGEMENT</a:t>
            </a:r>
            <a:endParaRPr lang="en-US" sz="1150" dirty="0"/>
          </a:p>
        </p:txBody>
      </p:sp>
      <p:sp>
        <p:nvSpPr>
          <p:cNvPr id="5" name="Text 3"/>
          <p:cNvSpPr/>
          <p:nvPr/>
        </p:nvSpPr>
        <p:spPr>
          <a:xfrm>
            <a:off x="658368" y="1234440"/>
            <a:ext cx="7772400" cy="731520"/>
          </a:xfrm>
          <a:prstGeom prst="rect">
            <a:avLst/>
          </a:prstGeom>
          <a:noFill/>
          <a:ln/>
        </p:spPr>
        <p:txBody>
          <a:bodyPr wrap="square" lIns="0" tIns="0" rIns="0" bIns="0" rtlCol="0" anchor="ctr"/>
          <a:lstStyle/>
          <a:p>
            <a:pPr indent="0" marL="0">
              <a:buNone/>
            </a:pPr>
            <a:r>
              <a:rPr lang="en-US" sz="1250" dirty="0">
                <a:solidFill>
                  <a:srgbClr val="1B2447"/>
                </a:solidFill>
                <a:latin typeface="Calibri" pitchFamily="34" charset="0"/>
                <a:ea typeface="Calibri" pitchFamily="34" charset="-122"/>
                <a:cs typeface="Calibri" pitchFamily="34" charset="-120"/>
              </a:rPr>
              <a:t>Set per-project, per-deployment limits without touching policy XML. Open the gateway, choose Token management, select Set limit, and pick a project, a deployment and a tokens-per-minute value.</a:t>
            </a:r>
            <a:endParaRPr lang="en-US" sz="1250" dirty="0"/>
          </a:p>
        </p:txBody>
      </p:sp>
      <p:sp>
        <p:nvSpPr>
          <p:cNvPr id="6" name="Shape 4"/>
          <p:cNvSpPr/>
          <p:nvPr/>
        </p:nvSpPr>
        <p:spPr>
          <a:xfrm>
            <a:off x="658368" y="2011680"/>
            <a:ext cx="972922" cy="347472"/>
          </a:xfrm>
          <a:prstGeom prst="roundRect">
            <a:avLst>
              <a:gd name="adj" fmla="val 15789"/>
            </a:avLst>
          </a:prstGeom>
          <a:solidFill>
            <a:srgbClr val="CADCFC"/>
          </a:solidFill>
          <a:ln/>
        </p:spPr>
      </p:sp>
      <p:sp>
        <p:nvSpPr>
          <p:cNvPr id="7" name="Text 5"/>
          <p:cNvSpPr/>
          <p:nvPr/>
        </p:nvSpPr>
        <p:spPr>
          <a:xfrm>
            <a:off x="658368" y="2011680"/>
            <a:ext cx="972922" cy="34747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Operate</a:t>
            </a:r>
            <a:endParaRPr lang="en-US" sz="950" dirty="0"/>
          </a:p>
        </p:txBody>
      </p:sp>
      <p:sp>
        <p:nvSpPr>
          <p:cNvPr id="8" name="Text 6"/>
          <p:cNvSpPr/>
          <p:nvPr/>
        </p:nvSpPr>
        <p:spPr>
          <a:xfrm>
            <a:off x="1631290" y="2011680"/>
            <a:ext cx="201168" cy="347472"/>
          </a:xfrm>
          <a:prstGeom prst="rect">
            <a:avLst/>
          </a:prstGeom>
          <a:noFill/>
          <a:ln/>
        </p:spPr>
        <p:txBody>
          <a:bodyPr wrap="square" lIns="0" tIns="0" rIns="0" bIns="0" rtlCol="0" anchor="ctr"/>
          <a:lstStyle/>
          <a:p>
            <a:pPr algn="ctr" indent="0" marL="0">
              <a:buNone/>
            </a:pPr>
            <a:r>
              <a:rPr lang="en-US" sz="1300" b="1" dirty="0">
                <a:solidFill>
                  <a:srgbClr val="5A6781"/>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1832458" y="2011680"/>
            <a:ext cx="1477670" cy="347472"/>
          </a:xfrm>
          <a:prstGeom prst="roundRect">
            <a:avLst>
              <a:gd name="adj" fmla="val 15789"/>
            </a:avLst>
          </a:prstGeom>
          <a:solidFill>
            <a:srgbClr val="CADCFC"/>
          </a:solidFill>
          <a:ln/>
        </p:spPr>
      </p:sp>
      <p:sp>
        <p:nvSpPr>
          <p:cNvPr id="10" name="Text 8"/>
          <p:cNvSpPr/>
          <p:nvPr/>
        </p:nvSpPr>
        <p:spPr>
          <a:xfrm>
            <a:off x="1832458" y="2011680"/>
            <a:ext cx="1477670" cy="34747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Admin console</a:t>
            </a:r>
            <a:endParaRPr lang="en-US" sz="950" dirty="0"/>
          </a:p>
        </p:txBody>
      </p:sp>
      <p:sp>
        <p:nvSpPr>
          <p:cNvPr id="11" name="Text 9"/>
          <p:cNvSpPr/>
          <p:nvPr/>
        </p:nvSpPr>
        <p:spPr>
          <a:xfrm>
            <a:off x="3310128" y="2011680"/>
            <a:ext cx="201168" cy="347472"/>
          </a:xfrm>
          <a:prstGeom prst="rect">
            <a:avLst/>
          </a:prstGeom>
          <a:noFill/>
          <a:ln/>
        </p:spPr>
        <p:txBody>
          <a:bodyPr wrap="square" lIns="0" tIns="0" rIns="0" bIns="0" rtlCol="0" anchor="ctr"/>
          <a:lstStyle/>
          <a:p>
            <a:pPr algn="ctr" indent="0" marL="0">
              <a:buNone/>
            </a:pPr>
            <a:r>
              <a:rPr lang="en-US" sz="1300" b="1" dirty="0">
                <a:solidFill>
                  <a:srgbClr val="5A6781"/>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3511296" y="2011680"/>
            <a:ext cx="1225296" cy="347472"/>
          </a:xfrm>
          <a:prstGeom prst="roundRect">
            <a:avLst>
              <a:gd name="adj" fmla="val 15789"/>
            </a:avLst>
          </a:prstGeom>
          <a:solidFill>
            <a:srgbClr val="CADCFC"/>
          </a:solidFill>
          <a:ln/>
        </p:spPr>
      </p:sp>
      <p:sp>
        <p:nvSpPr>
          <p:cNvPr id="13" name="Text 11"/>
          <p:cNvSpPr/>
          <p:nvPr/>
        </p:nvSpPr>
        <p:spPr>
          <a:xfrm>
            <a:off x="3511296" y="2011680"/>
            <a:ext cx="1225296" cy="34747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AI Gateway</a:t>
            </a:r>
            <a:endParaRPr lang="en-US" sz="950" dirty="0"/>
          </a:p>
        </p:txBody>
      </p:sp>
      <p:sp>
        <p:nvSpPr>
          <p:cNvPr id="14" name="Text 12"/>
          <p:cNvSpPr/>
          <p:nvPr/>
        </p:nvSpPr>
        <p:spPr>
          <a:xfrm>
            <a:off x="4736592" y="2011680"/>
            <a:ext cx="201168" cy="347472"/>
          </a:xfrm>
          <a:prstGeom prst="rect">
            <a:avLst/>
          </a:prstGeom>
          <a:noFill/>
          <a:ln/>
        </p:spPr>
        <p:txBody>
          <a:bodyPr wrap="square" lIns="0" tIns="0" rIns="0" bIns="0" rtlCol="0" anchor="ctr"/>
          <a:lstStyle/>
          <a:p>
            <a:pPr algn="ctr" indent="0" marL="0">
              <a:buNone/>
            </a:pPr>
            <a:r>
              <a:rPr lang="en-US" sz="1300" b="1" dirty="0">
                <a:solidFill>
                  <a:srgbClr val="5A6781"/>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4937760" y="2011680"/>
            <a:ext cx="1730045" cy="347472"/>
          </a:xfrm>
          <a:prstGeom prst="roundRect">
            <a:avLst>
              <a:gd name="adj" fmla="val 15789"/>
            </a:avLst>
          </a:prstGeom>
          <a:solidFill>
            <a:srgbClr val="CADCFC"/>
          </a:solidFill>
          <a:ln/>
        </p:spPr>
      </p:sp>
      <p:sp>
        <p:nvSpPr>
          <p:cNvPr id="16" name="Text 14"/>
          <p:cNvSpPr/>
          <p:nvPr/>
        </p:nvSpPr>
        <p:spPr>
          <a:xfrm>
            <a:off x="4937760" y="2011680"/>
            <a:ext cx="1730045" cy="34747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Token management</a:t>
            </a:r>
            <a:endParaRPr lang="en-US" sz="950" dirty="0"/>
          </a:p>
        </p:txBody>
      </p:sp>
      <p:sp>
        <p:nvSpPr>
          <p:cNvPr id="17" name="Text 15"/>
          <p:cNvSpPr/>
          <p:nvPr/>
        </p:nvSpPr>
        <p:spPr>
          <a:xfrm>
            <a:off x="6667805" y="2011680"/>
            <a:ext cx="201168" cy="347472"/>
          </a:xfrm>
          <a:prstGeom prst="rect">
            <a:avLst/>
          </a:prstGeom>
          <a:noFill/>
          <a:ln/>
        </p:spPr>
        <p:txBody>
          <a:bodyPr wrap="square" lIns="0" tIns="0" rIns="0" bIns="0" rtlCol="0" anchor="ctr"/>
          <a:lstStyle/>
          <a:p>
            <a:pPr algn="ctr" indent="0" marL="0">
              <a:buNone/>
            </a:pPr>
            <a:r>
              <a:rPr lang="en-US" sz="1300" b="1" dirty="0">
                <a:solidFill>
                  <a:srgbClr val="5A6781"/>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6868973" y="2011680"/>
            <a:ext cx="1141171" cy="347472"/>
          </a:xfrm>
          <a:prstGeom prst="roundRect">
            <a:avLst>
              <a:gd name="adj" fmla="val 15789"/>
            </a:avLst>
          </a:prstGeom>
          <a:solidFill>
            <a:srgbClr val="1E2761"/>
          </a:solidFill>
          <a:ln/>
        </p:spPr>
      </p:sp>
      <p:sp>
        <p:nvSpPr>
          <p:cNvPr id="19" name="Text 17"/>
          <p:cNvSpPr/>
          <p:nvPr/>
        </p:nvSpPr>
        <p:spPr>
          <a:xfrm>
            <a:off x="6868973" y="2011680"/>
            <a:ext cx="1141171"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Set limit</a:t>
            </a:r>
            <a:endParaRPr lang="en-US" sz="950" dirty="0"/>
          </a:p>
        </p:txBody>
      </p:sp>
      <p:sp>
        <p:nvSpPr>
          <p:cNvPr id="20" name="Shape 18"/>
          <p:cNvSpPr/>
          <p:nvPr/>
        </p:nvSpPr>
        <p:spPr>
          <a:xfrm>
            <a:off x="658368" y="2651760"/>
            <a:ext cx="4663440" cy="8229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21" name="Shape 19"/>
          <p:cNvSpPr/>
          <p:nvPr/>
        </p:nvSpPr>
        <p:spPr>
          <a:xfrm>
            <a:off x="658368" y="2651760"/>
            <a:ext cx="64008" cy="822960"/>
          </a:xfrm>
          <a:prstGeom prst="rect">
            <a:avLst/>
          </a:prstGeom>
          <a:solidFill>
            <a:srgbClr val="E0563B"/>
          </a:solidFill>
          <a:ln/>
        </p:spPr>
      </p:sp>
      <p:sp>
        <p:nvSpPr>
          <p:cNvPr id="22" name="Text 20"/>
          <p:cNvSpPr/>
          <p:nvPr/>
        </p:nvSpPr>
        <p:spPr>
          <a:xfrm>
            <a:off x="804672" y="2761488"/>
            <a:ext cx="868680" cy="603504"/>
          </a:xfrm>
          <a:prstGeom prst="rect">
            <a:avLst/>
          </a:prstGeom>
          <a:noFill/>
          <a:ln/>
        </p:spPr>
        <p:txBody>
          <a:bodyPr wrap="square" lIns="0" tIns="0" rIns="0" bIns="0" rtlCol="0" anchor="ctr"/>
          <a:lstStyle/>
          <a:p>
            <a:pPr indent="0" marL="0">
              <a:buNone/>
            </a:pPr>
            <a:r>
              <a:rPr lang="en-US" sz="2600" b="1" dirty="0">
                <a:solidFill>
                  <a:srgbClr val="E0563B"/>
                </a:solidFill>
                <a:latin typeface="Georgia" pitchFamily="34" charset="0"/>
                <a:ea typeface="Georgia" pitchFamily="34" charset="-122"/>
                <a:cs typeface="Georgia" pitchFamily="34" charset="-120"/>
              </a:rPr>
              <a:t>429</a:t>
            </a:r>
            <a:endParaRPr lang="en-US" sz="2600" dirty="0"/>
          </a:p>
        </p:txBody>
      </p:sp>
      <p:sp>
        <p:nvSpPr>
          <p:cNvPr id="23" name="Text 21"/>
          <p:cNvSpPr/>
          <p:nvPr/>
        </p:nvSpPr>
        <p:spPr>
          <a:xfrm>
            <a:off x="1627632" y="2761488"/>
            <a:ext cx="3566160" cy="274320"/>
          </a:xfrm>
          <a:prstGeom prst="rect">
            <a:avLst/>
          </a:prstGeom>
          <a:noFill/>
          <a:ln/>
        </p:spPr>
        <p:txBody>
          <a:bodyPr wrap="square" lIns="0" tIns="0" rIns="0" bIns="0" rtlCol="0" anchor="ctr"/>
          <a:lstStyle/>
          <a:p>
            <a:pPr indent="0" marL="0">
              <a:buNone/>
            </a:pPr>
            <a:r>
              <a:rPr lang="en-US" sz="1300" b="1" dirty="0">
                <a:solidFill>
                  <a:srgbClr val="1B2447"/>
                </a:solidFill>
                <a:latin typeface="Georgia" pitchFamily="34" charset="0"/>
                <a:ea typeface="Georgia" pitchFamily="34" charset="-122"/>
                <a:cs typeface="Georgia" pitchFamily="34" charset="-120"/>
              </a:rPr>
              <a:t>Too Many Requests</a:t>
            </a:r>
            <a:endParaRPr lang="en-US" sz="1300" dirty="0"/>
          </a:p>
        </p:txBody>
      </p:sp>
      <p:sp>
        <p:nvSpPr>
          <p:cNvPr id="24" name="Text 22"/>
          <p:cNvSpPr/>
          <p:nvPr/>
        </p:nvSpPr>
        <p:spPr>
          <a:xfrm>
            <a:off x="1627632" y="3035808"/>
            <a:ext cx="3611880" cy="402336"/>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Tokens-per-minute rate limit exceeded — caller backs off and retries.</a:t>
            </a:r>
            <a:endParaRPr lang="en-US" sz="950" dirty="0"/>
          </a:p>
        </p:txBody>
      </p:sp>
      <p:sp>
        <p:nvSpPr>
          <p:cNvPr id="25" name="Shape 23"/>
          <p:cNvSpPr/>
          <p:nvPr/>
        </p:nvSpPr>
        <p:spPr>
          <a:xfrm>
            <a:off x="658368" y="3584448"/>
            <a:ext cx="4663440" cy="8229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26" name="Shape 24"/>
          <p:cNvSpPr/>
          <p:nvPr/>
        </p:nvSpPr>
        <p:spPr>
          <a:xfrm>
            <a:off x="658368" y="3584448"/>
            <a:ext cx="64008" cy="822960"/>
          </a:xfrm>
          <a:prstGeom prst="rect">
            <a:avLst/>
          </a:prstGeom>
          <a:solidFill>
            <a:srgbClr val="1E2761"/>
          </a:solidFill>
          <a:ln/>
        </p:spPr>
      </p:sp>
      <p:sp>
        <p:nvSpPr>
          <p:cNvPr id="27" name="Text 25"/>
          <p:cNvSpPr/>
          <p:nvPr/>
        </p:nvSpPr>
        <p:spPr>
          <a:xfrm>
            <a:off x="804672" y="3694176"/>
            <a:ext cx="868680" cy="603504"/>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403</a:t>
            </a:r>
            <a:endParaRPr lang="en-US" sz="2600" dirty="0"/>
          </a:p>
        </p:txBody>
      </p:sp>
      <p:sp>
        <p:nvSpPr>
          <p:cNvPr id="28" name="Text 26"/>
          <p:cNvSpPr/>
          <p:nvPr/>
        </p:nvSpPr>
        <p:spPr>
          <a:xfrm>
            <a:off x="1627632" y="3694176"/>
            <a:ext cx="3566160" cy="274320"/>
          </a:xfrm>
          <a:prstGeom prst="rect">
            <a:avLst/>
          </a:prstGeom>
          <a:noFill/>
          <a:ln/>
        </p:spPr>
        <p:txBody>
          <a:bodyPr wrap="square" lIns="0" tIns="0" rIns="0" bIns="0" rtlCol="0" anchor="ctr"/>
          <a:lstStyle/>
          <a:p>
            <a:pPr indent="0" marL="0">
              <a:buNone/>
            </a:pPr>
            <a:r>
              <a:rPr lang="en-US" sz="1300" b="1" dirty="0">
                <a:solidFill>
                  <a:srgbClr val="1B2447"/>
                </a:solidFill>
                <a:latin typeface="Georgia" pitchFamily="34" charset="0"/>
                <a:ea typeface="Georgia" pitchFamily="34" charset="-122"/>
                <a:cs typeface="Georgia" pitchFamily="34" charset="-120"/>
              </a:rPr>
              <a:t>Quota exhausted</a:t>
            </a:r>
            <a:endParaRPr lang="en-US" sz="1300" dirty="0"/>
          </a:p>
        </p:txBody>
      </p:sp>
      <p:sp>
        <p:nvSpPr>
          <p:cNvPr id="29" name="Text 27"/>
          <p:cNvSpPr/>
          <p:nvPr/>
        </p:nvSpPr>
        <p:spPr>
          <a:xfrm>
            <a:off x="1627632" y="3968496"/>
            <a:ext cx="3611880" cy="402336"/>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Total token quota for the period (hourly … yearly) is used up.</a:t>
            </a:r>
            <a:endParaRPr lang="en-US" sz="950" dirty="0"/>
          </a:p>
        </p:txBody>
      </p:sp>
      <p:sp>
        <p:nvSpPr>
          <p:cNvPr id="30" name="Shape 28"/>
          <p:cNvSpPr/>
          <p:nvPr/>
        </p:nvSpPr>
        <p:spPr>
          <a:xfrm>
            <a:off x="5532120" y="2651760"/>
            <a:ext cx="2953512" cy="1847088"/>
          </a:xfrm>
          <a:prstGeom prst="rect">
            <a:avLst/>
          </a:prstGeom>
          <a:solidFill>
            <a:srgbClr val="1E2761"/>
          </a:solidFill>
          <a:ln/>
        </p:spPr>
      </p:sp>
      <p:pic>
        <p:nvPicPr>
          <p:cNvPr id="31" name="Image 0" descr="preencoded.png">    </p:cNvPr>
          <p:cNvPicPr>
            <a:picLocks noChangeAspect="1"/>
          </p:cNvPicPr>
          <p:nvPr/>
        </p:nvPicPr>
        <p:blipFill>
          <a:blip r:embed="rId1"/>
          <a:stretch>
            <a:fillRect/>
          </a:stretch>
        </p:blipFill>
        <p:spPr>
          <a:xfrm>
            <a:off x="5742432" y="2852928"/>
            <a:ext cx="365760" cy="365760"/>
          </a:xfrm>
          <a:prstGeom prst="rect">
            <a:avLst/>
          </a:prstGeom>
        </p:spPr>
      </p:pic>
      <p:sp>
        <p:nvSpPr>
          <p:cNvPr id="32" name="Text 29"/>
          <p:cNvSpPr/>
          <p:nvPr/>
        </p:nvSpPr>
        <p:spPr>
          <a:xfrm>
            <a:off x="6199632" y="2852928"/>
            <a:ext cx="2194560" cy="457200"/>
          </a:xfrm>
          <a:prstGeom prst="rect">
            <a:avLst/>
          </a:prstGeom>
          <a:noFill/>
          <a:ln/>
        </p:spPr>
        <p:txBody>
          <a:bodyPr wrap="square" lIns="0" tIns="0" rIns="0" bIns="0" rtlCol="0" anchor="ctr"/>
          <a:lstStyle/>
          <a:p>
            <a:pPr indent="0" marL="0">
              <a:buNone/>
            </a:pPr>
            <a:r>
              <a:rPr lang="en-US" sz="1250" b="1" dirty="0">
                <a:solidFill>
                  <a:srgbClr val="FFFFFF"/>
                </a:solidFill>
                <a:latin typeface="Georgia" pitchFamily="34" charset="0"/>
                <a:ea typeface="Georgia" pitchFamily="34" charset="-122"/>
                <a:cs typeface="Georgia" pitchFamily="34" charset="-120"/>
              </a:rPr>
              <a:t>Two enforcement dimensions</a:t>
            </a:r>
            <a:endParaRPr lang="en-US" sz="1250" dirty="0"/>
          </a:p>
        </p:txBody>
      </p:sp>
      <p:sp>
        <p:nvSpPr>
          <p:cNvPr id="33" name="Text 30"/>
          <p:cNvSpPr/>
          <p:nvPr/>
        </p:nvSpPr>
        <p:spPr>
          <a:xfrm>
            <a:off x="5742432" y="3346704"/>
            <a:ext cx="2606040" cy="1097280"/>
          </a:xfrm>
          <a:prstGeom prst="rect">
            <a:avLst/>
          </a:prstGeom>
          <a:noFill/>
          <a:ln/>
        </p:spPr>
        <p:txBody>
          <a:bodyPr wrap="square" lIns="0" tIns="0" rIns="0" bIns="0" rtlCol="0" anchor="ctr"/>
          <a:lstStyle/>
          <a:p>
            <a:pPr indent="0" marL="0">
              <a:lnSpc>
                <a:spcPct val="102000"/>
              </a:lnSpc>
              <a:buNone/>
            </a:pPr>
            <a:r>
              <a:rPr lang="en-US" sz="1050" b="1" dirty="0">
                <a:solidFill>
                  <a:srgbClr val="F5B841"/>
                </a:solidFill>
                <a:latin typeface="Calibri" pitchFamily="34" charset="0"/>
                <a:ea typeface="Calibri" pitchFamily="34" charset="-122"/>
                <a:cs typeface="Calibri" pitchFamily="34" charset="-120"/>
              </a:rPr>
              <a:t>TPM rate limit</a:t>
            </a:r>
            <a:endParaRPr lang="en-US" sz="1050" dirty="0"/>
          </a:p>
          <a:p>
            <a:pPr indent="0" marL="0">
              <a:lnSpc>
                <a:spcPct val="102000"/>
              </a:lnSpc>
              <a:buNone/>
            </a:pPr>
            <a:r>
              <a:rPr lang="en-US" sz="1050" dirty="0">
                <a:solidFill>
                  <a:srgbClr val="CADCFC"/>
                </a:solidFill>
                <a:latin typeface="Calibri" pitchFamily="34" charset="0"/>
                <a:ea typeface="Calibri" pitchFamily="34" charset="-122"/>
                <a:cs typeface="Calibri" pitchFamily="34" charset="-120"/>
              </a:rPr>
              <a:t>smooths burst usage per minute.</a:t>
            </a:r>
            <a:endParaRPr lang="en-US" sz="1050" dirty="0"/>
          </a:p>
          <a:p>
            <a:pPr indent="0" marL="0">
              <a:lnSpc>
                <a:spcPct val="102000"/>
              </a:lnSpc>
              <a:buNone/>
            </a:pPr>
            <a:r>
              <a:rPr lang="en-US" sz="1050" b="1" dirty="0">
                <a:solidFill>
                  <a:srgbClr val="F5B841"/>
                </a:solidFill>
                <a:latin typeface="Calibri" pitchFamily="34" charset="0"/>
                <a:ea typeface="Calibri" pitchFamily="34" charset="-122"/>
                <a:cs typeface="Calibri" pitchFamily="34" charset="-120"/>
              </a:rPr>
              <a:t>Total token quota</a:t>
            </a:r>
            <a:endParaRPr lang="en-US" sz="1050" dirty="0"/>
          </a:p>
          <a:p>
            <a:pPr indent="0" marL="0">
              <a:lnSpc>
                <a:spcPct val="102000"/>
              </a:lnSpc>
              <a:buNone/>
            </a:pPr>
            <a:r>
              <a:rPr lang="en-US" sz="1050" dirty="0">
                <a:solidFill>
                  <a:srgbClr val="CADCFC"/>
                </a:solidFill>
                <a:latin typeface="Calibri" pitchFamily="34" charset="0"/>
                <a:ea typeface="Calibri" pitchFamily="34" charset="-122"/>
                <a:cs typeface="Calibri" pitchFamily="34" charset="-120"/>
              </a:rPr>
              <a:t>caps usage over a period.</a:t>
            </a:r>
            <a:endParaRPr lang="en-US" sz="1050" dirty="0"/>
          </a:p>
          <a:p>
            <a:pPr indent="0" marL="0">
              <a:lnSpc>
                <a:spcPct val="102000"/>
              </a:lnSpc>
              <a:buNone/>
            </a:pPr>
            <a:r>
              <a:rPr lang="en-US" sz="1050" i="1" dirty="0">
                <a:solidFill>
                  <a:srgbClr val="9BBDF9"/>
                </a:solidFill>
                <a:latin typeface="Calibri" pitchFamily="34" charset="0"/>
                <a:ea typeface="Calibri" pitchFamily="34" charset="-122"/>
                <a:cs typeface="Calibri" pitchFamily="34" charset="-120"/>
              </a:rPr>
              <a:t>New limits apply immediately.</a:t>
            </a:r>
            <a:endParaRPr lang="en-US" sz="1050" dirty="0"/>
          </a:p>
        </p:txBody>
      </p:sp>
      <p:sp>
        <p:nvSpPr>
          <p:cNvPr id="34" name="Text 31"/>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35" name="Text 32"/>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Safety &amp; policy enforcement</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THROTTLING, CONTENT SAFETY AND BEYOND</a:t>
            </a:r>
            <a:endParaRPr lang="en-US" sz="1150" dirty="0"/>
          </a:p>
        </p:txBody>
      </p:sp>
      <p:sp>
        <p:nvSpPr>
          <p:cNvPr id="5" name="Text 3"/>
          <p:cNvSpPr/>
          <p:nvPr/>
        </p:nvSpPr>
        <p:spPr>
          <a:xfrm>
            <a:off x="658368" y="1234440"/>
            <a:ext cx="7772400" cy="731520"/>
          </a:xfrm>
          <a:prstGeom prst="rect">
            <a:avLst/>
          </a:prstGeom>
          <a:noFill/>
          <a:ln/>
        </p:spPr>
        <p:txBody>
          <a:bodyPr wrap="square" lIns="0" tIns="0" rIns="0" bIns="0" rtlCol="0" anchor="ctr"/>
          <a:lstStyle/>
          <a:p>
            <a:pPr indent="0" marL="0">
              <a:buNone/>
            </a:pPr>
            <a:r>
              <a:rPr lang="en-US" sz="1250" dirty="0">
                <a:solidFill>
                  <a:srgbClr val="1B2447"/>
                </a:solidFill>
                <a:latin typeface="Calibri" pitchFamily="34" charset="0"/>
                <a:ea typeface="Calibri" pitchFamily="34" charset="-122"/>
                <a:cs typeface="Calibri" pitchFamily="34" charset="-120"/>
              </a:rPr>
              <a:t>Beyond token limits, the gateway applies policies such as content safety and throttling to governed traffic. For everyday limits you stay in Foundry; for advanced policy you open the full API Management experience.</a:t>
            </a:r>
            <a:endParaRPr lang="en-US" sz="1250" dirty="0"/>
          </a:p>
        </p:txBody>
      </p:sp>
      <p:sp>
        <p:nvSpPr>
          <p:cNvPr id="6" name="Shape 4"/>
          <p:cNvSpPr/>
          <p:nvPr/>
        </p:nvSpPr>
        <p:spPr>
          <a:xfrm>
            <a:off x="658368" y="2057400"/>
            <a:ext cx="2615184" cy="14173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658368" y="2057400"/>
            <a:ext cx="64008" cy="1417320"/>
          </a:xfrm>
          <a:prstGeom prst="rect">
            <a:avLst/>
          </a:prstGeom>
          <a:solidFill>
            <a:srgbClr val="4F86F7"/>
          </a:solidFill>
          <a:ln/>
        </p:spPr>
      </p:sp>
      <p:sp>
        <p:nvSpPr>
          <p:cNvPr id="8" name="Shape 6"/>
          <p:cNvSpPr/>
          <p:nvPr/>
        </p:nvSpPr>
        <p:spPr>
          <a:xfrm>
            <a:off x="877824" y="2276856"/>
            <a:ext cx="566928" cy="566928"/>
          </a:xfrm>
          <a:prstGeom prst="ellipse">
            <a:avLst/>
          </a:prstGeom>
          <a:solidFill>
            <a:srgbClr val="1E2761"/>
          </a:solidFill>
          <a:ln/>
        </p:spPr>
      </p:sp>
      <p:pic>
        <p:nvPicPr>
          <p:cNvPr id="9" name="Image 0" descr="preencoded.png">    </p:cNvPr>
          <p:cNvPicPr>
            <a:picLocks noChangeAspect="1"/>
          </p:cNvPicPr>
          <p:nvPr/>
        </p:nvPicPr>
        <p:blipFill>
          <a:blip r:embed="rId1"/>
          <a:stretch>
            <a:fillRect/>
          </a:stretch>
        </p:blipFill>
        <p:spPr>
          <a:xfrm>
            <a:off x="1024128" y="2423160"/>
            <a:ext cx="274320" cy="274320"/>
          </a:xfrm>
          <a:prstGeom prst="rect">
            <a:avLst/>
          </a:prstGeom>
        </p:spPr>
      </p:pic>
      <p:sp>
        <p:nvSpPr>
          <p:cNvPr id="10" name="Text 7"/>
          <p:cNvSpPr/>
          <p:nvPr/>
        </p:nvSpPr>
        <p:spPr>
          <a:xfrm>
            <a:off x="877824" y="2916936"/>
            <a:ext cx="2194560" cy="292608"/>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Content safety</a:t>
            </a:r>
            <a:endParaRPr lang="en-US" sz="1350" dirty="0"/>
          </a:p>
        </p:txBody>
      </p:sp>
      <p:sp>
        <p:nvSpPr>
          <p:cNvPr id="11" name="Text 8"/>
          <p:cNvSpPr/>
          <p:nvPr/>
        </p:nvSpPr>
        <p:spPr>
          <a:xfrm>
            <a:off x="877824" y="3191256"/>
            <a:ext cx="2194560" cy="256032"/>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Screen prompts centrally before they reach a model — no per-app integration.</a:t>
            </a:r>
            <a:endParaRPr lang="en-US" sz="950" dirty="0"/>
          </a:p>
        </p:txBody>
      </p:sp>
      <p:sp>
        <p:nvSpPr>
          <p:cNvPr id="12" name="Shape 9"/>
          <p:cNvSpPr/>
          <p:nvPr/>
        </p:nvSpPr>
        <p:spPr>
          <a:xfrm>
            <a:off x="3456432" y="2057400"/>
            <a:ext cx="2615184" cy="14173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3" name="Shape 10"/>
          <p:cNvSpPr/>
          <p:nvPr/>
        </p:nvSpPr>
        <p:spPr>
          <a:xfrm>
            <a:off x="3456432" y="2057400"/>
            <a:ext cx="64008" cy="1417320"/>
          </a:xfrm>
          <a:prstGeom prst="rect">
            <a:avLst/>
          </a:prstGeom>
          <a:solidFill>
            <a:srgbClr val="4F86F7"/>
          </a:solidFill>
          <a:ln/>
        </p:spPr>
      </p:sp>
      <p:sp>
        <p:nvSpPr>
          <p:cNvPr id="14" name="Shape 11"/>
          <p:cNvSpPr/>
          <p:nvPr/>
        </p:nvSpPr>
        <p:spPr>
          <a:xfrm>
            <a:off x="3675888" y="2276856"/>
            <a:ext cx="566928" cy="566928"/>
          </a:xfrm>
          <a:prstGeom prst="ellipse">
            <a:avLst/>
          </a:prstGeom>
          <a:solidFill>
            <a:srgbClr val="1E2761"/>
          </a:solidFill>
          <a:ln/>
        </p:spPr>
      </p:sp>
      <p:pic>
        <p:nvPicPr>
          <p:cNvPr id="15" name="Image 1" descr="preencoded.png">    </p:cNvPr>
          <p:cNvPicPr>
            <a:picLocks noChangeAspect="1"/>
          </p:cNvPicPr>
          <p:nvPr/>
        </p:nvPicPr>
        <p:blipFill>
          <a:blip r:embed="rId2"/>
          <a:stretch>
            <a:fillRect/>
          </a:stretch>
        </p:blipFill>
        <p:spPr>
          <a:xfrm>
            <a:off x="3822192" y="2423160"/>
            <a:ext cx="274320" cy="274320"/>
          </a:xfrm>
          <a:prstGeom prst="rect">
            <a:avLst/>
          </a:prstGeom>
        </p:spPr>
      </p:pic>
      <p:sp>
        <p:nvSpPr>
          <p:cNvPr id="16" name="Text 12"/>
          <p:cNvSpPr/>
          <p:nvPr/>
        </p:nvSpPr>
        <p:spPr>
          <a:xfrm>
            <a:off x="3675888" y="2916936"/>
            <a:ext cx="2194560" cy="292608"/>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Throttling</a:t>
            </a:r>
            <a:endParaRPr lang="en-US" sz="1350" dirty="0"/>
          </a:p>
        </p:txBody>
      </p:sp>
      <p:sp>
        <p:nvSpPr>
          <p:cNvPr id="17" name="Text 13"/>
          <p:cNvSpPr/>
          <p:nvPr/>
        </p:nvSpPr>
        <p:spPr>
          <a:xfrm>
            <a:off x="3675888" y="3191256"/>
            <a:ext cx="2194560" cy="256032"/>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Smooth bursts and protect backends with rate controls on the gateway.</a:t>
            </a:r>
            <a:endParaRPr lang="en-US" sz="950" dirty="0"/>
          </a:p>
        </p:txBody>
      </p:sp>
      <p:sp>
        <p:nvSpPr>
          <p:cNvPr id="18" name="Shape 14"/>
          <p:cNvSpPr/>
          <p:nvPr/>
        </p:nvSpPr>
        <p:spPr>
          <a:xfrm>
            <a:off x="6254496" y="2057400"/>
            <a:ext cx="2615184" cy="141732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9" name="Shape 15"/>
          <p:cNvSpPr/>
          <p:nvPr/>
        </p:nvSpPr>
        <p:spPr>
          <a:xfrm>
            <a:off x="6254496" y="2057400"/>
            <a:ext cx="64008" cy="1417320"/>
          </a:xfrm>
          <a:prstGeom prst="rect">
            <a:avLst/>
          </a:prstGeom>
          <a:solidFill>
            <a:srgbClr val="4F86F7"/>
          </a:solidFill>
          <a:ln/>
        </p:spPr>
      </p:sp>
      <p:sp>
        <p:nvSpPr>
          <p:cNvPr id="20" name="Shape 16"/>
          <p:cNvSpPr/>
          <p:nvPr/>
        </p:nvSpPr>
        <p:spPr>
          <a:xfrm>
            <a:off x="6473952" y="2276856"/>
            <a:ext cx="566928" cy="566928"/>
          </a:xfrm>
          <a:prstGeom prst="ellipse">
            <a:avLst/>
          </a:prstGeom>
          <a:solidFill>
            <a:srgbClr val="1E2761"/>
          </a:solidFill>
          <a:ln/>
        </p:spPr>
      </p:sp>
      <p:pic>
        <p:nvPicPr>
          <p:cNvPr id="21" name="Image 2" descr="preencoded.png">    </p:cNvPr>
          <p:cNvPicPr>
            <a:picLocks noChangeAspect="1"/>
          </p:cNvPicPr>
          <p:nvPr/>
        </p:nvPicPr>
        <p:blipFill>
          <a:blip r:embed="rId3"/>
          <a:stretch>
            <a:fillRect/>
          </a:stretch>
        </p:blipFill>
        <p:spPr>
          <a:xfrm>
            <a:off x="6620256" y="2423160"/>
            <a:ext cx="274320" cy="274320"/>
          </a:xfrm>
          <a:prstGeom prst="rect">
            <a:avLst/>
          </a:prstGeom>
        </p:spPr>
      </p:pic>
      <p:sp>
        <p:nvSpPr>
          <p:cNvPr id="22" name="Text 17"/>
          <p:cNvSpPr/>
          <p:nvPr/>
        </p:nvSpPr>
        <p:spPr>
          <a:xfrm>
            <a:off x="6473952" y="2916936"/>
            <a:ext cx="2194560" cy="292608"/>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Keyless auth</a:t>
            </a:r>
            <a:endParaRPr lang="en-US" sz="1350" dirty="0"/>
          </a:p>
        </p:txBody>
      </p:sp>
      <p:sp>
        <p:nvSpPr>
          <p:cNvPr id="23" name="Text 18"/>
          <p:cNvSpPr/>
          <p:nvPr/>
        </p:nvSpPr>
        <p:spPr>
          <a:xfrm>
            <a:off x="6473952" y="3191256"/>
            <a:ext cx="2194560" cy="256032"/>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Managed identity to Azure AI services — no API keys copied into apps.</a:t>
            </a:r>
            <a:endParaRPr lang="en-US" sz="950" dirty="0"/>
          </a:p>
        </p:txBody>
      </p:sp>
      <p:sp>
        <p:nvSpPr>
          <p:cNvPr id="24" name="Shape 19"/>
          <p:cNvSpPr/>
          <p:nvPr/>
        </p:nvSpPr>
        <p:spPr>
          <a:xfrm>
            <a:off x="658368" y="3749040"/>
            <a:ext cx="7827264" cy="841248"/>
          </a:xfrm>
          <a:prstGeom prst="rect">
            <a:avLst/>
          </a:prstGeom>
          <a:solidFill>
            <a:srgbClr val="1E2761"/>
          </a:solidFill>
          <a:ln/>
        </p:spPr>
      </p:sp>
      <p:pic>
        <p:nvPicPr>
          <p:cNvPr id="25" name="Image 3" descr="preencoded.png">    </p:cNvPr>
          <p:cNvPicPr>
            <a:picLocks noChangeAspect="1"/>
          </p:cNvPicPr>
          <p:nvPr/>
        </p:nvPicPr>
        <p:blipFill>
          <a:blip r:embed="rId4"/>
          <a:stretch>
            <a:fillRect/>
          </a:stretch>
        </p:blipFill>
        <p:spPr>
          <a:xfrm>
            <a:off x="896112" y="3986784"/>
            <a:ext cx="365760" cy="365760"/>
          </a:xfrm>
          <a:prstGeom prst="rect">
            <a:avLst/>
          </a:prstGeom>
        </p:spPr>
      </p:pic>
      <p:sp>
        <p:nvSpPr>
          <p:cNvPr id="26" name="Text 20"/>
          <p:cNvSpPr/>
          <p:nvPr/>
        </p:nvSpPr>
        <p:spPr>
          <a:xfrm>
            <a:off x="1417320" y="3749040"/>
            <a:ext cx="6903720" cy="8412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Need custom policy? </a:t>
            </a:r>
            <a:pPr indent="0" marL="0">
              <a:buNone/>
            </a:pPr>
            <a:r>
              <a:rPr lang="en-US" sz="1200" dirty="0">
                <a:solidFill>
                  <a:srgbClr val="CADCFC"/>
                </a:solidFill>
                <a:latin typeface="Calibri" pitchFamily="34" charset="0"/>
                <a:ea typeface="Calibri" pitchFamily="34" charset="-122"/>
                <a:cs typeface="Calibri" pitchFamily="34" charset="-120"/>
              </a:rPr>
              <a:t>Open the connected API Management instance in the Azure portal for the full policy toolkit while staying in sync with Foundry.</a:t>
            </a:r>
            <a:endParaRPr lang="en-US" sz="1200" dirty="0"/>
          </a:p>
        </p:txBody>
      </p:sp>
      <p:sp>
        <p:nvSpPr>
          <p:cNvPr id="27" name="Text 21"/>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28" name="Text 22"/>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Advanced scenarios</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FULL API MANAGEMENT WHEN YOU NEED IT</a:t>
            </a:r>
            <a:endParaRPr lang="en-US" sz="1150" dirty="0"/>
          </a:p>
        </p:txBody>
      </p:sp>
      <p:sp>
        <p:nvSpPr>
          <p:cNvPr id="5" name="Text 3"/>
          <p:cNvSpPr/>
          <p:nvPr/>
        </p:nvSpPr>
        <p:spPr>
          <a:xfrm>
            <a:off x="658368" y="1234440"/>
            <a:ext cx="7772400" cy="640080"/>
          </a:xfrm>
          <a:prstGeom prst="rect">
            <a:avLst/>
          </a:prstGeom>
          <a:noFill/>
          <a:ln/>
        </p:spPr>
        <p:txBody>
          <a:bodyPr wrap="square" lIns="0" tIns="0" rIns="0" bIns="0" rtlCol="0" anchor="ctr"/>
          <a:lstStyle/>
          <a:p>
            <a:pPr indent="0" marL="0">
              <a:buNone/>
            </a:pPr>
            <a:r>
              <a:rPr lang="en-US" sz="1250" dirty="0">
                <a:solidFill>
                  <a:srgbClr val="1B2447"/>
                </a:solidFill>
                <a:latin typeface="Calibri" pitchFamily="34" charset="0"/>
                <a:ea typeface="Calibri" pitchFamily="34" charset="-122"/>
                <a:cs typeface="Calibri" pitchFamily="34" charset="-120"/>
              </a:rPr>
              <a:t>The Foundry experience covers the common cases. For deeper needs, drop into the connected API Management instance — your Foundry-managed resources stay consistent.</a:t>
            </a:r>
            <a:endParaRPr lang="en-US" sz="1250" dirty="0"/>
          </a:p>
        </p:txBody>
      </p:sp>
      <p:sp>
        <p:nvSpPr>
          <p:cNvPr id="6" name="Shape 4"/>
          <p:cNvSpPr/>
          <p:nvPr/>
        </p:nvSpPr>
        <p:spPr>
          <a:xfrm>
            <a:off x="658368" y="2011680"/>
            <a:ext cx="3822192"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658368" y="2011680"/>
            <a:ext cx="64008" cy="1280160"/>
          </a:xfrm>
          <a:prstGeom prst="rect">
            <a:avLst/>
          </a:prstGeom>
          <a:solidFill>
            <a:srgbClr val="4F86F7"/>
          </a:solidFill>
          <a:ln/>
        </p:spPr>
      </p:sp>
      <p:sp>
        <p:nvSpPr>
          <p:cNvPr id="8" name="Shape 6"/>
          <p:cNvSpPr/>
          <p:nvPr/>
        </p:nvSpPr>
        <p:spPr>
          <a:xfrm>
            <a:off x="877824" y="2231136"/>
            <a:ext cx="548640" cy="548640"/>
          </a:xfrm>
          <a:prstGeom prst="ellipse">
            <a:avLst/>
          </a:prstGeom>
          <a:solidFill>
            <a:srgbClr val="1E2761"/>
          </a:solidFill>
          <a:ln/>
        </p:spPr>
      </p:sp>
      <p:pic>
        <p:nvPicPr>
          <p:cNvPr id="9" name="Image 0" descr="preencoded.png">    </p:cNvPr>
          <p:cNvPicPr>
            <a:picLocks noChangeAspect="1"/>
          </p:cNvPicPr>
          <p:nvPr/>
        </p:nvPicPr>
        <p:blipFill>
          <a:blip r:embed="rId1"/>
          <a:stretch>
            <a:fillRect/>
          </a:stretch>
        </p:blipFill>
        <p:spPr>
          <a:xfrm>
            <a:off x="1014984" y="2368296"/>
            <a:ext cx="274320" cy="274320"/>
          </a:xfrm>
          <a:prstGeom prst="rect">
            <a:avLst/>
          </a:prstGeom>
        </p:spPr>
      </p:pic>
      <p:sp>
        <p:nvSpPr>
          <p:cNvPr id="10" name="Text 7"/>
          <p:cNvSpPr/>
          <p:nvPr/>
        </p:nvSpPr>
        <p:spPr>
          <a:xfrm>
            <a:off x="1591056" y="2212848"/>
            <a:ext cx="2724912" cy="310896"/>
          </a:xfrm>
          <a:prstGeom prst="rect">
            <a:avLst/>
          </a:prstGeom>
          <a:noFill/>
          <a:ln/>
        </p:spPr>
        <p:txBody>
          <a:bodyPr wrap="square" lIns="0" tIns="0" rIns="0" bIns="0" rtlCol="0" anchor="ctr"/>
          <a:lstStyle/>
          <a:p>
            <a:pPr indent="0" marL="0">
              <a:buNone/>
            </a:pPr>
            <a:r>
              <a:rPr lang="en-US" sz="1450" b="1" dirty="0">
                <a:solidFill>
                  <a:srgbClr val="1E2761"/>
                </a:solidFill>
                <a:latin typeface="Georgia" pitchFamily="34" charset="0"/>
                <a:ea typeface="Georgia" pitchFamily="34" charset="-122"/>
                <a:cs typeface="Georgia" pitchFamily="34" charset="-120"/>
              </a:rPr>
              <a:t>Custom policies</a:t>
            </a:r>
            <a:endParaRPr lang="en-US" sz="1450" dirty="0"/>
          </a:p>
        </p:txBody>
      </p:sp>
      <p:sp>
        <p:nvSpPr>
          <p:cNvPr id="11" name="Text 8"/>
          <p:cNvSpPr/>
          <p:nvPr/>
        </p:nvSpPr>
        <p:spPr>
          <a:xfrm>
            <a:off x="1591056" y="2560320"/>
            <a:ext cx="2688336" cy="603504"/>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Author and version policy XML with the API Management policy toolkit.</a:t>
            </a:r>
            <a:endParaRPr lang="en-US" sz="1000" dirty="0"/>
          </a:p>
        </p:txBody>
      </p:sp>
      <p:sp>
        <p:nvSpPr>
          <p:cNvPr id="12" name="Shape 9"/>
          <p:cNvSpPr/>
          <p:nvPr/>
        </p:nvSpPr>
        <p:spPr>
          <a:xfrm>
            <a:off x="4663440" y="2011680"/>
            <a:ext cx="3822192"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3" name="Shape 10"/>
          <p:cNvSpPr/>
          <p:nvPr/>
        </p:nvSpPr>
        <p:spPr>
          <a:xfrm>
            <a:off x="4663440" y="2011680"/>
            <a:ext cx="64008" cy="1280160"/>
          </a:xfrm>
          <a:prstGeom prst="rect">
            <a:avLst/>
          </a:prstGeom>
          <a:solidFill>
            <a:srgbClr val="4F86F7"/>
          </a:solidFill>
          <a:ln/>
        </p:spPr>
      </p:sp>
      <p:sp>
        <p:nvSpPr>
          <p:cNvPr id="14" name="Shape 11"/>
          <p:cNvSpPr/>
          <p:nvPr/>
        </p:nvSpPr>
        <p:spPr>
          <a:xfrm>
            <a:off x="4882896" y="2231136"/>
            <a:ext cx="548640" cy="548640"/>
          </a:xfrm>
          <a:prstGeom prst="ellipse">
            <a:avLst/>
          </a:prstGeom>
          <a:solidFill>
            <a:srgbClr val="1E2761"/>
          </a:solidFill>
          <a:ln/>
        </p:spPr>
      </p:sp>
      <p:pic>
        <p:nvPicPr>
          <p:cNvPr id="15" name="Image 1" descr="preencoded.png">    </p:cNvPr>
          <p:cNvPicPr>
            <a:picLocks noChangeAspect="1"/>
          </p:cNvPicPr>
          <p:nvPr/>
        </p:nvPicPr>
        <p:blipFill>
          <a:blip r:embed="rId2"/>
          <a:stretch>
            <a:fillRect/>
          </a:stretch>
        </p:blipFill>
        <p:spPr>
          <a:xfrm>
            <a:off x="5020056" y="2368296"/>
            <a:ext cx="274320" cy="274320"/>
          </a:xfrm>
          <a:prstGeom prst="rect">
            <a:avLst/>
          </a:prstGeom>
        </p:spPr>
      </p:pic>
      <p:sp>
        <p:nvSpPr>
          <p:cNvPr id="16" name="Text 12"/>
          <p:cNvSpPr/>
          <p:nvPr/>
        </p:nvSpPr>
        <p:spPr>
          <a:xfrm>
            <a:off x="5596128" y="2212848"/>
            <a:ext cx="2724912" cy="310896"/>
          </a:xfrm>
          <a:prstGeom prst="rect">
            <a:avLst/>
          </a:prstGeom>
          <a:noFill/>
          <a:ln/>
        </p:spPr>
        <p:txBody>
          <a:bodyPr wrap="square" lIns="0" tIns="0" rIns="0" bIns="0" rtlCol="0" anchor="ctr"/>
          <a:lstStyle/>
          <a:p>
            <a:pPr indent="0" marL="0">
              <a:buNone/>
            </a:pPr>
            <a:r>
              <a:rPr lang="en-US" sz="1450" b="1" dirty="0">
                <a:solidFill>
                  <a:srgbClr val="1E2761"/>
                </a:solidFill>
                <a:latin typeface="Georgia" pitchFamily="34" charset="0"/>
                <a:ea typeface="Georgia" pitchFamily="34" charset="-122"/>
                <a:cs typeface="Georgia" pitchFamily="34" charset="-120"/>
              </a:rPr>
              <a:t>Enterprise networking</a:t>
            </a:r>
            <a:endParaRPr lang="en-US" sz="1450" dirty="0"/>
          </a:p>
        </p:txBody>
      </p:sp>
      <p:sp>
        <p:nvSpPr>
          <p:cNvPr id="17" name="Text 13"/>
          <p:cNvSpPr/>
          <p:nvPr/>
        </p:nvSpPr>
        <p:spPr>
          <a:xfrm>
            <a:off x="5596128" y="2560320"/>
            <a:ext cx="2688336" cy="603504"/>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Private endpoints and VNet injection for private Foundry resources.</a:t>
            </a:r>
            <a:endParaRPr lang="en-US" sz="1000" dirty="0"/>
          </a:p>
        </p:txBody>
      </p:sp>
      <p:sp>
        <p:nvSpPr>
          <p:cNvPr id="18" name="Shape 14"/>
          <p:cNvSpPr/>
          <p:nvPr/>
        </p:nvSpPr>
        <p:spPr>
          <a:xfrm>
            <a:off x="658368" y="3474720"/>
            <a:ext cx="3822192"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9" name="Shape 15"/>
          <p:cNvSpPr/>
          <p:nvPr/>
        </p:nvSpPr>
        <p:spPr>
          <a:xfrm>
            <a:off x="658368" y="3474720"/>
            <a:ext cx="64008" cy="1280160"/>
          </a:xfrm>
          <a:prstGeom prst="rect">
            <a:avLst/>
          </a:prstGeom>
          <a:solidFill>
            <a:srgbClr val="4F86F7"/>
          </a:solidFill>
          <a:ln/>
        </p:spPr>
      </p:sp>
      <p:sp>
        <p:nvSpPr>
          <p:cNvPr id="20" name="Shape 16"/>
          <p:cNvSpPr/>
          <p:nvPr/>
        </p:nvSpPr>
        <p:spPr>
          <a:xfrm>
            <a:off x="877824" y="3694176"/>
            <a:ext cx="548640" cy="548640"/>
          </a:xfrm>
          <a:prstGeom prst="ellipse">
            <a:avLst/>
          </a:prstGeom>
          <a:solidFill>
            <a:srgbClr val="1E2761"/>
          </a:solidFill>
          <a:ln/>
        </p:spPr>
      </p:sp>
      <p:pic>
        <p:nvPicPr>
          <p:cNvPr id="21" name="Image 2" descr="preencoded.png">    </p:cNvPr>
          <p:cNvPicPr>
            <a:picLocks noChangeAspect="1"/>
          </p:cNvPicPr>
          <p:nvPr/>
        </p:nvPicPr>
        <p:blipFill>
          <a:blip r:embed="rId3"/>
          <a:stretch>
            <a:fillRect/>
          </a:stretch>
        </p:blipFill>
        <p:spPr>
          <a:xfrm>
            <a:off x="1014984" y="3831336"/>
            <a:ext cx="274320" cy="274320"/>
          </a:xfrm>
          <a:prstGeom prst="rect">
            <a:avLst/>
          </a:prstGeom>
        </p:spPr>
      </p:pic>
      <p:sp>
        <p:nvSpPr>
          <p:cNvPr id="22" name="Text 17"/>
          <p:cNvSpPr/>
          <p:nvPr/>
        </p:nvSpPr>
        <p:spPr>
          <a:xfrm>
            <a:off x="1591056" y="3675888"/>
            <a:ext cx="2724912" cy="310896"/>
          </a:xfrm>
          <a:prstGeom prst="rect">
            <a:avLst/>
          </a:prstGeom>
          <a:noFill/>
          <a:ln/>
        </p:spPr>
        <p:txBody>
          <a:bodyPr wrap="square" lIns="0" tIns="0" rIns="0" bIns="0" rtlCol="0" anchor="ctr"/>
          <a:lstStyle/>
          <a:p>
            <a:pPr indent="0" marL="0">
              <a:buNone/>
            </a:pPr>
            <a:r>
              <a:rPr lang="en-US" sz="1450" b="1" dirty="0">
                <a:solidFill>
                  <a:srgbClr val="1E2761"/>
                </a:solidFill>
                <a:latin typeface="Georgia" pitchFamily="34" charset="0"/>
                <a:ea typeface="Georgia" pitchFamily="34" charset="-122"/>
                <a:cs typeface="Georgia" pitchFamily="34" charset="-120"/>
              </a:rPr>
              <a:t>Federated gateways</a:t>
            </a:r>
            <a:endParaRPr lang="en-US" sz="1450" dirty="0"/>
          </a:p>
        </p:txBody>
      </p:sp>
      <p:sp>
        <p:nvSpPr>
          <p:cNvPr id="23" name="Text 18"/>
          <p:cNvSpPr/>
          <p:nvPr/>
        </p:nvSpPr>
        <p:spPr>
          <a:xfrm>
            <a:off x="1591056" y="4023360"/>
            <a:ext cx="2688336" cy="603504"/>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Separate gateways per resource for strict isolation or regional needs.</a:t>
            </a:r>
            <a:endParaRPr lang="en-US" sz="1000" dirty="0"/>
          </a:p>
        </p:txBody>
      </p:sp>
      <p:sp>
        <p:nvSpPr>
          <p:cNvPr id="24" name="Shape 19"/>
          <p:cNvSpPr/>
          <p:nvPr/>
        </p:nvSpPr>
        <p:spPr>
          <a:xfrm>
            <a:off x="4663440" y="3474720"/>
            <a:ext cx="3822192"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25" name="Shape 20"/>
          <p:cNvSpPr/>
          <p:nvPr/>
        </p:nvSpPr>
        <p:spPr>
          <a:xfrm>
            <a:off x="4663440" y="3474720"/>
            <a:ext cx="64008" cy="1280160"/>
          </a:xfrm>
          <a:prstGeom prst="rect">
            <a:avLst/>
          </a:prstGeom>
          <a:solidFill>
            <a:srgbClr val="4F86F7"/>
          </a:solidFill>
          <a:ln/>
        </p:spPr>
      </p:sp>
      <p:sp>
        <p:nvSpPr>
          <p:cNvPr id="26" name="Shape 21"/>
          <p:cNvSpPr/>
          <p:nvPr/>
        </p:nvSpPr>
        <p:spPr>
          <a:xfrm>
            <a:off x="4882896" y="3694176"/>
            <a:ext cx="548640" cy="548640"/>
          </a:xfrm>
          <a:prstGeom prst="ellipse">
            <a:avLst/>
          </a:prstGeom>
          <a:solidFill>
            <a:srgbClr val="1E2761"/>
          </a:solidFill>
          <a:ln/>
        </p:spPr>
      </p:sp>
      <p:pic>
        <p:nvPicPr>
          <p:cNvPr id="27" name="Image 3" descr="preencoded.png">    </p:cNvPr>
          <p:cNvPicPr>
            <a:picLocks noChangeAspect="1"/>
          </p:cNvPicPr>
          <p:nvPr/>
        </p:nvPicPr>
        <p:blipFill>
          <a:blip r:embed="rId4"/>
          <a:stretch>
            <a:fillRect/>
          </a:stretch>
        </p:blipFill>
        <p:spPr>
          <a:xfrm>
            <a:off x="5020056" y="3831336"/>
            <a:ext cx="274320" cy="274320"/>
          </a:xfrm>
          <a:prstGeom prst="rect">
            <a:avLst/>
          </a:prstGeom>
        </p:spPr>
      </p:pic>
      <p:sp>
        <p:nvSpPr>
          <p:cNvPr id="28" name="Text 22"/>
          <p:cNvSpPr/>
          <p:nvPr/>
        </p:nvSpPr>
        <p:spPr>
          <a:xfrm>
            <a:off x="5596128" y="3675888"/>
            <a:ext cx="2724912" cy="310896"/>
          </a:xfrm>
          <a:prstGeom prst="rect">
            <a:avLst/>
          </a:prstGeom>
          <a:noFill/>
          <a:ln/>
        </p:spPr>
        <p:txBody>
          <a:bodyPr wrap="square" lIns="0" tIns="0" rIns="0" bIns="0" rtlCol="0" anchor="ctr"/>
          <a:lstStyle/>
          <a:p>
            <a:pPr indent="0" marL="0">
              <a:buNone/>
            </a:pPr>
            <a:r>
              <a:rPr lang="en-US" sz="1450" b="1" dirty="0">
                <a:solidFill>
                  <a:srgbClr val="1E2761"/>
                </a:solidFill>
                <a:latin typeface="Georgia" pitchFamily="34" charset="0"/>
                <a:ea typeface="Georgia" pitchFamily="34" charset="-122"/>
                <a:cs typeface="Georgia" pitchFamily="34" charset="-120"/>
              </a:rPr>
              <a:t>Resiliency</a:t>
            </a:r>
            <a:endParaRPr lang="en-US" sz="1450" dirty="0"/>
          </a:p>
        </p:txBody>
      </p:sp>
      <p:sp>
        <p:nvSpPr>
          <p:cNvPr id="29" name="Text 23"/>
          <p:cNvSpPr/>
          <p:nvPr/>
        </p:nvSpPr>
        <p:spPr>
          <a:xfrm>
            <a:off x="5596128" y="4023360"/>
            <a:ext cx="2688336" cy="603504"/>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Load-balanced backend pools, priorities and circuit breakers.</a:t>
            </a:r>
            <a:endParaRPr lang="en-US" sz="1000" dirty="0"/>
          </a:p>
        </p:txBody>
      </p:sp>
      <p:sp>
        <p:nvSpPr>
          <p:cNvPr id="30" name="Text 24"/>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31" name="Text 25"/>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Capabilities at a glance</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WHAT THE FOUNDRY AI GATEWAY GIVES YOU</a:t>
            </a:r>
            <a:endParaRPr lang="en-US" sz="1150" dirty="0"/>
          </a:p>
        </p:txBody>
      </p:sp>
      <p:sp>
        <p:nvSpPr>
          <p:cNvPr id="5" name="Shape 3"/>
          <p:cNvSpPr/>
          <p:nvPr/>
        </p:nvSpPr>
        <p:spPr>
          <a:xfrm>
            <a:off x="658368" y="1371600"/>
            <a:ext cx="1883664"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6" name="Shape 4"/>
          <p:cNvSpPr/>
          <p:nvPr/>
        </p:nvSpPr>
        <p:spPr>
          <a:xfrm>
            <a:off x="658368" y="1371600"/>
            <a:ext cx="64008" cy="1280160"/>
          </a:xfrm>
          <a:prstGeom prst="rect">
            <a:avLst/>
          </a:prstGeom>
          <a:solidFill>
            <a:srgbClr val="4F86F7"/>
          </a:solidFill>
          <a:ln/>
        </p:spPr>
      </p:sp>
      <p:sp>
        <p:nvSpPr>
          <p:cNvPr id="7" name="Shape 5"/>
          <p:cNvSpPr/>
          <p:nvPr/>
        </p:nvSpPr>
        <p:spPr>
          <a:xfrm>
            <a:off x="1316736" y="1536192"/>
            <a:ext cx="566928" cy="566928"/>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1453896" y="1673352"/>
            <a:ext cx="292608" cy="292608"/>
          </a:xfrm>
          <a:prstGeom prst="rect">
            <a:avLst/>
          </a:prstGeom>
        </p:spPr>
      </p:pic>
      <p:sp>
        <p:nvSpPr>
          <p:cNvPr id="9" name="Text 6"/>
          <p:cNvSpPr/>
          <p:nvPr/>
        </p:nvSpPr>
        <p:spPr>
          <a:xfrm>
            <a:off x="731520" y="2157984"/>
            <a:ext cx="1737360"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Keyless auth</a:t>
            </a:r>
            <a:endParaRPr lang="en-US" sz="1200" dirty="0"/>
          </a:p>
        </p:txBody>
      </p:sp>
      <p:sp>
        <p:nvSpPr>
          <p:cNvPr id="10" name="Text 7"/>
          <p:cNvSpPr/>
          <p:nvPr/>
        </p:nvSpPr>
        <p:spPr>
          <a:xfrm>
            <a:off x="731520" y="2386584"/>
            <a:ext cx="1737360" cy="237744"/>
          </a:xfrm>
          <a:prstGeom prst="rect">
            <a:avLst/>
          </a:prstGeom>
          <a:noFill/>
          <a:ln/>
        </p:spPr>
        <p:txBody>
          <a:bodyPr wrap="square" lIns="0" tIns="0" rIns="0" bIns="0" rtlCol="0" anchor="ctr"/>
          <a:lstStyle/>
          <a:p>
            <a:pPr algn="ctr" indent="0" marL="0">
              <a:buNone/>
            </a:pPr>
            <a:r>
              <a:rPr lang="en-US" sz="880" dirty="0">
                <a:solidFill>
                  <a:srgbClr val="5A6781"/>
                </a:solidFill>
                <a:latin typeface="Calibri" pitchFamily="34" charset="0"/>
                <a:ea typeface="Calibri" pitchFamily="34" charset="-122"/>
                <a:cs typeface="Calibri" pitchFamily="34" charset="-120"/>
              </a:rPr>
              <a:t>Managed identity to services</a:t>
            </a:r>
            <a:endParaRPr lang="en-US" sz="880" dirty="0"/>
          </a:p>
        </p:txBody>
      </p:sp>
      <p:sp>
        <p:nvSpPr>
          <p:cNvPr id="11" name="Shape 8"/>
          <p:cNvSpPr/>
          <p:nvPr/>
        </p:nvSpPr>
        <p:spPr>
          <a:xfrm>
            <a:off x="2688336" y="1371600"/>
            <a:ext cx="1883664"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2" name="Shape 9"/>
          <p:cNvSpPr/>
          <p:nvPr/>
        </p:nvSpPr>
        <p:spPr>
          <a:xfrm>
            <a:off x="2688336" y="1371600"/>
            <a:ext cx="64008" cy="1280160"/>
          </a:xfrm>
          <a:prstGeom prst="rect">
            <a:avLst/>
          </a:prstGeom>
          <a:solidFill>
            <a:srgbClr val="4F86F7"/>
          </a:solidFill>
          <a:ln/>
        </p:spPr>
      </p:sp>
      <p:sp>
        <p:nvSpPr>
          <p:cNvPr id="13" name="Shape 10"/>
          <p:cNvSpPr/>
          <p:nvPr/>
        </p:nvSpPr>
        <p:spPr>
          <a:xfrm>
            <a:off x="3346704" y="1536192"/>
            <a:ext cx="566928" cy="566928"/>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3483864" y="1673352"/>
            <a:ext cx="292608" cy="292608"/>
          </a:xfrm>
          <a:prstGeom prst="rect">
            <a:avLst/>
          </a:prstGeom>
        </p:spPr>
      </p:pic>
      <p:sp>
        <p:nvSpPr>
          <p:cNvPr id="15" name="Text 11"/>
          <p:cNvSpPr/>
          <p:nvPr/>
        </p:nvSpPr>
        <p:spPr>
          <a:xfrm>
            <a:off x="2761488" y="2157984"/>
            <a:ext cx="1737360"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Token limits</a:t>
            </a:r>
            <a:endParaRPr lang="en-US" sz="1200" dirty="0"/>
          </a:p>
        </p:txBody>
      </p:sp>
      <p:sp>
        <p:nvSpPr>
          <p:cNvPr id="16" name="Text 12"/>
          <p:cNvSpPr/>
          <p:nvPr/>
        </p:nvSpPr>
        <p:spPr>
          <a:xfrm>
            <a:off x="2761488" y="2386584"/>
            <a:ext cx="1737360" cy="237744"/>
          </a:xfrm>
          <a:prstGeom prst="rect">
            <a:avLst/>
          </a:prstGeom>
          <a:noFill/>
          <a:ln/>
        </p:spPr>
        <p:txBody>
          <a:bodyPr wrap="square" lIns="0" tIns="0" rIns="0" bIns="0" rtlCol="0" anchor="ctr"/>
          <a:lstStyle/>
          <a:p>
            <a:pPr algn="ctr" indent="0" marL="0">
              <a:buNone/>
            </a:pPr>
            <a:r>
              <a:rPr lang="en-US" sz="880" dirty="0">
                <a:solidFill>
                  <a:srgbClr val="5A6781"/>
                </a:solidFill>
                <a:latin typeface="Calibri" pitchFamily="34" charset="0"/>
                <a:ea typeface="Calibri" pitchFamily="34" charset="-122"/>
                <a:cs typeface="Calibri" pitchFamily="34" charset="-120"/>
              </a:rPr>
              <a:t>Per-project TPM &amp; quota</a:t>
            </a:r>
            <a:endParaRPr lang="en-US" sz="880" dirty="0"/>
          </a:p>
        </p:txBody>
      </p:sp>
      <p:sp>
        <p:nvSpPr>
          <p:cNvPr id="17" name="Shape 13"/>
          <p:cNvSpPr/>
          <p:nvPr/>
        </p:nvSpPr>
        <p:spPr>
          <a:xfrm>
            <a:off x="4718304" y="1371600"/>
            <a:ext cx="1883664"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8" name="Shape 14"/>
          <p:cNvSpPr/>
          <p:nvPr/>
        </p:nvSpPr>
        <p:spPr>
          <a:xfrm>
            <a:off x="4718304" y="1371600"/>
            <a:ext cx="64008" cy="1280160"/>
          </a:xfrm>
          <a:prstGeom prst="rect">
            <a:avLst/>
          </a:prstGeom>
          <a:solidFill>
            <a:srgbClr val="4F86F7"/>
          </a:solidFill>
          <a:ln/>
        </p:spPr>
      </p:sp>
      <p:sp>
        <p:nvSpPr>
          <p:cNvPr id="19" name="Shape 15"/>
          <p:cNvSpPr/>
          <p:nvPr/>
        </p:nvSpPr>
        <p:spPr>
          <a:xfrm>
            <a:off x="5376672" y="1536192"/>
            <a:ext cx="566928" cy="566928"/>
          </a:xfrm>
          <a:prstGeom prst="ellipse">
            <a:avLst/>
          </a:prstGeom>
          <a:solidFill>
            <a:srgbClr val="1E2761"/>
          </a:solidFill>
          <a:ln/>
        </p:spPr>
      </p:sp>
      <p:pic>
        <p:nvPicPr>
          <p:cNvPr id="20" name="Image 2" descr="preencoded.png">    </p:cNvPr>
          <p:cNvPicPr>
            <a:picLocks noChangeAspect="1"/>
          </p:cNvPicPr>
          <p:nvPr/>
        </p:nvPicPr>
        <p:blipFill>
          <a:blip r:embed="rId3"/>
          <a:stretch>
            <a:fillRect/>
          </a:stretch>
        </p:blipFill>
        <p:spPr>
          <a:xfrm>
            <a:off x="5513832" y="1673352"/>
            <a:ext cx="292608" cy="292608"/>
          </a:xfrm>
          <a:prstGeom prst="rect">
            <a:avLst/>
          </a:prstGeom>
        </p:spPr>
      </p:pic>
      <p:sp>
        <p:nvSpPr>
          <p:cNvPr id="21" name="Text 16"/>
          <p:cNvSpPr/>
          <p:nvPr/>
        </p:nvSpPr>
        <p:spPr>
          <a:xfrm>
            <a:off x="4791456" y="2157984"/>
            <a:ext cx="1737360"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Content safety</a:t>
            </a:r>
            <a:endParaRPr lang="en-US" sz="1200" dirty="0"/>
          </a:p>
        </p:txBody>
      </p:sp>
      <p:sp>
        <p:nvSpPr>
          <p:cNvPr id="22" name="Text 17"/>
          <p:cNvSpPr/>
          <p:nvPr/>
        </p:nvSpPr>
        <p:spPr>
          <a:xfrm>
            <a:off x="4791456" y="2386584"/>
            <a:ext cx="1737360" cy="237744"/>
          </a:xfrm>
          <a:prstGeom prst="rect">
            <a:avLst/>
          </a:prstGeom>
          <a:noFill/>
          <a:ln/>
        </p:spPr>
        <p:txBody>
          <a:bodyPr wrap="square" lIns="0" tIns="0" rIns="0" bIns="0" rtlCol="0" anchor="ctr"/>
          <a:lstStyle/>
          <a:p>
            <a:pPr algn="ctr" indent="0" marL="0">
              <a:buNone/>
            </a:pPr>
            <a:r>
              <a:rPr lang="en-US" sz="880" dirty="0">
                <a:solidFill>
                  <a:srgbClr val="5A6781"/>
                </a:solidFill>
                <a:latin typeface="Calibri" pitchFamily="34" charset="0"/>
                <a:ea typeface="Calibri" pitchFamily="34" charset="-122"/>
                <a:cs typeface="Calibri" pitchFamily="34" charset="-120"/>
              </a:rPr>
              <a:t>Central prompt moderation</a:t>
            </a:r>
            <a:endParaRPr lang="en-US" sz="880" dirty="0"/>
          </a:p>
        </p:txBody>
      </p:sp>
      <p:sp>
        <p:nvSpPr>
          <p:cNvPr id="23" name="Shape 18"/>
          <p:cNvSpPr/>
          <p:nvPr/>
        </p:nvSpPr>
        <p:spPr>
          <a:xfrm>
            <a:off x="6748272" y="1371600"/>
            <a:ext cx="1883664"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24" name="Shape 19"/>
          <p:cNvSpPr/>
          <p:nvPr/>
        </p:nvSpPr>
        <p:spPr>
          <a:xfrm>
            <a:off x="6748272" y="1371600"/>
            <a:ext cx="64008" cy="1280160"/>
          </a:xfrm>
          <a:prstGeom prst="rect">
            <a:avLst/>
          </a:prstGeom>
          <a:solidFill>
            <a:srgbClr val="4F86F7"/>
          </a:solidFill>
          <a:ln/>
        </p:spPr>
      </p:sp>
      <p:sp>
        <p:nvSpPr>
          <p:cNvPr id="25" name="Shape 20"/>
          <p:cNvSpPr/>
          <p:nvPr/>
        </p:nvSpPr>
        <p:spPr>
          <a:xfrm>
            <a:off x="7406640" y="1536192"/>
            <a:ext cx="566928" cy="566928"/>
          </a:xfrm>
          <a:prstGeom prst="ellipse">
            <a:avLst/>
          </a:prstGeom>
          <a:solidFill>
            <a:srgbClr val="1E2761"/>
          </a:solidFill>
          <a:ln/>
        </p:spPr>
      </p:sp>
      <p:pic>
        <p:nvPicPr>
          <p:cNvPr id="26" name="Image 3" descr="preencoded.png">    </p:cNvPr>
          <p:cNvPicPr>
            <a:picLocks noChangeAspect="1"/>
          </p:cNvPicPr>
          <p:nvPr/>
        </p:nvPicPr>
        <p:blipFill>
          <a:blip r:embed="rId4"/>
          <a:stretch>
            <a:fillRect/>
          </a:stretch>
        </p:blipFill>
        <p:spPr>
          <a:xfrm>
            <a:off x="7543800" y="1673352"/>
            <a:ext cx="292608" cy="292608"/>
          </a:xfrm>
          <a:prstGeom prst="rect">
            <a:avLst/>
          </a:prstGeom>
        </p:spPr>
      </p:pic>
      <p:sp>
        <p:nvSpPr>
          <p:cNvPr id="27" name="Text 21"/>
          <p:cNvSpPr/>
          <p:nvPr/>
        </p:nvSpPr>
        <p:spPr>
          <a:xfrm>
            <a:off x="6821424" y="2157984"/>
            <a:ext cx="1737360"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Throttling</a:t>
            </a:r>
            <a:endParaRPr lang="en-US" sz="1200" dirty="0"/>
          </a:p>
        </p:txBody>
      </p:sp>
      <p:sp>
        <p:nvSpPr>
          <p:cNvPr id="28" name="Text 22"/>
          <p:cNvSpPr/>
          <p:nvPr/>
        </p:nvSpPr>
        <p:spPr>
          <a:xfrm>
            <a:off x="6821424" y="2386584"/>
            <a:ext cx="1737360" cy="237744"/>
          </a:xfrm>
          <a:prstGeom prst="rect">
            <a:avLst/>
          </a:prstGeom>
          <a:noFill/>
          <a:ln/>
        </p:spPr>
        <p:txBody>
          <a:bodyPr wrap="square" lIns="0" tIns="0" rIns="0" bIns="0" rtlCol="0" anchor="ctr"/>
          <a:lstStyle/>
          <a:p>
            <a:pPr algn="ctr" indent="0" marL="0">
              <a:buNone/>
            </a:pPr>
            <a:r>
              <a:rPr lang="en-US" sz="880" dirty="0">
                <a:solidFill>
                  <a:srgbClr val="5A6781"/>
                </a:solidFill>
                <a:latin typeface="Calibri" pitchFamily="34" charset="0"/>
                <a:ea typeface="Calibri" pitchFamily="34" charset="-122"/>
                <a:cs typeface="Calibri" pitchFamily="34" charset="-120"/>
              </a:rPr>
              <a:t>Protect shared capacity</a:t>
            </a:r>
            <a:endParaRPr lang="en-US" sz="880" dirty="0"/>
          </a:p>
        </p:txBody>
      </p:sp>
      <p:sp>
        <p:nvSpPr>
          <p:cNvPr id="29" name="Shape 23"/>
          <p:cNvSpPr/>
          <p:nvPr/>
        </p:nvSpPr>
        <p:spPr>
          <a:xfrm>
            <a:off x="658368" y="2816352"/>
            <a:ext cx="1883664"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30" name="Shape 24"/>
          <p:cNvSpPr/>
          <p:nvPr/>
        </p:nvSpPr>
        <p:spPr>
          <a:xfrm>
            <a:off x="658368" y="2816352"/>
            <a:ext cx="64008" cy="1280160"/>
          </a:xfrm>
          <a:prstGeom prst="rect">
            <a:avLst/>
          </a:prstGeom>
          <a:solidFill>
            <a:srgbClr val="4F86F7"/>
          </a:solidFill>
          <a:ln/>
        </p:spPr>
      </p:sp>
      <p:sp>
        <p:nvSpPr>
          <p:cNvPr id="31" name="Shape 25"/>
          <p:cNvSpPr/>
          <p:nvPr/>
        </p:nvSpPr>
        <p:spPr>
          <a:xfrm>
            <a:off x="1316736" y="2980944"/>
            <a:ext cx="566928" cy="566928"/>
          </a:xfrm>
          <a:prstGeom prst="ellipse">
            <a:avLst/>
          </a:prstGeom>
          <a:solidFill>
            <a:srgbClr val="1E2761"/>
          </a:solidFill>
          <a:ln/>
        </p:spPr>
      </p:sp>
      <p:pic>
        <p:nvPicPr>
          <p:cNvPr id="32" name="Image 4" descr="preencoded.png">    </p:cNvPr>
          <p:cNvPicPr>
            <a:picLocks noChangeAspect="1"/>
          </p:cNvPicPr>
          <p:nvPr/>
        </p:nvPicPr>
        <p:blipFill>
          <a:blip r:embed="rId5"/>
          <a:stretch>
            <a:fillRect/>
          </a:stretch>
        </p:blipFill>
        <p:spPr>
          <a:xfrm>
            <a:off x="1453896" y="3118104"/>
            <a:ext cx="292608" cy="292608"/>
          </a:xfrm>
          <a:prstGeom prst="rect">
            <a:avLst/>
          </a:prstGeom>
        </p:spPr>
      </p:pic>
      <p:sp>
        <p:nvSpPr>
          <p:cNvPr id="33" name="Text 26"/>
          <p:cNvSpPr/>
          <p:nvPr/>
        </p:nvSpPr>
        <p:spPr>
          <a:xfrm>
            <a:off x="731520" y="3602736"/>
            <a:ext cx="1737360"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Agent inventory</a:t>
            </a:r>
            <a:endParaRPr lang="en-US" sz="1200" dirty="0"/>
          </a:p>
        </p:txBody>
      </p:sp>
      <p:sp>
        <p:nvSpPr>
          <p:cNvPr id="34" name="Text 27"/>
          <p:cNvSpPr/>
          <p:nvPr/>
        </p:nvSpPr>
        <p:spPr>
          <a:xfrm>
            <a:off x="731520" y="3831336"/>
            <a:ext cx="1737360" cy="237744"/>
          </a:xfrm>
          <a:prstGeom prst="rect">
            <a:avLst/>
          </a:prstGeom>
          <a:noFill/>
          <a:ln/>
        </p:spPr>
        <p:txBody>
          <a:bodyPr wrap="square" lIns="0" tIns="0" rIns="0" bIns="0" rtlCol="0" anchor="ctr"/>
          <a:lstStyle/>
          <a:p>
            <a:pPr algn="ctr" indent="0" marL="0">
              <a:buNone/>
            </a:pPr>
            <a:r>
              <a:rPr lang="en-US" sz="880" dirty="0">
                <a:solidFill>
                  <a:srgbClr val="5A6781"/>
                </a:solidFill>
                <a:latin typeface="Calibri" pitchFamily="34" charset="0"/>
                <a:ea typeface="Calibri" pitchFamily="34" charset="-122"/>
                <a:cs typeface="Calibri" pitchFamily="34" charset="-120"/>
              </a:rPr>
              <a:t>Register agents anywhere</a:t>
            </a:r>
            <a:endParaRPr lang="en-US" sz="880" dirty="0"/>
          </a:p>
        </p:txBody>
      </p:sp>
      <p:sp>
        <p:nvSpPr>
          <p:cNvPr id="35" name="Shape 28"/>
          <p:cNvSpPr/>
          <p:nvPr/>
        </p:nvSpPr>
        <p:spPr>
          <a:xfrm>
            <a:off x="2688336" y="2816352"/>
            <a:ext cx="1883664"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36" name="Shape 29"/>
          <p:cNvSpPr/>
          <p:nvPr/>
        </p:nvSpPr>
        <p:spPr>
          <a:xfrm>
            <a:off x="2688336" y="2816352"/>
            <a:ext cx="64008" cy="1280160"/>
          </a:xfrm>
          <a:prstGeom prst="rect">
            <a:avLst/>
          </a:prstGeom>
          <a:solidFill>
            <a:srgbClr val="4F86F7"/>
          </a:solidFill>
          <a:ln/>
        </p:spPr>
      </p:sp>
      <p:sp>
        <p:nvSpPr>
          <p:cNvPr id="37" name="Shape 30"/>
          <p:cNvSpPr/>
          <p:nvPr/>
        </p:nvSpPr>
        <p:spPr>
          <a:xfrm>
            <a:off x="3346704" y="2980944"/>
            <a:ext cx="566928" cy="566928"/>
          </a:xfrm>
          <a:prstGeom prst="ellipse">
            <a:avLst/>
          </a:prstGeom>
          <a:solidFill>
            <a:srgbClr val="1E2761"/>
          </a:solidFill>
          <a:ln/>
        </p:spPr>
      </p:sp>
      <p:pic>
        <p:nvPicPr>
          <p:cNvPr id="38" name="Image 5" descr="preencoded.png">    </p:cNvPr>
          <p:cNvPicPr>
            <a:picLocks noChangeAspect="1"/>
          </p:cNvPicPr>
          <p:nvPr/>
        </p:nvPicPr>
        <p:blipFill>
          <a:blip r:embed="rId6"/>
          <a:stretch>
            <a:fillRect/>
          </a:stretch>
        </p:blipFill>
        <p:spPr>
          <a:xfrm>
            <a:off x="3483864" y="3118104"/>
            <a:ext cx="292608" cy="292608"/>
          </a:xfrm>
          <a:prstGeom prst="rect">
            <a:avLst/>
          </a:prstGeom>
        </p:spPr>
      </p:pic>
      <p:sp>
        <p:nvSpPr>
          <p:cNvPr id="39" name="Text 31"/>
          <p:cNvSpPr/>
          <p:nvPr/>
        </p:nvSpPr>
        <p:spPr>
          <a:xfrm>
            <a:off x="2761488" y="3602736"/>
            <a:ext cx="1737360"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Tool &amp; MCP governance</a:t>
            </a:r>
            <a:endParaRPr lang="en-US" sz="1200" dirty="0"/>
          </a:p>
        </p:txBody>
      </p:sp>
      <p:sp>
        <p:nvSpPr>
          <p:cNvPr id="40" name="Text 32"/>
          <p:cNvSpPr/>
          <p:nvPr/>
        </p:nvSpPr>
        <p:spPr>
          <a:xfrm>
            <a:off x="2761488" y="3831336"/>
            <a:ext cx="1737360" cy="237744"/>
          </a:xfrm>
          <a:prstGeom prst="rect">
            <a:avLst/>
          </a:prstGeom>
          <a:noFill/>
          <a:ln/>
        </p:spPr>
        <p:txBody>
          <a:bodyPr wrap="square" lIns="0" tIns="0" rIns="0" bIns="0" rtlCol="0" anchor="ctr"/>
          <a:lstStyle/>
          <a:p>
            <a:pPr algn="ctr" indent="0" marL="0">
              <a:buNone/>
            </a:pPr>
            <a:r>
              <a:rPr lang="en-US" sz="880" dirty="0">
                <a:solidFill>
                  <a:srgbClr val="5A6781"/>
                </a:solidFill>
                <a:latin typeface="Calibri" pitchFamily="34" charset="0"/>
                <a:ea typeface="Calibri" pitchFamily="34" charset="-122"/>
                <a:cs typeface="Calibri" pitchFamily="34" charset="-120"/>
              </a:rPr>
              <a:t>Govern MCP tool calls</a:t>
            </a:r>
            <a:endParaRPr lang="en-US" sz="880" dirty="0"/>
          </a:p>
        </p:txBody>
      </p:sp>
      <p:sp>
        <p:nvSpPr>
          <p:cNvPr id="41" name="Shape 33"/>
          <p:cNvSpPr/>
          <p:nvPr/>
        </p:nvSpPr>
        <p:spPr>
          <a:xfrm>
            <a:off x="4718304" y="2816352"/>
            <a:ext cx="1883664"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42" name="Shape 34"/>
          <p:cNvSpPr/>
          <p:nvPr/>
        </p:nvSpPr>
        <p:spPr>
          <a:xfrm>
            <a:off x="4718304" y="2816352"/>
            <a:ext cx="64008" cy="1280160"/>
          </a:xfrm>
          <a:prstGeom prst="rect">
            <a:avLst/>
          </a:prstGeom>
          <a:solidFill>
            <a:srgbClr val="4F86F7"/>
          </a:solidFill>
          <a:ln/>
        </p:spPr>
      </p:sp>
      <p:sp>
        <p:nvSpPr>
          <p:cNvPr id="43" name="Shape 35"/>
          <p:cNvSpPr/>
          <p:nvPr/>
        </p:nvSpPr>
        <p:spPr>
          <a:xfrm>
            <a:off x="5376672" y="2980944"/>
            <a:ext cx="566928" cy="566928"/>
          </a:xfrm>
          <a:prstGeom prst="ellipse">
            <a:avLst/>
          </a:prstGeom>
          <a:solidFill>
            <a:srgbClr val="1E2761"/>
          </a:solidFill>
          <a:ln/>
        </p:spPr>
      </p:sp>
      <p:pic>
        <p:nvPicPr>
          <p:cNvPr id="44" name="Image 6" descr="preencoded.png">    </p:cNvPr>
          <p:cNvPicPr>
            <a:picLocks noChangeAspect="1"/>
          </p:cNvPicPr>
          <p:nvPr/>
        </p:nvPicPr>
        <p:blipFill>
          <a:blip r:embed="rId7"/>
          <a:stretch>
            <a:fillRect/>
          </a:stretch>
        </p:blipFill>
        <p:spPr>
          <a:xfrm>
            <a:off x="5513832" y="3118104"/>
            <a:ext cx="292608" cy="292608"/>
          </a:xfrm>
          <a:prstGeom prst="rect">
            <a:avLst/>
          </a:prstGeom>
        </p:spPr>
      </p:pic>
      <p:sp>
        <p:nvSpPr>
          <p:cNvPr id="45" name="Text 36"/>
          <p:cNvSpPr/>
          <p:nvPr/>
        </p:nvSpPr>
        <p:spPr>
          <a:xfrm>
            <a:off x="4791456" y="3602736"/>
            <a:ext cx="1737360"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Observability</a:t>
            </a:r>
            <a:endParaRPr lang="en-US" sz="1200" dirty="0"/>
          </a:p>
        </p:txBody>
      </p:sp>
      <p:sp>
        <p:nvSpPr>
          <p:cNvPr id="46" name="Text 37"/>
          <p:cNvSpPr/>
          <p:nvPr/>
        </p:nvSpPr>
        <p:spPr>
          <a:xfrm>
            <a:off x="4791456" y="3831336"/>
            <a:ext cx="1737360" cy="237744"/>
          </a:xfrm>
          <a:prstGeom prst="rect">
            <a:avLst/>
          </a:prstGeom>
          <a:noFill/>
          <a:ln/>
        </p:spPr>
        <p:txBody>
          <a:bodyPr wrap="square" lIns="0" tIns="0" rIns="0" bIns="0" rtlCol="0" anchor="ctr"/>
          <a:lstStyle/>
          <a:p>
            <a:pPr algn="ctr" indent="0" marL="0">
              <a:buNone/>
            </a:pPr>
            <a:r>
              <a:rPr lang="en-US" sz="880" dirty="0">
                <a:solidFill>
                  <a:srgbClr val="5A6781"/>
                </a:solidFill>
                <a:latin typeface="Calibri" pitchFamily="34" charset="0"/>
                <a:ea typeface="Calibri" pitchFamily="34" charset="-122"/>
                <a:cs typeface="Calibri" pitchFamily="34" charset="-120"/>
              </a:rPr>
              <a:t>Foundry or App Insights</a:t>
            </a:r>
            <a:endParaRPr lang="en-US" sz="880" dirty="0"/>
          </a:p>
        </p:txBody>
      </p:sp>
      <p:sp>
        <p:nvSpPr>
          <p:cNvPr id="47" name="Shape 38"/>
          <p:cNvSpPr/>
          <p:nvPr/>
        </p:nvSpPr>
        <p:spPr>
          <a:xfrm>
            <a:off x="6748272" y="2816352"/>
            <a:ext cx="1883664" cy="128016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48" name="Shape 39"/>
          <p:cNvSpPr/>
          <p:nvPr/>
        </p:nvSpPr>
        <p:spPr>
          <a:xfrm>
            <a:off x="6748272" y="2816352"/>
            <a:ext cx="64008" cy="1280160"/>
          </a:xfrm>
          <a:prstGeom prst="rect">
            <a:avLst/>
          </a:prstGeom>
          <a:solidFill>
            <a:srgbClr val="4F86F7"/>
          </a:solidFill>
          <a:ln/>
        </p:spPr>
      </p:sp>
      <p:sp>
        <p:nvSpPr>
          <p:cNvPr id="49" name="Shape 40"/>
          <p:cNvSpPr/>
          <p:nvPr/>
        </p:nvSpPr>
        <p:spPr>
          <a:xfrm>
            <a:off x="7406640" y="2980944"/>
            <a:ext cx="566928" cy="566928"/>
          </a:xfrm>
          <a:prstGeom prst="ellipse">
            <a:avLst/>
          </a:prstGeom>
          <a:solidFill>
            <a:srgbClr val="1E2761"/>
          </a:solidFill>
          <a:ln/>
        </p:spPr>
      </p:sp>
      <p:pic>
        <p:nvPicPr>
          <p:cNvPr id="50" name="Image 7" descr="preencoded.png">    </p:cNvPr>
          <p:cNvPicPr>
            <a:picLocks noChangeAspect="1"/>
          </p:cNvPicPr>
          <p:nvPr/>
        </p:nvPicPr>
        <p:blipFill>
          <a:blip r:embed="rId8"/>
          <a:stretch>
            <a:fillRect/>
          </a:stretch>
        </p:blipFill>
        <p:spPr>
          <a:xfrm>
            <a:off x="7543800" y="3118104"/>
            <a:ext cx="292608" cy="292608"/>
          </a:xfrm>
          <a:prstGeom prst="rect">
            <a:avLst/>
          </a:prstGeom>
        </p:spPr>
      </p:pic>
      <p:sp>
        <p:nvSpPr>
          <p:cNvPr id="51" name="Text 41"/>
          <p:cNvSpPr/>
          <p:nvPr/>
        </p:nvSpPr>
        <p:spPr>
          <a:xfrm>
            <a:off x="6821424" y="3602736"/>
            <a:ext cx="1737360" cy="256032"/>
          </a:xfrm>
          <a:prstGeom prst="rect">
            <a:avLst/>
          </a:prstGeom>
          <a:noFill/>
          <a:ln/>
        </p:spPr>
        <p:txBody>
          <a:bodyPr wrap="square" lIns="0" tIns="0" rIns="0" bIns="0" rtlCol="0" anchor="ctr"/>
          <a:lstStyle/>
          <a:p>
            <a:pPr algn="ctr" indent="0" marL="0">
              <a:buNone/>
            </a:pPr>
            <a:r>
              <a:rPr lang="en-US" sz="1200" b="1" dirty="0">
                <a:solidFill>
                  <a:srgbClr val="1E2761"/>
                </a:solidFill>
                <a:latin typeface="Georgia" pitchFamily="34" charset="0"/>
                <a:ea typeface="Georgia" pitchFamily="34" charset="-122"/>
                <a:cs typeface="Georgia" pitchFamily="34" charset="-120"/>
              </a:rPr>
              <a:t>Full APIM access</a:t>
            </a:r>
            <a:endParaRPr lang="en-US" sz="1200" dirty="0"/>
          </a:p>
        </p:txBody>
      </p:sp>
      <p:sp>
        <p:nvSpPr>
          <p:cNvPr id="52" name="Text 42"/>
          <p:cNvSpPr/>
          <p:nvPr/>
        </p:nvSpPr>
        <p:spPr>
          <a:xfrm>
            <a:off x="6821424" y="3831336"/>
            <a:ext cx="1737360" cy="237744"/>
          </a:xfrm>
          <a:prstGeom prst="rect">
            <a:avLst/>
          </a:prstGeom>
          <a:noFill/>
          <a:ln/>
        </p:spPr>
        <p:txBody>
          <a:bodyPr wrap="square" lIns="0" tIns="0" rIns="0" bIns="0" rtlCol="0" anchor="ctr"/>
          <a:lstStyle/>
          <a:p>
            <a:pPr algn="ctr" indent="0" marL="0">
              <a:buNone/>
            </a:pPr>
            <a:r>
              <a:rPr lang="en-US" sz="880" dirty="0">
                <a:solidFill>
                  <a:srgbClr val="5A6781"/>
                </a:solidFill>
                <a:latin typeface="Calibri" pitchFamily="34" charset="0"/>
                <a:ea typeface="Calibri" pitchFamily="34" charset="-122"/>
                <a:cs typeface="Calibri" pitchFamily="34" charset="-120"/>
              </a:rPr>
              <a:t>Advanced policy on demand</a:t>
            </a:r>
            <a:endParaRPr lang="en-US" sz="880" dirty="0"/>
          </a:p>
        </p:txBody>
      </p:sp>
      <p:sp>
        <p:nvSpPr>
          <p:cNvPr id="53" name="Text 43"/>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54" name="Text 44"/>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B841"/>
          </a:solidFill>
          <a:ln/>
        </p:spPr>
      </p:sp>
      <p:sp>
        <p:nvSpPr>
          <p:cNvPr id="3" name="Text 1"/>
          <p:cNvSpPr/>
          <p:nvPr/>
        </p:nvSpPr>
        <p:spPr>
          <a:xfrm>
            <a:off x="731520" y="1371600"/>
            <a:ext cx="2743200" cy="1463040"/>
          </a:xfrm>
          <a:prstGeom prst="rect">
            <a:avLst/>
          </a:prstGeom>
          <a:noFill/>
          <a:ln/>
        </p:spPr>
        <p:txBody>
          <a:bodyPr wrap="square" lIns="0" tIns="0" rIns="0" bIns="0" rtlCol="0" anchor="ctr"/>
          <a:lstStyle/>
          <a:p>
            <a:pPr indent="0" marL="0">
              <a:buNone/>
            </a:pPr>
            <a:r>
              <a:rPr lang="en-US" sz="9600" b="1" dirty="0">
                <a:solidFill>
                  <a:srgbClr val="2C376E"/>
                </a:solidFill>
                <a:latin typeface="Georgia" pitchFamily="34" charset="0"/>
                <a:ea typeface="Georgia" pitchFamily="34" charset="-122"/>
                <a:cs typeface="Georgia" pitchFamily="34" charset="-120"/>
              </a:rPr>
              <a:t>02</a:t>
            </a:r>
            <a:endParaRPr lang="en-US" sz="9600" dirty="0"/>
          </a:p>
        </p:txBody>
      </p:sp>
      <p:sp>
        <p:nvSpPr>
          <p:cNvPr id="4" name="Text 2"/>
          <p:cNvSpPr/>
          <p:nvPr/>
        </p:nvSpPr>
        <p:spPr>
          <a:xfrm>
            <a:off x="777240" y="2743200"/>
            <a:ext cx="7132320" cy="77724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Observability &amp; cost</a:t>
            </a:r>
            <a:endParaRPr lang="en-US" sz="3600" dirty="0"/>
          </a:p>
        </p:txBody>
      </p:sp>
      <p:sp>
        <p:nvSpPr>
          <p:cNvPr id="5" name="Text 3"/>
          <p:cNvSpPr/>
          <p:nvPr/>
        </p:nvSpPr>
        <p:spPr>
          <a:xfrm>
            <a:off x="804672" y="3520440"/>
            <a:ext cx="6766560" cy="6400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See and contain every token, dollar, trace and error — in Foundry or Application Insights.</a:t>
            </a:r>
            <a:endParaRPr lang="en-US" sz="1400" dirty="0"/>
          </a:p>
        </p:txBody>
      </p:sp>
      <p:sp>
        <p:nvSpPr>
          <p:cNvPr id="6" name="Shape 4"/>
          <p:cNvSpPr/>
          <p:nvPr/>
        </p:nvSpPr>
        <p:spPr>
          <a:xfrm>
            <a:off x="7223760" y="1463040"/>
            <a:ext cx="1188720" cy="1188720"/>
          </a:xfrm>
          <a:prstGeom prst="ellipse">
            <a:avLst/>
          </a:prstGeom>
          <a:solidFill>
            <a:srgbClr val="2C376E"/>
          </a:solidFill>
          <a:ln/>
        </p:spPr>
      </p:sp>
      <p:pic>
        <p:nvPicPr>
          <p:cNvPr id="7" name="Image 0" descr="preencoded.png">    </p:cNvPr>
          <p:cNvPicPr>
            <a:picLocks noChangeAspect="1"/>
          </p:cNvPicPr>
          <p:nvPr/>
        </p:nvPicPr>
        <p:blipFill>
          <a:blip r:embed="rId1"/>
          <a:stretch>
            <a:fillRect/>
          </a:stretch>
        </p:blipFill>
        <p:spPr>
          <a:xfrm>
            <a:off x="7607808" y="1847088"/>
            <a:ext cx="420624" cy="420624"/>
          </a:xfrm>
          <a:prstGeom prst="rect">
            <a:avLst/>
          </a:prstGeom>
        </p:spPr>
      </p:pic>
      <p:sp>
        <p:nvSpPr>
          <p:cNvPr id="8" name="Text 5"/>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8893B8"/>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What you can see</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SIX SIGNALS, TWO PLACES TO VIEW THEM</a:t>
            </a:r>
            <a:endParaRPr lang="en-US" sz="1150" dirty="0"/>
          </a:p>
        </p:txBody>
      </p:sp>
      <p:sp>
        <p:nvSpPr>
          <p:cNvPr id="5" name="Shape 3"/>
          <p:cNvSpPr/>
          <p:nvPr/>
        </p:nvSpPr>
        <p:spPr>
          <a:xfrm>
            <a:off x="658368" y="1371600"/>
            <a:ext cx="2542032" cy="137160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6" name="Shape 4"/>
          <p:cNvSpPr/>
          <p:nvPr/>
        </p:nvSpPr>
        <p:spPr>
          <a:xfrm>
            <a:off x="658368" y="1371600"/>
            <a:ext cx="64008" cy="1371600"/>
          </a:xfrm>
          <a:prstGeom prst="rect">
            <a:avLst/>
          </a:prstGeom>
          <a:solidFill>
            <a:srgbClr val="4F86F7"/>
          </a:solidFill>
          <a:ln/>
        </p:spPr>
      </p:sp>
      <p:pic>
        <p:nvPicPr>
          <p:cNvPr id="7" name="Image 0" descr="preencoded.png">    </p:cNvPr>
          <p:cNvPicPr>
            <a:picLocks noChangeAspect="1"/>
          </p:cNvPicPr>
          <p:nvPr/>
        </p:nvPicPr>
        <p:blipFill>
          <a:blip r:embed="rId1"/>
          <a:stretch>
            <a:fillRect/>
          </a:stretch>
        </p:blipFill>
        <p:spPr>
          <a:xfrm>
            <a:off x="877824" y="1609344"/>
            <a:ext cx="365760" cy="365760"/>
          </a:xfrm>
          <a:prstGeom prst="rect">
            <a:avLst/>
          </a:prstGeom>
        </p:spPr>
      </p:pic>
      <p:sp>
        <p:nvSpPr>
          <p:cNvPr id="8" name="Text 5"/>
          <p:cNvSpPr/>
          <p:nvPr/>
        </p:nvSpPr>
        <p:spPr>
          <a:xfrm>
            <a:off x="1371600" y="1572768"/>
            <a:ext cx="1719072" cy="36576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Tokens</a:t>
            </a:r>
            <a:endParaRPr lang="en-US" sz="1500" dirty="0"/>
          </a:p>
        </p:txBody>
      </p:sp>
      <p:sp>
        <p:nvSpPr>
          <p:cNvPr id="9" name="Text 6"/>
          <p:cNvSpPr/>
          <p:nvPr/>
        </p:nvSpPr>
        <p:spPr>
          <a:xfrm>
            <a:off x="896112" y="2084832"/>
            <a:ext cx="2084832" cy="585216"/>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Prompt, completion &amp; total — by project and deployment</a:t>
            </a:r>
            <a:endParaRPr lang="en-US" sz="1000" dirty="0"/>
          </a:p>
        </p:txBody>
      </p:sp>
      <p:sp>
        <p:nvSpPr>
          <p:cNvPr id="10" name="Shape 7"/>
          <p:cNvSpPr/>
          <p:nvPr/>
        </p:nvSpPr>
        <p:spPr>
          <a:xfrm>
            <a:off x="3346704" y="1371600"/>
            <a:ext cx="2542032" cy="137160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1" name="Shape 8"/>
          <p:cNvSpPr/>
          <p:nvPr/>
        </p:nvSpPr>
        <p:spPr>
          <a:xfrm>
            <a:off x="3346704" y="1371600"/>
            <a:ext cx="64008" cy="1371600"/>
          </a:xfrm>
          <a:prstGeom prst="rect">
            <a:avLst/>
          </a:prstGeom>
          <a:solidFill>
            <a:srgbClr val="4F86F7"/>
          </a:solidFill>
          <a:ln/>
        </p:spPr>
      </p:sp>
      <p:pic>
        <p:nvPicPr>
          <p:cNvPr id="12" name="Image 1" descr="preencoded.png">    </p:cNvPr>
          <p:cNvPicPr>
            <a:picLocks noChangeAspect="1"/>
          </p:cNvPicPr>
          <p:nvPr/>
        </p:nvPicPr>
        <p:blipFill>
          <a:blip r:embed="rId2"/>
          <a:stretch>
            <a:fillRect/>
          </a:stretch>
        </p:blipFill>
        <p:spPr>
          <a:xfrm>
            <a:off x="3566160" y="1609344"/>
            <a:ext cx="365760" cy="365760"/>
          </a:xfrm>
          <a:prstGeom prst="rect">
            <a:avLst/>
          </a:prstGeom>
        </p:spPr>
      </p:pic>
      <p:sp>
        <p:nvSpPr>
          <p:cNvPr id="13" name="Text 9"/>
          <p:cNvSpPr/>
          <p:nvPr/>
        </p:nvSpPr>
        <p:spPr>
          <a:xfrm>
            <a:off x="4059936" y="1572768"/>
            <a:ext cx="1719072" cy="36576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Cost</a:t>
            </a:r>
            <a:endParaRPr lang="en-US" sz="1500" dirty="0"/>
          </a:p>
        </p:txBody>
      </p:sp>
      <p:sp>
        <p:nvSpPr>
          <p:cNvPr id="14" name="Text 10"/>
          <p:cNvSpPr/>
          <p:nvPr/>
        </p:nvSpPr>
        <p:spPr>
          <a:xfrm>
            <a:off x="3584448" y="2084832"/>
            <a:ext cx="2084832" cy="585216"/>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Aggregate usage capped per project for predictable spend</a:t>
            </a:r>
            <a:endParaRPr lang="en-US" sz="1000" dirty="0"/>
          </a:p>
        </p:txBody>
      </p:sp>
      <p:sp>
        <p:nvSpPr>
          <p:cNvPr id="15" name="Shape 11"/>
          <p:cNvSpPr/>
          <p:nvPr/>
        </p:nvSpPr>
        <p:spPr>
          <a:xfrm>
            <a:off x="6035040" y="1371600"/>
            <a:ext cx="2542032" cy="137160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6" name="Shape 12"/>
          <p:cNvSpPr/>
          <p:nvPr/>
        </p:nvSpPr>
        <p:spPr>
          <a:xfrm>
            <a:off x="6035040" y="1371600"/>
            <a:ext cx="64008" cy="1371600"/>
          </a:xfrm>
          <a:prstGeom prst="rect">
            <a:avLst/>
          </a:prstGeom>
          <a:solidFill>
            <a:srgbClr val="4F86F7"/>
          </a:solidFill>
          <a:ln/>
        </p:spPr>
      </p:sp>
      <p:pic>
        <p:nvPicPr>
          <p:cNvPr id="17" name="Image 2" descr="preencoded.png">    </p:cNvPr>
          <p:cNvPicPr>
            <a:picLocks noChangeAspect="1"/>
          </p:cNvPicPr>
          <p:nvPr/>
        </p:nvPicPr>
        <p:blipFill>
          <a:blip r:embed="rId3"/>
          <a:stretch>
            <a:fillRect/>
          </a:stretch>
        </p:blipFill>
        <p:spPr>
          <a:xfrm>
            <a:off x="6254496" y="1609344"/>
            <a:ext cx="365760" cy="365760"/>
          </a:xfrm>
          <a:prstGeom prst="rect">
            <a:avLst/>
          </a:prstGeom>
        </p:spPr>
      </p:pic>
      <p:sp>
        <p:nvSpPr>
          <p:cNvPr id="18" name="Text 13"/>
          <p:cNvSpPr/>
          <p:nvPr/>
        </p:nvSpPr>
        <p:spPr>
          <a:xfrm>
            <a:off x="6748272" y="1572768"/>
            <a:ext cx="1719072" cy="36576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Latency</a:t>
            </a:r>
            <a:endParaRPr lang="en-US" sz="1500" dirty="0"/>
          </a:p>
        </p:txBody>
      </p:sp>
      <p:sp>
        <p:nvSpPr>
          <p:cNvPr id="19" name="Text 14"/>
          <p:cNvSpPr/>
          <p:nvPr/>
        </p:nvSpPr>
        <p:spPr>
          <a:xfrm>
            <a:off x="6272784" y="2084832"/>
            <a:ext cx="2084832" cy="585216"/>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Compare gateway-proxied vs. direct model calls</a:t>
            </a:r>
            <a:endParaRPr lang="en-US" sz="1000" dirty="0"/>
          </a:p>
        </p:txBody>
      </p:sp>
      <p:sp>
        <p:nvSpPr>
          <p:cNvPr id="20" name="Shape 15"/>
          <p:cNvSpPr/>
          <p:nvPr/>
        </p:nvSpPr>
        <p:spPr>
          <a:xfrm>
            <a:off x="658368" y="2907792"/>
            <a:ext cx="2542032" cy="137160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21" name="Shape 16"/>
          <p:cNvSpPr/>
          <p:nvPr/>
        </p:nvSpPr>
        <p:spPr>
          <a:xfrm>
            <a:off x="658368" y="2907792"/>
            <a:ext cx="64008" cy="1371600"/>
          </a:xfrm>
          <a:prstGeom prst="rect">
            <a:avLst/>
          </a:prstGeom>
          <a:solidFill>
            <a:srgbClr val="4F86F7"/>
          </a:solidFill>
          <a:ln/>
        </p:spPr>
      </p:sp>
      <p:pic>
        <p:nvPicPr>
          <p:cNvPr id="22" name="Image 3" descr="preencoded.png">    </p:cNvPr>
          <p:cNvPicPr>
            <a:picLocks noChangeAspect="1"/>
          </p:cNvPicPr>
          <p:nvPr/>
        </p:nvPicPr>
        <p:blipFill>
          <a:blip r:embed="rId4"/>
          <a:stretch>
            <a:fillRect/>
          </a:stretch>
        </p:blipFill>
        <p:spPr>
          <a:xfrm>
            <a:off x="877824" y="3145536"/>
            <a:ext cx="365760" cy="365760"/>
          </a:xfrm>
          <a:prstGeom prst="rect">
            <a:avLst/>
          </a:prstGeom>
        </p:spPr>
      </p:pic>
      <p:sp>
        <p:nvSpPr>
          <p:cNvPr id="23" name="Text 17"/>
          <p:cNvSpPr/>
          <p:nvPr/>
        </p:nvSpPr>
        <p:spPr>
          <a:xfrm>
            <a:off x="1371600" y="3108960"/>
            <a:ext cx="1719072" cy="36576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Errors &amp; throttling</a:t>
            </a:r>
            <a:endParaRPr lang="en-US" sz="1500" dirty="0"/>
          </a:p>
        </p:txBody>
      </p:sp>
      <p:sp>
        <p:nvSpPr>
          <p:cNvPr id="24" name="Text 18"/>
          <p:cNvSpPr/>
          <p:nvPr/>
        </p:nvSpPr>
        <p:spPr>
          <a:xfrm>
            <a:off x="896112" y="3621024"/>
            <a:ext cx="2084832" cy="585216"/>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429 rate-limit and 403 quota responses</a:t>
            </a:r>
            <a:endParaRPr lang="en-US" sz="1000" dirty="0"/>
          </a:p>
        </p:txBody>
      </p:sp>
      <p:sp>
        <p:nvSpPr>
          <p:cNvPr id="25" name="Shape 19"/>
          <p:cNvSpPr/>
          <p:nvPr/>
        </p:nvSpPr>
        <p:spPr>
          <a:xfrm>
            <a:off x="3346704" y="2907792"/>
            <a:ext cx="2542032" cy="137160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26" name="Shape 20"/>
          <p:cNvSpPr/>
          <p:nvPr/>
        </p:nvSpPr>
        <p:spPr>
          <a:xfrm>
            <a:off x="3346704" y="2907792"/>
            <a:ext cx="64008" cy="1371600"/>
          </a:xfrm>
          <a:prstGeom prst="rect">
            <a:avLst/>
          </a:prstGeom>
          <a:solidFill>
            <a:srgbClr val="4F86F7"/>
          </a:solidFill>
          <a:ln/>
        </p:spPr>
      </p:sp>
      <p:pic>
        <p:nvPicPr>
          <p:cNvPr id="27" name="Image 4" descr="preencoded.png">    </p:cNvPr>
          <p:cNvPicPr>
            <a:picLocks noChangeAspect="1"/>
          </p:cNvPicPr>
          <p:nvPr/>
        </p:nvPicPr>
        <p:blipFill>
          <a:blip r:embed="rId5"/>
          <a:stretch>
            <a:fillRect/>
          </a:stretch>
        </p:blipFill>
        <p:spPr>
          <a:xfrm>
            <a:off x="3566160" y="3145536"/>
            <a:ext cx="365760" cy="365760"/>
          </a:xfrm>
          <a:prstGeom prst="rect">
            <a:avLst/>
          </a:prstGeom>
        </p:spPr>
      </p:pic>
      <p:sp>
        <p:nvSpPr>
          <p:cNvPr id="28" name="Text 21"/>
          <p:cNvSpPr/>
          <p:nvPr/>
        </p:nvSpPr>
        <p:spPr>
          <a:xfrm>
            <a:off x="4059936" y="3108960"/>
            <a:ext cx="1719072" cy="36576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Gateway logs</a:t>
            </a:r>
            <a:endParaRPr lang="en-US" sz="1500" dirty="0"/>
          </a:p>
        </p:txBody>
      </p:sp>
      <p:sp>
        <p:nvSpPr>
          <p:cNvPr id="29" name="Text 22"/>
          <p:cNvSpPr/>
          <p:nvPr/>
        </p:nvSpPr>
        <p:spPr>
          <a:xfrm>
            <a:off x="3584448" y="3621024"/>
            <a:ext cx="2084832" cy="585216"/>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Per-request status &amp; API name in GatewayLogs</a:t>
            </a:r>
            <a:endParaRPr lang="en-US" sz="1000" dirty="0"/>
          </a:p>
        </p:txBody>
      </p:sp>
      <p:sp>
        <p:nvSpPr>
          <p:cNvPr id="30" name="Shape 23"/>
          <p:cNvSpPr/>
          <p:nvPr/>
        </p:nvSpPr>
        <p:spPr>
          <a:xfrm>
            <a:off x="6035040" y="2907792"/>
            <a:ext cx="2542032" cy="137160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31" name="Shape 24"/>
          <p:cNvSpPr/>
          <p:nvPr/>
        </p:nvSpPr>
        <p:spPr>
          <a:xfrm>
            <a:off x="6035040" y="2907792"/>
            <a:ext cx="64008" cy="1371600"/>
          </a:xfrm>
          <a:prstGeom prst="rect">
            <a:avLst/>
          </a:prstGeom>
          <a:solidFill>
            <a:srgbClr val="4F86F7"/>
          </a:solidFill>
          <a:ln/>
        </p:spPr>
      </p:sp>
      <p:pic>
        <p:nvPicPr>
          <p:cNvPr id="32" name="Image 5" descr="preencoded.png">    </p:cNvPr>
          <p:cNvPicPr>
            <a:picLocks noChangeAspect="1"/>
          </p:cNvPicPr>
          <p:nvPr/>
        </p:nvPicPr>
        <p:blipFill>
          <a:blip r:embed="rId6"/>
          <a:stretch>
            <a:fillRect/>
          </a:stretch>
        </p:blipFill>
        <p:spPr>
          <a:xfrm>
            <a:off x="6254496" y="3145536"/>
            <a:ext cx="365760" cy="365760"/>
          </a:xfrm>
          <a:prstGeom prst="rect">
            <a:avLst/>
          </a:prstGeom>
        </p:spPr>
      </p:pic>
      <p:sp>
        <p:nvSpPr>
          <p:cNvPr id="33" name="Text 25"/>
          <p:cNvSpPr/>
          <p:nvPr/>
        </p:nvSpPr>
        <p:spPr>
          <a:xfrm>
            <a:off x="6748272" y="3108960"/>
            <a:ext cx="1719072" cy="36576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Agent &amp; tool activity</a:t>
            </a:r>
            <a:endParaRPr lang="en-US" sz="1500" dirty="0"/>
          </a:p>
        </p:txBody>
      </p:sp>
      <p:sp>
        <p:nvSpPr>
          <p:cNvPr id="34" name="Text 26"/>
          <p:cNvSpPr/>
          <p:nvPr/>
        </p:nvSpPr>
        <p:spPr>
          <a:xfrm>
            <a:off x="6272784" y="3621024"/>
            <a:ext cx="2084832" cy="585216"/>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Calls brokered through the gateway endpoint</a:t>
            </a:r>
            <a:endParaRPr lang="en-US" sz="1000" dirty="0"/>
          </a:p>
        </p:txBody>
      </p:sp>
      <p:sp>
        <p:nvSpPr>
          <p:cNvPr id="35" name="Text 27"/>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36" name="Text 28"/>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183C"/>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A single pane for AI operations</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9BBDF9"/>
                </a:solidFill>
                <a:latin typeface="Calibri" pitchFamily="34" charset="0"/>
                <a:ea typeface="Calibri" pitchFamily="34" charset="-122"/>
                <a:cs typeface="Calibri" pitchFamily="34" charset="-120"/>
              </a:rPr>
              <a:t>REPRESENTATIVE DASHBOARD</a:t>
            </a:r>
            <a:endParaRPr lang="en-US" sz="1150" dirty="0"/>
          </a:p>
        </p:txBody>
      </p:sp>
      <p:sp>
        <p:nvSpPr>
          <p:cNvPr id="5" name="Shape 3"/>
          <p:cNvSpPr/>
          <p:nvPr/>
        </p:nvSpPr>
        <p:spPr>
          <a:xfrm>
            <a:off x="658368" y="1280160"/>
            <a:ext cx="1828800" cy="841248"/>
          </a:xfrm>
          <a:prstGeom prst="rect">
            <a:avLst/>
          </a:prstGeom>
          <a:solidFill>
            <a:srgbClr val="1C2350"/>
          </a:solidFill>
          <a:ln w="12700">
            <a:solidFill>
              <a:srgbClr val="2E3870"/>
            </a:solidFill>
            <a:prstDash val="solid"/>
          </a:ln>
        </p:spPr>
      </p:sp>
      <p:sp>
        <p:nvSpPr>
          <p:cNvPr id="6" name="Text 4"/>
          <p:cNvSpPr/>
          <p:nvPr/>
        </p:nvSpPr>
        <p:spPr>
          <a:xfrm>
            <a:off x="658368" y="1335024"/>
            <a:ext cx="1828800" cy="457200"/>
          </a:xfrm>
          <a:prstGeom prst="rect">
            <a:avLst/>
          </a:prstGeom>
          <a:noFill/>
          <a:ln/>
        </p:spPr>
        <p:txBody>
          <a:bodyPr wrap="square" lIns="0" tIns="0" rIns="0" bIns="0" rtlCol="0" anchor="ctr"/>
          <a:lstStyle/>
          <a:p>
            <a:pPr algn="ctr" indent="0" marL="0">
              <a:buNone/>
            </a:pPr>
            <a:r>
              <a:rPr lang="en-US" sz="2400" b="1" dirty="0">
                <a:solidFill>
                  <a:srgbClr val="9BBDF9"/>
                </a:solidFill>
                <a:latin typeface="Georgia" pitchFamily="34" charset="0"/>
                <a:ea typeface="Georgia" pitchFamily="34" charset="-122"/>
                <a:cs typeface="Georgia" pitchFamily="34" charset="-120"/>
              </a:rPr>
              <a:t>1.5M</a:t>
            </a:r>
            <a:endParaRPr lang="en-US" sz="2400" dirty="0"/>
          </a:p>
        </p:txBody>
      </p:sp>
      <p:sp>
        <p:nvSpPr>
          <p:cNvPr id="7" name="Text 5"/>
          <p:cNvSpPr/>
          <p:nvPr/>
        </p:nvSpPr>
        <p:spPr>
          <a:xfrm>
            <a:off x="658368" y="1792224"/>
            <a:ext cx="1828800" cy="256032"/>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Total tokens</a:t>
            </a:r>
            <a:endParaRPr lang="en-US" sz="950" dirty="0"/>
          </a:p>
        </p:txBody>
      </p:sp>
      <p:sp>
        <p:nvSpPr>
          <p:cNvPr id="8" name="Shape 6"/>
          <p:cNvSpPr/>
          <p:nvPr/>
        </p:nvSpPr>
        <p:spPr>
          <a:xfrm>
            <a:off x="2633472" y="1280160"/>
            <a:ext cx="1828800" cy="841248"/>
          </a:xfrm>
          <a:prstGeom prst="rect">
            <a:avLst/>
          </a:prstGeom>
          <a:solidFill>
            <a:srgbClr val="1C2350"/>
          </a:solidFill>
          <a:ln w="12700">
            <a:solidFill>
              <a:srgbClr val="2E3870"/>
            </a:solidFill>
            <a:prstDash val="solid"/>
          </a:ln>
        </p:spPr>
      </p:sp>
      <p:sp>
        <p:nvSpPr>
          <p:cNvPr id="9" name="Text 7"/>
          <p:cNvSpPr/>
          <p:nvPr/>
        </p:nvSpPr>
        <p:spPr>
          <a:xfrm>
            <a:off x="2633472" y="1335024"/>
            <a:ext cx="1828800" cy="457200"/>
          </a:xfrm>
          <a:prstGeom prst="rect">
            <a:avLst/>
          </a:prstGeom>
          <a:noFill/>
          <a:ln/>
        </p:spPr>
        <p:txBody>
          <a:bodyPr wrap="square" lIns="0" tIns="0" rIns="0" bIns="0" rtlCol="0" anchor="ctr"/>
          <a:lstStyle/>
          <a:p>
            <a:pPr algn="ctr" indent="0" marL="0">
              <a:buNone/>
            </a:pPr>
            <a:r>
              <a:rPr lang="en-US" sz="2400" b="1" dirty="0">
                <a:solidFill>
                  <a:srgbClr val="F5B841"/>
                </a:solidFill>
                <a:latin typeface="Georgia" pitchFamily="34" charset="0"/>
                <a:ea typeface="Georgia" pitchFamily="34" charset="-122"/>
                <a:cs typeface="Georgia" pitchFamily="34" charset="-120"/>
              </a:rPr>
              <a:t>$4.20</a:t>
            </a:r>
            <a:endParaRPr lang="en-US" sz="2400" dirty="0"/>
          </a:p>
        </p:txBody>
      </p:sp>
      <p:sp>
        <p:nvSpPr>
          <p:cNvPr id="10" name="Text 8"/>
          <p:cNvSpPr/>
          <p:nvPr/>
        </p:nvSpPr>
        <p:spPr>
          <a:xfrm>
            <a:off x="2633472" y="1792224"/>
            <a:ext cx="1828800" cy="256032"/>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Est. cost</a:t>
            </a:r>
            <a:endParaRPr lang="en-US" sz="950" dirty="0"/>
          </a:p>
        </p:txBody>
      </p:sp>
      <p:sp>
        <p:nvSpPr>
          <p:cNvPr id="11" name="Shape 9"/>
          <p:cNvSpPr/>
          <p:nvPr/>
        </p:nvSpPr>
        <p:spPr>
          <a:xfrm>
            <a:off x="4608576" y="1280160"/>
            <a:ext cx="1828800" cy="841248"/>
          </a:xfrm>
          <a:prstGeom prst="rect">
            <a:avLst/>
          </a:prstGeom>
          <a:solidFill>
            <a:srgbClr val="1C2350"/>
          </a:solidFill>
          <a:ln w="12700">
            <a:solidFill>
              <a:srgbClr val="2E3870"/>
            </a:solidFill>
            <a:prstDash val="solid"/>
          </a:ln>
        </p:spPr>
      </p:sp>
      <p:sp>
        <p:nvSpPr>
          <p:cNvPr id="12" name="Text 10"/>
          <p:cNvSpPr/>
          <p:nvPr/>
        </p:nvSpPr>
        <p:spPr>
          <a:xfrm>
            <a:off x="4608576" y="1335024"/>
            <a:ext cx="1828800" cy="457200"/>
          </a:xfrm>
          <a:prstGeom prst="rect">
            <a:avLst/>
          </a:prstGeom>
          <a:noFill/>
          <a:ln/>
        </p:spPr>
        <p:txBody>
          <a:bodyPr wrap="square" lIns="0" tIns="0" rIns="0" bIns="0" rtlCol="0" anchor="ctr"/>
          <a:lstStyle/>
          <a:p>
            <a:pPr algn="ctr" indent="0" marL="0">
              <a:buNone/>
            </a:pPr>
            <a:r>
              <a:rPr lang="en-US" sz="2400" b="1" dirty="0">
                <a:solidFill>
                  <a:srgbClr val="CADCFC"/>
                </a:solidFill>
                <a:latin typeface="Georgia" pitchFamily="34" charset="0"/>
                <a:ea typeface="Georgia" pitchFamily="34" charset="-122"/>
                <a:cs typeface="Georgia" pitchFamily="34" charset="-120"/>
              </a:rPr>
              <a:t>2.4%</a:t>
            </a:r>
            <a:endParaRPr lang="en-US" sz="2400" dirty="0"/>
          </a:p>
        </p:txBody>
      </p:sp>
      <p:sp>
        <p:nvSpPr>
          <p:cNvPr id="13" name="Text 11"/>
          <p:cNvSpPr/>
          <p:nvPr/>
        </p:nvSpPr>
        <p:spPr>
          <a:xfrm>
            <a:off x="4608576" y="1792224"/>
            <a:ext cx="1828800" cy="256032"/>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Throttled</a:t>
            </a:r>
            <a:endParaRPr lang="en-US" sz="950" dirty="0"/>
          </a:p>
        </p:txBody>
      </p:sp>
      <p:sp>
        <p:nvSpPr>
          <p:cNvPr id="14" name="Shape 12"/>
          <p:cNvSpPr/>
          <p:nvPr/>
        </p:nvSpPr>
        <p:spPr>
          <a:xfrm>
            <a:off x="6583680" y="1280160"/>
            <a:ext cx="1828800" cy="841248"/>
          </a:xfrm>
          <a:prstGeom prst="rect">
            <a:avLst/>
          </a:prstGeom>
          <a:solidFill>
            <a:srgbClr val="1C2350"/>
          </a:solidFill>
          <a:ln w="12700">
            <a:solidFill>
              <a:srgbClr val="2E3870"/>
            </a:solidFill>
            <a:prstDash val="solid"/>
          </a:ln>
        </p:spPr>
      </p:sp>
      <p:sp>
        <p:nvSpPr>
          <p:cNvPr id="15" name="Text 13"/>
          <p:cNvSpPr/>
          <p:nvPr/>
        </p:nvSpPr>
        <p:spPr>
          <a:xfrm>
            <a:off x="6583680" y="1335024"/>
            <a:ext cx="1828800" cy="457200"/>
          </a:xfrm>
          <a:prstGeom prst="rect">
            <a:avLst/>
          </a:prstGeom>
          <a:noFill/>
          <a:ln/>
        </p:spPr>
        <p:txBody>
          <a:bodyPr wrap="square" lIns="0" tIns="0" rIns="0" bIns="0" rtlCol="0" anchor="ctr"/>
          <a:lstStyle/>
          <a:p>
            <a:pPr algn="ctr" indent="0" marL="0">
              <a:buNone/>
            </a:pPr>
            <a:r>
              <a:rPr lang="en-US" sz="2400" b="1" dirty="0">
                <a:solidFill>
                  <a:srgbClr val="9BBDF9"/>
                </a:solidFill>
                <a:latin typeface="Georgia" pitchFamily="34" charset="0"/>
                <a:ea typeface="Georgia" pitchFamily="34" charset="-122"/>
                <a:cs typeface="Georgia" pitchFamily="34" charset="-120"/>
              </a:rPr>
              <a:t>1.1%</a:t>
            </a:r>
            <a:endParaRPr lang="en-US" sz="2400" dirty="0"/>
          </a:p>
        </p:txBody>
      </p:sp>
      <p:sp>
        <p:nvSpPr>
          <p:cNvPr id="16" name="Text 14"/>
          <p:cNvSpPr/>
          <p:nvPr/>
        </p:nvSpPr>
        <p:spPr>
          <a:xfrm>
            <a:off x="6583680" y="1792224"/>
            <a:ext cx="1828800" cy="256032"/>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Error rate</a:t>
            </a:r>
            <a:endParaRPr lang="en-US" sz="950" dirty="0"/>
          </a:p>
        </p:txBody>
      </p:sp>
      <p:graphicFrame>
        <p:nvGraphicFramePr>
          <p:cNvPr id="17" name="Chart 0" descr=""/>
          <p:cNvGraphicFramePr/>
          <p:nvPr/>
        </p:nvGraphicFramePr>
        <p:xfrm>
          <a:off x="658368" y="2286000"/>
          <a:ext cx="4754880" cy="2240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5577840" y="2286000"/>
          <a:ext cx="2907792" cy="2240280"/>
        </p:xfrm>
        <a:graphic xmlns:a="http://schemas.openxmlformats.org/drawingml/2006/main">
          <a:graphicData uri="http://schemas.openxmlformats.org/drawingml/2006/chart">
            <c:chart xmlns:c="http://schemas.openxmlformats.org/drawingml/2006/chart" r:id="rId2"/>
          </a:graphicData>
        </a:graphic>
      </p:graphicFrame>
      <p:sp>
        <p:nvSpPr>
          <p:cNvPr id="19" name="Text 15"/>
          <p:cNvSpPr/>
          <p:nvPr/>
        </p:nvSpPr>
        <p:spPr>
          <a:xfrm>
            <a:off x="658368" y="4828032"/>
            <a:ext cx="6400800" cy="228600"/>
          </a:xfrm>
          <a:prstGeom prst="rect">
            <a:avLst/>
          </a:prstGeom>
          <a:noFill/>
          <a:ln/>
        </p:spPr>
        <p:txBody>
          <a:bodyPr wrap="square" lIns="0" tIns="0" rIns="0" bIns="0" rtlCol="0" anchor="ctr"/>
          <a:lstStyle/>
          <a:p>
            <a:pPr indent="0" marL="0">
              <a:buNone/>
            </a:pPr>
            <a:r>
              <a:rPr lang="en-US" sz="800" i="1" dirty="0">
                <a:solidFill>
                  <a:srgbClr val="8893B8"/>
                </a:solidFill>
                <a:latin typeface="Calibri" pitchFamily="34" charset="0"/>
                <a:ea typeface="Calibri" pitchFamily="34" charset="-122"/>
                <a:cs typeface="Calibri" pitchFamily="34" charset="-120"/>
              </a:rPr>
              <a:t>Illustrative — view your own data in Foundry or Application Insights.</a:t>
            </a:r>
            <a:endParaRPr lang="en-US" sz="800" dirty="0"/>
          </a:p>
        </p:txBody>
      </p:sp>
      <p:sp>
        <p:nvSpPr>
          <p:cNvPr id="20" name="Text 16"/>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8893B8"/>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View &amp; manage cost</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CONTAINMENT, BUDGETS &amp; CHARGEBACK</a:t>
            </a:r>
            <a:endParaRPr lang="en-US" sz="1150" dirty="0"/>
          </a:p>
        </p:txBody>
      </p:sp>
      <p:sp>
        <p:nvSpPr>
          <p:cNvPr id="5" name="Text 3"/>
          <p:cNvSpPr/>
          <p:nvPr/>
        </p:nvSpPr>
        <p:spPr>
          <a:xfrm>
            <a:off x="658368" y="1234440"/>
            <a:ext cx="7772400" cy="640080"/>
          </a:xfrm>
          <a:prstGeom prst="rect">
            <a:avLst/>
          </a:prstGeom>
          <a:noFill/>
          <a:ln/>
        </p:spPr>
        <p:txBody>
          <a:bodyPr wrap="square" lIns="0" tIns="0" rIns="0" bIns="0" rtlCol="0" anchor="ctr"/>
          <a:lstStyle/>
          <a:p>
            <a:pPr indent="0" marL="0">
              <a:buNone/>
            </a:pPr>
            <a:r>
              <a:rPr lang="en-US" sz="1250" dirty="0">
                <a:solidFill>
                  <a:srgbClr val="1B2447"/>
                </a:solidFill>
                <a:latin typeface="Calibri" pitchFamily="34" charset="0"/>
                <a:ea typeface="Calibri" pitchFamily="34" charset="-122"/>
                <a:cs typeface="Calibri" pitchFamily="34" charset="-120"/>
              </a:rPr>
              <a:t>The gateway turns cost from a surprise into a control. Per-project ceilings stop one team draining shared capacity, and aggregate caps make spend predictable.</a:t>
            </a:r>
            <a:endParaRPr lang="en-US" sz="1250" dirty="0"/>
          </a:p>
        </p:txBody>
      </p:sp>
      <p:sp>
        <p:nvSpPr>
          <p:cNvPr id="6" name="Shape 4"/>
          <p:cNvSpPr/>
          <p:nvPr/>
        </p:nvSpPr>
        <p:spPr>
          <a:xfrm>
            <a:off x="658368" y="2057400"/>
            <a:ext cx="2615184" cy="155448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658368" y="2057400"/>
            <a:ext cx="64008" cy="1554480"/>
          </a:xfrm>
          <a:prstGeom prst="rect">
            <a:avLst/>
          </a:prstGeom>
          <a:solidFill>
            <a:srgbClr val="4F86F7"/>
          </a:solidFill>
          <a:ln/>
        </p:spPr>
      </p:sp>
      <p:sp>
        <p:nvSpPr>
          <p:cNvPr id="8" name="Shape 6"/>
          <p:cNvSpPr/>
          <p:nvPr/>
        </p:nvSpPr>
        <p:spPr>
          <a:xfrm>
            <a:off x="877824" y="2295144"/>
            <a:ext cx="585216" cy="585216"/>
          </a:xfrm>
          <a:prstGeom prst="ellipse">
            <a:avLst/>
          </a:prstGeom>
          <a:solidFill>
            <a:srgbClr val="1E2761"/>
          </a:solidFill>
          <a:ln/>
        </p:spPr>
      </p:sp>
      <p:pic>
        <p:nvPicPr>
          <p:cNvPr id="9" name="Image 0" descr="preencoded.png">    </p:cNvPr>
          <p:cNvPicPr>
            <a:picLocks noChangeAspect="1"/>
          </p:cNvPicPr>
          <p:nvPr/>
        </p:nvPicPr>
        <p:blipFill>
          <a:blip r:embed="rId1"/>
          <a:stretch>
            <a:fillRect/>
          </a:stretch>
        </p:blipFill>
        <p:spPr>
          <a:xfrm>
            <a:off x="1024128" y="2441448"/>
            <a:ext cx="292608" cy="292608"/>
          </a:xfrm>
          <a:prstGeom prst="rect">
            <a:avLst/>
          </a:prstGeom>
        </p:spPr>
      </p:pic>
      <p:sp>
        <p:nvSpPr>
          <p:cNvPr id="10" name="Text 7"/>
          <p:cNvSpPr/>
          <p:nvPr/>
        </p:nvSpPr>
        <p:spPr>
          <a:xfrm>
            <a:off x="877824" y="2971800"/>
            <a:ext cx="2194560" cy="310896"/>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Multi-team containment</a:t>
            </a:r>
            <a:endParaRPr lang="en-US" sz="1300" dirty="0"/>
          </a:p>
        </p:txBody>
      </p:sp>
      <p:sp>
        <p:nvSpPr>
          <p:cNvPr id="11" name="Text 8"/>
          <p:cNvSpPr/>
          <p:nvPr/>
        </p:nvSpPr>
        <p:spPr>
          <a:xfrm>
            <a:off x="877824" y="3264408"/>
            <a:ext cx="2194560" cy="310896"/>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Prevent any one project from monopolizing model capacity.</a:t>
            </a:r>
            <a:endParaRPr lang="en-US" sz="950" dirty="0"/>
          </a:p>
        </p:txBody>
      </p:sp>
      <p:sp>
        <p:nvSpPr>
          <p:cNvPr id="12" name="Shape 9"/>
          <p:cNvSpPr/>
          <p:nvPr/>
        </p:nvSpPr>
        <p:spPr>
          <a:xfrm>
            <a:off x="3456432" y="2057400"/>
            <a:ext cx="2615184" cy="155448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3" name="Shape 10"/>
          <p:cNvSpPr/>
          <p:nvPr/>
        </p:nvSpPr>
        <p:spPr>
          <a:xfrm>
            <a:off x="3456432" y="2057400"/>
            <a:ext cx="64008" cy="1554480"/>
          </a:xfrm>
          <a:prstGeom prst="rect">
            <a:avLst/>
          </a:prstGeom>
          <a:solidFill>
            <a:srgbClr val="4F86F7"/>
          </a:solidFill>
          <a:ln/>
        </p:spPr>
      </p:sp>
      <p:sp>
        <p:nvSpPr>
          <p:cNvPr id="14" name="Shape 11"/>
          <p:cNvSpPr/>
          <p:nvPr/>
        </p:nvSpPr>
        <p:spPr>
          <a:xfrm>
            <a:off x="3675888" y="2295144"/>
            <a:ext cx="585216" cy="585216"/>
          </a:xfrm>
          <a:prstGeom prst="ellipse">
            <a:avLst/>
          </a:prstGeom>
          <a:solidFill>
            <a:srgbClr val="1E2761"/>
          </a:solidFill>
          <a:ln/>
        </p:spPr>
      </p:sp>
      <p:pic>
        <p:nvPicPr>
          <p:cNvPr id="15" name="Image 1" descr="preencoded.png">    </p:cNvPr>
          <p:cNvPicPr>
            <a:picLocks noChangeAspect="1"/>
          </p:cNvPicPr>
          <p:nvPr/>
        </p:nvPicPr>
        <p:blipFill>
          <a:blip r:embed="rId2"/>
          <a:stretch>
            <a:fillRect/>
          </a:stretch>
        </p:blipFill>
        <p:spPr>
          <a:xfrm>
            <a:off x="3822192" y="2441448"/>
            <a:ext cx="292608" cy="292608"/>
          </a:xfrm>
          <a:prstGeom prst="rect">
            <a:avLst/>
          </a:prstGeom>
        </p:spPr>
      </p:pic>
      <p:sp>
        <p:nvSpPr>
          <p:cNvPr id="16" name="Text 12"/>
          <p:cNvSpPr/>
          <p:nvPr/>
        </p:nvSpPr>
        <p:spPr>
          <a:xfrm>
            <a:off x="3675888" y="2971800"/>
            <a:ext cx="2194560" cy="310896"/>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Cost control</a:t>
            </a:r>
            <a:endParaRPr lang="en-US" sz="1300" dirty="0"/>
          </a:p>
        </p:txBody>
      </p:sp>
      <p:sp>
        <p:nvSpPr>
          <p:cNvPr id="17" name="Text 13"/>
          <p:cNvSpPr/>
          <p:nvPr/>
        </p:nvSpPr>
        <p:spPr>
          <a:xfrm>
            <a:off x="3675888" y="3264408"/>
            <a:ext cx="2194560" cy="310896"/>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Cap aggregate usage to keep the AI bill predictable.</a:t>
            </a:r>
            <a:endParaRPr lang="en-US" sz="950" dirty="0"/>
          </a:p>
        </p:txBody>
      </p:sp>
      <p:sp>
        <p:nvSpPr>
          <p:cNvPr id="18" name="Shape 14"/>
          <p:cNvSpPr/>
          <p:nvPr/>
        </p:nvSpPr>
        <p:spPr>
          <a:xfrm>
            <a:off x="6254496" y="2057400"/>
            <a:ext cx="2615184" cy="155448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9" name="Shape 15"/>
          <p:cNvSpPr/>
          <p:nvPr/>
        </p:nvSpPr>
        <p:spPr>
          <a:xfrm>
            <a:off x="6254496" y="2057400"/>
            <a:ext cx="64008" cy="1554480"/>
          </a:xfrm>
          <a:prstGeom prst="rect">
            <a:avLst/>
          </a:prstGeom>
          <a:solidFill>
            <a:srgbClr val="4F86F7"/>
          </a:solidFill>
          <a:ln/>
        </p:spPr>
      </p:sp>
      <p:sp>
        <p:nvSpPr>
          <p:cNvPr id="20" name="Shape 16"/>
          <p:cNvSpPr/>
          <p:nvPr/>
        </p:nvSpPr>
        <p:spPr>
          <a:xfrm>
            <a:off x="6473952" y="2295144"/>
            <a:ext cx="585216" cy="585216"/>
          </a:xfrm>
          <a:prstGeom prst="ellipse">
            <a:avLst/>
          </a:prstGeom>
          <a:solidFill>
            <a:srgbClr val="1E2761"/>
          </a:solidFill>
          <a:ln/>
        </p:spPr>
      </p:sp>
      <p:pic>
        <p:nvPicPr>
          <p:cNvPr id="21" name="Image 2" descr="preencoded.png">    </p:cNvPr>
          <p:cNvPicPr>
            <a:picLocks noChangeAspect="1"/>
          </p:cNvPicPr>
          <p:nvPr/>
        </p:nvPicPr>
        <p:blipFill>
          <a:blip r:embed="rId3"/>
          <a:stretch>
            <a:fillRect/>
          </a:stretch>
        </p:blipFill>
        <p:spPr>
          <a:xfrm>
            <a:off x="6620256" y="2441448"/>
            <a:ext cx="292608" cy="292608"/>
          </a:xfrm>
          <a:prstGeom prst="rect">
            <a:avLst/>
          </a:prstGeom>
        </p:spPr>
      </p:pic>
      <p:sp>
        <p:nvSpPr>
          <p:cNvPr id="22" name="Text 17"/>
          <p:cNvSpPr/>
          <p:nvPr/>
        </p:nvSpPr>
        <p:spPr>
          <a:xfrm>
            <a:off x="6473952" y="2971800"/>
            <a:ext cx="2194560" cy="310896"/>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Compliance boundaries</a:t>
            </a:r>
            <a:endParaRPr lang="en-US" sz="1300" dirty="0"/>
          </a:p>
        </p:txBody>
      </p:sp>
      <p:sp>
        <p:nvSpPr>
          <p:cNvPr id="23" name="Text 18"/>
          <p:cNvSpPr/>
          <p:nvPr/>
        </p:nvSpPr>
        <p:spPr>
          <a:xfrm>
            <a:off x="6473952" y="3264408"/>
            <a:ext cx="2194560" cy="310896"/>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Enforce usage ceilings for regulated workloads.</a:t>
            </a:r>
            <a:endParaRPr lang="en-US" sz="950" dirty="0"/>
          </a:p>
        </p:txBody>
      </p:sp>
      <p:sp>
        <p:nvSpPr>
          <p:cNvPr id="24" name="Text 19"/>
          <p:cNvSpPr/>
          <p:nvPr/>
        </p:nvSpPr>
        <p:spPr>
          <a:xfrm>
            <a:off x="658368" y="3886200"/>
            <a:ext cx="7827264" cy="365760"/>
          </a:xfrm>
          <a:prstGeom prst="rect">
            <a:avLst/>
          </a:prstGeom>
          <a:noFill/>
          <a:ln/>
        </p:spPr>
        <p:txBody>
          <a:bodyPr wrap="square" lIns="0" tIns="0" rIns="0" bIns="0" rtlCol="0" anchor="ctr"/>
          <a:lstStyle/>
          <a:p>
            <a:pPr indent="0" marL="0">
              <a:buNone/>
            </a:pPr>
            <a:r>
              <a:rPr lang="en-US" sz="1150" b="1" i="1" dirty="0">
                <a:solidFill>
                  <a:srgbClr val="1E2761"/>
                </a:solidFill>
                <a:latin typeface="Calibri" pitchFamily="34" charset="0"/>
                <a:ea typeface="Calibri" pitchFamily="34" charset="-122"/>
                <a:cs typeface="Calibri" pitchFamily="34" charset="-120"/>
              </a:rPr>
              <a:t>Result:  </a:t>
            </a:r>
            <a:pPr indent="0" marL="0">
              <a:buNone/>
            </a:pPr>
            <a:r>
              <a:rPr lang="en-US" sz="1150" i="1" dirty="0">
                <a:solidFill>
                  <a:srgbClr val="5A6781"/>
                </a:solidFill>
                <a:latin typeface="Calibri" pitchFamily="34" charset="0"/>
                <a:ea typeface="Calibri" pitchFamily="34" charset="-122"/>
                <a:cs typeface="Calibri" pitchFamily="34" charset="-120"/>
              </a:rPr>
              <a:t>an itemized, defensible AI bill per project — enforced at the gateway, not reconciled after the fact.</a:t>
            </a:r>
            <a:endParaRPr lang="en-US" sz="1150" dirty="0"/>
          </a:p>
        </p:txBody>
      </p:sp>
      <p:sp>
        <p:nvSpPr>
          <p:cNvPr id="25" name="Text 20"/>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26" name="Text 21"/>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Traces, logs &amp; metrics</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VERIFY THE GATEWAY IS DOING ITS JOB</a:t>
            </a:r>
            <a:endParaRPr lang="en-US" sz="1150" dirty="0"/>
          </a:p>
        </p:txBody>
      </p:sp>
      <p:sp>
        <p:nvSpPr>
          <p:cNvPr id="5" name="Text 3"/>
          <p:cNvSpPr/>
          <p:nvPr/>
        </p:nvSpPr>
        <p:spPr>
          <a:xfrm>
            <a:off x="658368" y="1234440"/>
            <a:ext cx="7772400" cy="640080"/>
          </a:xfrm>
          <a:prstGeom prst="rect">
            <a:avLst/>
          </a:prstGeom>
          <a:noFill/>
          <a:ln/>
        </p:spPr>
        <p:txBody>
          <a:bodyPr wrap="square" lIns="0" tIns="0" rIns="0" bIns="0" rtlCol="0" anchor="ctr"/>
          <a:lstStyle/>
          <a:p>
            <a:pPr indent="0" marL="0">
              <a:buNone/>
            </a:pPr>
            <a:r>
              <a:rPr lang="en-US" sz="1250" dirty="0">
                <a:solidFill>
                  <a:srgbClr val="1B2447"/>
                </a:solidFill>
                <a:latin typeface="Calibri" pitchFamily="34" charset="0"/>
                <a:ea typeface="Calibri" pitchFamily="34" charset="-122"/>
                <a:cs typeface="Calibri" pitchFamily="34" charset="-120"/>
              </a:rPr>
              <a:t>Confirm traffic is flowing through the gateway and policies apply. Use API Management metrics and logs for gateway traffic, and your MCP server logs for tool-level detail.</a:t>
            </a:r>
            <a:endParaRPr lang="en-US" sz="1250" dirty="0"/>
          </a:p>
        </p:txBody>
      </p:sp>
      <p:sp>
        <p:nvSpPr>
          <p:cNvPr id="6" name="Shape 4"/>
          <p:cNvSpPr/>
          <p:nvPr/>
        </p:nvSpPr>
        <p:spPr>
          <a:xfrm>
            <a:off x="658368" y="2011680"/>
            <a:ext cx="2615184" cy="132588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658368" y="2011680"/>
            <a:ext cx="64008" cy="1325880"/>
          </a:xfrm>
          <a:prstGeom prst="rect">
            <a:avLst/>
          </a:prstGeom>
          <a:solidFill>
            <a:srgbClr val="4F86F7"/>
          </a:solidFill>
          <a:ln/>
        </p:spPr>
      </p:sp>
      <p:pic>
        <p:nvPicPr>
          <p:cNvPr id="8" name="Image 0" descr="preencoded.png">    </p:cNvPr>
          <p:cNvPicPr>
            <a:picLocks noChangeAspect="1"/>
          </p:cNvPicPr>
          <p:nvPr/>
        </p:nvPicPr>
        <p:blipFill>
          <a:blip r:embed="rId1"/>
          <a:stretch>
            <a:fillRect/>
          </a:stretch>
        </p:blipFill>
        <p:spPr>
          <a:xfrm>
            <a:off x="877824" y="2249424"/>
            <a:ext cx="347472" cy="347472"/>
          </a:xfrm>
          <a:prstGeom prst="rect">
            <a:avLst/>
          </a:prstGeom>
        </p:spPr>
      </p:pic>
      <p:sp>
        <p:nvSpPr>
          <p:cNvPr id="9" name="Text 6"/>
          <p:cNvSpPr/>
          <p:nvPr/>
        </p:nvSpPr>
        <p:spPr>
          <a:xfrm>
            <a:off x="1335024" y="2212848"/>
            <a:ext cx="1792224" cy="292608"/>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Metrics</a:t>
            </a:r>
            <a:endParaRPr lang="en-US" sz="1350" dirty="0"/>
          </a:p>
        </p:txBody>
      </p:sp>
      <p:sp>
        <p:nvSpPr>
          <p:cNvPr id="10" name="Text 7"/>
          <p:cNvSpPr/>
          <p:nvPr/>
        </p:nvSpPr>
        <p:spPr>
          <a:xfrm>
            <a:off x="896112" y="2651760"/>
            <a:ext cx="2157984" cy="603504"/>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Monitoring › Metrics › Requests — the count increments on each call.</a:t>
            </a:r>
            <a:endParaRPr lang="en-US" sz="950" dirty="0"/>
          </a:p>
        </p:txBody>
      </p:sp>
      <p:sp>
        <p:nvSpPr>
          <p:cNvPr id="11" name="Shape 8"/>
          <p:cNvSpPr/>
          <p:nvPr/>
        </p:nvSpPr>
        <p:spPr>
          <a:xfrm>
            <a:off x="3456432" y="2011680"/>
            <a:ext cx="2615184" cy="132588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2" name="Shape 9"/>
          <p:cNvSpPr/>
          <p:nvPr/>
        </p:nvSpPr>
        <p:spPr>
          <a:xfrm>
            <a:off x="3456432" y="2011680"/>
            <a:ext cx="64008" cy="1325880"/>
          </a:xfrm>
          <a:prstGeom prst="rect">
            <a:avLst/>
          </a:prstGeom>
          <a:solidFill>
            <a:srgbClr val="4F86F7"/>
          </a:solidFill>
          <a:ln/>
        </p:spPr>
      </p:sp>
      <p:pic>
        <p:nvPicPr>
          <p:cNvPr id="13" name="Image 1" descr="preencoded.png">    </p:cNvPr>
          <p:cNvPicPr>
            <a:picLocks noChangeAspect="1"/>
          </p:cNvPicPr>
          <p:nvPr/>
        </p:nvPicPr>
        <p:blipFill>
          <a:blip r:embed="rId2"/>
          <a:stretch>
            <a:fillRect/>
          </a:stretch>
        </p:blipFill>
        <p:spPr>
          <a:xfrm>
            <a:off x="3675888" y="2249424"/>
            <a:ext cx="347472" cy="347472"/>
          </a:xfrm>
          <a:prstGeom prst="rect">
            <a:avLst/>
          </a:prstGeom>
        </p:spPr>
      </p:pic>
      <p:sp>
        <p:nvSpPr>
          <p:cNvPr id="14" name="Text 10"/>
          <p:cNvSpPr/>
          <p:nvPr/>
        </p:nvSpPr>
        <p:spPr>
          <a:xfrm>
            <a:off x="4133088" y="2212848"/>
            <a:ext cx="1792224" cy="292608"/>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Gateway logs</a:t>
            </a:r>
            <a:endParaRPr lang="en-US" sz="1350" dirty="0"/>
          </a:p>
        </p:txBody>
      </p:sp>
      <p:sp>
        <p:nvSpPr>
          <p:cNvPr id="15" name="Text 11"/>
          <p:cNvSpPr/>
          <p:nvPr/>
        </p:nvSpPr>
        <p:spPr>
          <a:xfrm>
            <a:off x="3694176" y="2651760"/>
            <a:ext cx="2157984" cy="603504"/>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Monitoring › Logs › GatewayLogs — look for 200s and your API name.</a:t>
            </a:r>
            <a:endParaRPr lang="en-US" sz="950" dirty="0"/>
          </a:p>
        </p:txBody>
      </p:sp>
      <p:sp>
        <p:nvSpPr>
          <p:cNvPr id="16" name="Shape 12"/>
          <p:cNvSpPr/>
          <p:nvPr/>
        </p:nvSpPr>
        <p:spPr>
          <a:xfrm>
            <a:off x="6254496" y="2011680"/>
            <a:ext cx="2615184" cy="132588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7" name="Shape 13"/>
          <p:cNvSpPr/>
          <p:nvPr/>
        </p:nvSpPr>
        <p:spPr>
          <a:xfrm>
            <a:off x="6254496" y="2011680"/>
            <a:ext cx="64008" cy="1325880"/>
          </a:xfrm>
          <a:prstGeom prst="rect">
            <a:avLst/>
          </a:prstGeom>
          <a:solidFill>
            <a:srgbClr val="4F86F7"/>
          </a:solidFill>
          <a:ln/>
        </p:spPr>
      </p:sp>
      <p:pic>
        <p:nvPicPr>
          <p:cNvPr id="18" name="Image 2" descr="preencoded.png">    </p:cNvPr>
          <p:cNvPicPr>
            <a:picLocks noChangeAspect="1"/>
          </p:cNvPicPr>
          <p:nvPr/>
        </p:nvPicPr>
        <p:blipFill>
          <a:blip r:embed="rId3"/>
          <a:stretch>
            <a:fillRect/>
          </a:stretch>
        </p:blipFill>
        <p:spPr>
          <a:xfrm>
            <a:off x="6473952" y="2249424"/>
            <a:ext cx="347472" cy="347472"/>
          </a:xfrm>
          <a:prstGeom prst="rect">
            <a:avLst/>
          </a:prstGeom>
        </p:spPr>
      </p:pic>
      <p:sp>
        <p:nvSpPr>
          <p:cNvPr id="19" name="Text 14"/>
          <p:cNvSpPr/>
          <p:nvPr/>
        </p:nvSpPr>
        <p:spPr>
          <a:xfrm>
            <a:off x="6931152" y="2212848"/>
            <a:ext cx="1792224" cy="292608"/>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Limit checks</a:t>
            </a:r>
            <a:endParaRPr lang="en-US" sz="1350" dirty="0"/>
          </a:p>
        </p:txBody>
      </p:sp>
      <p:sp>
        <p:nvSpPr>
          <p:cNvPr id="20" name="Text 15"/>
          <p:cNvSpPr/>
          <p:nvPr/>
        </p:nvSpPr>
        <p:spPr>
          <a:xfrm>
            <a:off x="6492240" y="2651760"/>
            <a:ext cx="2157984" cy="603504"/>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Send a request over the limit and confirm a 429 response.</a:t>
            </a:r>
            <a:endParaRPr lang="en-US" sz="950" dirty="0"/>
          </a:p>
        </p:txBody>
      </p:sp>
      <p:sp>
        <p:nvSpPr>
          <p:cNvPr id="21" name="Shape 16"/>
          <p:cNvSpPr/>
          <p:nvPr/>
        </p:nvSpPr>
        <p:spPr>
          <a:xfrm>
            <a:off x="658368" y="3611880"/>
            <a:ext cx="7827264" cy="868680"/>
          </a:xfrm>
          <a:prstGeom prst="rect">
            <a:avLst/>
          </a:prstGeom>
          <a:solidFill>
            <a:srgbClr val="1E2761"/>
          </a:solidFill>
          <a:ln/>
        </p:spPr>
      </p:sp>
      <p:pic>
        <p:nvPicPr>
          <p:cNvPr id="22" name="Image 3" descr="preencoded.png">    </p:cNvPr>
          <p:cNvPicPr>
            <a:picLocks noChangeAspect="1"/>
          </p:cNvPicPr>
          <p:nvPr/>
        </p:nvPicPr>
        <p:blipFill>
          <a:blip r:embed="rId4"/>
          <a:stretch>
            <a:fillRect/>
          </a:stretch>
        </p:blipFill>
        <p:spPr>
          <a:xfrm>
            <a:off x="896112" y="3858768"/>
            <a:ext cx="365760" cy="365760"/>
          </a:xfrm>
          <a:prstGeom prst="rect">
            <a:avLst/>
          </a:prstGeom>
        </p:spPr>
      </p:pic>
      <p:sp>
        <p:nvSpPr>
          <p:cNvPr id="23" name="Text 17"/>
          <p:cNvSpPr/>
          <p:nvPr/>
        </p:nvSpPr>
        <p:spPr>
          <a:xfrm>
            <a:off x="1417320" y="3611880"/>
            <a:ext cx="6903720" cy="868680"/>
          </a:xfrm>
          <a:prstGeom prst="rect">
            <a:avLst/>
          </a:prstGeom>
          <a:noFill/>
          <a:ln/>
        </p:spPr>
        <p:txBody>
          <a:bodyPr wrap="square" lIns="0" tIns="0" rIns="0" bIns="0" rtlCol="0" anchor="ctr"/>
          <a:lstStyle/>
          <a:p>
            <a:pPr indent="0" marL="0">
              <a:buNone/>
            </a:pPr>
            <a:r>
              <a:rPr lang="en-US" sz="1200" b="1" dirty="0">
                <a:solidFill>
                  <a:srgbClr val="F5B841"/>
                </a:solidFill>
                <a:latin typeface="Calibri" pitchFamily="34" charset="0"/>
                <a:ea typeface="Calibri" pitchFamily="34" charset="-122"/>
                <a:cs typeface="Calibri" pitchFamily="34" charset="-120"/>
              </a:rPr>
              <a:t>Note:  </a:t>
            </a:r>
            <a:pPr indent="0" marL="0">
              <a:buNone/>
            </a:pPr>
            <a:r>
              <a:rPr lang="en-US" sz="1200" dirty="0">
                <a:solidFill>
                  <a:srgbClr val="CADCFC"/>
                </a:solidFill>
                <a:latin typeface="Calibri" pitchFamily="34" charset="0"/>
                <a:ea typeface="Calibri" pitchFamily="34" charset="-122"/>
                <a:cs typeface="Calibri" pitchFamily="34" charset="-120"/>
              </a:rPr>
              <a:t>AI gateways don't log tool traces. Use API Management logging and metrics for gateway traffic, and your MCP server's own logs for tool-level details.</a:t>
            </a:r>
            <a:endParaRPr lang="en-US" sz="1200" dirty="0"/>
          </a:p>
        </p:txBody>
      </p:sp>
      <p:sp>
        <p:nvSpPr>
          <p:cNvPr id="24" name="Text 18"/>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25" name="Text 19"/>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B841"/>
          </a:solidFill>
          <a:ln/>
        </p:spPr>
      </p:sp>
      <p:sp>
        <p:nvSpPr>
          <p:cNvPr id="3" name="Text 1"/>
          <p:cNvSpPr/>
          <p:nvPr/>
        </p:nvSpPr>
        <p:spPr>
          <a:xfrm>
            <a:off x="731520" y="1371600"/>
            <a:ext cx="2743200" cy="1463040"/>
          </a:xfrm>
          <a:prstGeom prst="rect">
            <a:avLst/>
          </a:prstGeom>
          <a:noFill/>
          <a:ln/>
        </p:spPr>
        <p:txBody>
          <a:bodyPr wrap="square" lIns="0" tIns="0" rIns="0" bIns="0" rtlCol="0" anchor="ctr"/>
          <a:lstStyle/>
          <a:p>
            <a:pPr indent="0" marL="0">
              <a:buNone/>
            </a:pPr>
            <a:r>
              <a:rPr lang="en-US" sz="9600" b="1" dirty="0">
                <a:solidFill>
                  <a:srgbClr val="2C376E"/>
                </a:solidFill>
                <a:latin typeface="Georgia" pitchFamily="34" charset="0"/>
                <a:ea typeface="Georgia" pitchFamily="34" charset="-122"/>
                <a:cs typeface="Georgia" pitchFamily="34" charset="-120"/>
              </a:rPr>
              <a:t>03</a:t>
            </a:r>
            <a:endParaRPr lang="en-US" sz="9600" dirty="0"/>
          </a:p>
        </p:txBody>
      </p:sp>
      <p:sp>
        <p:nvSpPr>
          <p:cNvPr id="4" name="Text 2"/>
          <p:cNvSpPr/>
          <p:nvPr/>
        </p:nvSpPr>
        <p:spPr>
          <a:xfrm>
            <a:off x="777240" y="2743200"/>
            <a:ext cx="7132320" cy="77724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Agents, tools &amp; MCP</a:t>
            </a:r>
            <a:endParaRPr lang="en-US" sz="3600" dirty="0"/>
          </a:p>
        </p:txBody>
      </p:sp>
      <p:sp>
        <p:nvSpPr>
          <p:cNvPr id="5" name="Text 3"/>
          <p:cNvSpPr/>
          <p:nvPr/>
        </p:nvSpPr>
        <p:spPr>
          <a:xfrm>
            <a:off x="804672" y="3520440"/>
            <a:ext cx="6766560" cy="6400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Register agents and tools that run anywhere into one governed Foundry inventory.</a:t>
            </a:r>
            <a:endParaRPr lang="en-US" sz="1400" dirty="0"/>
          </a:p>
        </p:txBody>
      </p:sp>
      <p:sp>
        <p:nvSpPr>
          <p:cNvPr id="6" name="Shape 4"/>
          <p:cNvSpPr/>
          <p:nvPr/>
        </p:nvSpPr>
        <p:spPr>
          <a:xfrm>
            <a:off x="7223760" y="1463040"/>
            <a:ext cx="1188720" cy="1188720"/>
          </a:xfrm>
          <a:prstGeom prst="ellipse">
            <a:avLst/>
          </a:prstGeom>
          <a:solidFill>
            <a:srgbClr val="2C376E"/>
          </a:solidFill>
          <a:ln/>
        </p:spPr>
      </p:sp>
      <p:pic>
        <p:nvPicPr>
          <p:cNvPr id="7" name="Image 0" descr="preencoded.png">    </p:cNvPr>
          <p:cNvPicPr>
            <a:picLocks noChangeAspect="1"/>
          </p:cNvPicPr>
          <p:nvPr/>
        </p:nvPicPr>
        <p:blipFill>
          <a:blip r:embed="rId1"/>
          <a:stretch>
            <a:fillRect/>
          </a:stretch>
        </p:blipFill>
        <p:spPr>
          <a:xfrm>
            <a:off x="7607808" y="1847088"/>
            <a:ext cx="420624" cy="420624"/>
          </a:xfrm>
          <a:prstGeom prst="rect">
            <a:avLst/>
          </a:prstGeom>
        </p:spPr>
      </p:pic>
      <p:sp>
        <p:nvSpPr>
          <p:cNvPr id="8" name="Text 5"/>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8893B8"/>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Models &amp; agents through the gateway</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GOVERN BUILDING BLOCKS THAT RUN ANYWHERE</a:t>
            </a:r>
            <a:endParaRPr lang="en-US" sz="1150" dirty="0"/>
          </a:p>
        </p:txBody>
      </p:sp>
      <p:sp>
        <p:nvSpPr>
          <p:cNvPr id="5" name="Text 3"/>
          <p:cNvSpPr/>
          <p:nvPr/>
        </p:nvSpPr>
        <p:spPr>
          <a:xfrm>
            <a:off x="658368" y="1234440"/>
            <a:ext cx="7772400" cy="822960"/>
          </a:xfrm>
          <a:prstGeom prst="rect">
            <a:avLst/>
          </a:prstGeom>
          <a:noFill/>
          <a:ln/>
        </p:spPr>
        <p:txBody>
          <a:bodyPr wrap="square" lIns="0" tIns="0" rIns="0" bIns="0" rtlCol="0" anchor="ctr"/>
          <a:lstStyle/>
          <a:p>
            <a:pPr indent="0" marL="0">
              <a:buNone/>
            </a:pPr>
            <a:r>
              <a:rPr lang="en-US" sz="1250" dirty="0">
                <a:solidFill>
                  <a:srgbClr val="1B2447"/>
                </a:solidFill>
                <a:latin typeface="Calibri" pitchFamily="34" charset="0"/>
                <a:ea typeface="Calibri" pitchFamily="34" charset="-122"/>
                <a:cs typeface="Calibri" pitchFamily="34" charset="-120"/>
              </a:rPr>
              <a:t>Models in enabled projects are governed automatically. Custom agents running on Azure, other clouds or on-premises can be registered into the Foundry control plane — Foundry generates a new gateway URL that clients use to reach them.</a:t>
            </a:r>
            <a:endParaRPr lang="en-US" sz="1250" dirty="0"/>
          </a:p>
        </p:txBody>
      </p:sp>
      <p:sp>
        <p:nvSpPr>
          <p:cNvPr id="6" name="Shape 4"/>
          <p:cNvSpPr/>
          <p:nvPr/>
        </p:nvSpPr>
        <p:spPr>
          <a:xfrm>
            <a:off x="658368" y="2286000"/>
            <a:ext cx="1828800" cy="1234440"/>
          </a:xfrm>
          <a:prstGeom prst="roundRect">
            <a:avLst>
              <a:gd name="adj" fmla="val 5926"/>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1380744" y="2395728"/>
            <a:ext cx="384048" cy="384048"/>
          </a:xfrm>
          <a:prstGeom prst="rect">
            <a:avLst/>
          </a:prstGeom>
        </p:spPr>
      </p:pic>
      <p:sp>
        <p:nvSpPr>
          <p:cNvPr id="8" name="Text 5"/>
          <p:cNvSpPr/>
          <p:nvPr/>
        </p:nvSpPr>
        <p:spPr>
          <a:xfrm>
            <a:off x="713232" y="2852928"/>
            <a:ext cx="1719072" cy="310896"/>
          </a:xfrm>
          <a:prstGeom prst="rect">
            <a:avLst/>
          </a:prstGeom>
          <a:noFill/>
          <a:ln/>
        </p:spPr>
        <p:txBody>
          <a:bodyPr wrap="square" lIns="0" tIns="0" rIns="0" bIns="0" rtlCol="0" anchor="ctr"/>
          <a:lstStyle/>
          <a:p>
            <a:pPr algn="ctr" indent="0" marL="0">
              <a:buNone/>
            </a:pPr>
            <a:r>
              <a:rPr lang="en-US" sz="1300" b="1" dirty="0">
                <a:solidFill>
                  <a:srgbClr val="1B2447"/>
                </a:solidFill>
                <a:latin typeface="Georgia" pitchFamily="34" charset="0"/>
                <a:ea typeface="Georgia" pitchFamily="34" charset="-122"/>
                <a:cs typeface="Georgia" pitchFamily="34" charset="-120"/>
              </a:rPr>
              <a:t>Agent anywhere</a:t>
            </a:r>
            <a:endParaRPr lang="en-US" sz="1300" dirty="0"/>
          </a:p>
        </p:txBody>
      </p:sp>
      <p:sp>
        <p:nvSpPr>
          <p:cNvPr id="9" name="Text 6"/>
          <p:cNvSpPr/>
          <p:nvPr/>
        </p:nvSpPr>
        <p:spPr>
          <a:xfrm>
            <a:off x="731520" y="3163824"/>
            <a:ext cx="1682496" cy="301752"/>
          </a:xfrm>
          <a:prstGeom prst="rect">
            <a:avLst/>
          </a:prstGeom>
          <a:noFill/>
          <a:ln/>
        </p:spPr>
        <p:txBody>
          <a:bodyPr wrap="square" lIns="0" tIns="0" rIns="0" bIns="0" rtlCol="0" anchor="t"/>
          <a:lstStyle/>
          <a:p>
            <a:pPr algn="ctr" indent="0" marL="0">
              <a:buNone/>
            </a:pPr>
            <a:r>
              <a:rPr lang="en-US" sz="950" dirty="0">
                <a:solidFill>
                  <a:srgbClr val="5A6781"/>
                </a:solidFill>
                <a:latin typeface="Calibri" pitchFamily="34" charset="0"/>
                <a:ea typeface="Calibri" pitchFamily="34" charset="-122"/>
                <a:cs typeface="Calibri" pitchFamily="34" charset="-120"/>
              </a:rPr>
              <a:t>Azure · cloud · on-prem</a:t>
            </a:r>
            <a:endParaRPr lang="en-US" sz="950" dirty="0"/>
          </a:p>
        </p:txBody>
      </p:sp>
      <p:sp>
        <p:nvSpPr>
          <p:cNvPr id="10" name="Shape 7"/>
          <p:cNvSpPr/>
          <p:nvPr/>
        </p:nvSpPr>
        <p:spPr>
          <a:xfrm>
            <a:off x="2788920" y="2286000"/>
            <a:ext cx="1828800" cy="1234440"/>
          </a:xfrm>
          <a:prstGeom prst="roundRect">
            <a:avLst>
              <a:gd name="adj" fmla="val 5926"/>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3511296" y="2395728"/>
            <a:ext cx="384048" cy="384048"/>
          </a:xfrm>
          <a:prstGeom prst="rect">
            <a:avLst/>
          </a:prstGeom>
        </p:spPr>
      </p:pic>
      <p:sp>
        <p:nvSpPr>
          <p:cNvPr id="12" name="Text 8"/>
          <p:cNvSpPr/>
          <p:nvPr/>
        </p:nvSpPr>
        <p:spPr>
          <a:xfrm>
            <a:off x="2843784" y="2852928"/>
            <a:ext cx="1719072" cy="310896"/>
          </a:xfrm>
          <a:prstGeom prst="rect">
            <a:avLst/>
          </a:prstGeom>
          <a:noFill/>
          <a:ln/>
        </p:spPr>
        <p:txBody>
          <a:bodyPr wrap="square" lIns="0" tIns="0" rIns="0" bIns="0" rtlCol="0" anchor="ctr"/>
          <a:lstStyle/>
          <a:p>
            <a:pPr algn="ctr" indent="0" marL="0">
              <a:buNone/>
            </a:pPr>
            <a:r>
              <a:rPr lang="en-US" sz="1300" b="1" dirty="0">
                <a:solidFill>
                  <a:srgbClr val="1B2447"/>
                </a:solidFill>
                <a:latin typeface="Georgia" pitchFamily="34" charset="0"/>
                <a:ea typeface="Georgia" pitchFamily="34" charset="-122"/>
                <a:cs typeface="Georgia" pitchFamily="34" charset="-120"/>
              </a:rPr>
              <a:t>Register in Foundry</a:t>
            </a:r>
            <a:endParaRPr lang="en-US" sz="1300" dirty="0"/>
          </a:p>
        </p:txBody>
      </p:sp>
      <p:sp>
        <p:nvSpPr>
          <p:cNvPr id="13" name="Text 9"/>
          <p:cNvSpPr/>
          <p:nvPr/>
        </p:nvSpPr>
        <p:spPr>
          <a:xfrm>
            <a:off x="2862072" y="3163824"/>
            <a:ext cx="1682496" cy="301752"/>
          </a:xfrm>
          <a:prstGeom prst="rect">
            <a:avLst/>
          </a:prstGeom>
          <a:noFill/>
          <a:ln/>
        </p:spPr>
        <p:txBody>
          <a:bodyPr wrap="square" lIns="0" tIns="0" rIns="0" bIns="0" rtlCol="0" anchor="t"/>
          <a:lstStyle/>
          <a:p>
            <a:pPr algn="ctr" indent="0" marL="0">
              <a:buNone/>
            </a:pPr>
            <a:r>
              <a:rPr lang="en-US" sz="950" dirty="0">
                <a:solidFill>
                  <a:srgbClr val="5A6781"/>
                </a:solidFill>
                <a:latin typeface="Calibri" pitchFamily="34" charset="0"/>
                <a:ea typeface="Calibri" pitchFamily="34" charset="-122"/>
                <a:cs typeface="Calibri" pitchFamily="34" charset="-120"/>
              </a:rPr>
              <a:t>Control-plane inventory</a:t>
            </a:r>
            <a:endParaRPr lang="en-US" sz="950" dirty="0"/>
          </a:p>
        </p:txBody>
      </p:sp>
      <p:sp>
        <p:nvSpPr>
          <p:cNvPr id="14" name="Shape 10"/>
          <p:cNvSpPr/>
          <p:nvPr/>
        </p:nvSpPr>
        <p:spPr>
          <a:xfrm>
            <a:off x="4919472" y="2286000"/>
            <a:ext cx="1828800" cy="1234440"/>
          </a:xfrm>
          <a:prstGeom prst="roundRect">
            <a:avLst>
              <a:gd name="adj" fmla="val 5926"/>
            </a:avLst>
          </a:prstGeom>
          <a:solidFill>
            <a:srgbClr val="1E2761"/>
          </a:solidFill>
          <a:ln w="12700">
            <a:solidFill>
              <a:srgbClr val="1E2761"/>
            </a:solidFill>
            <a:prstDash val="solid"/>
          </a:ln>
          <a:effectLst>
            <a:outerShdw sx="100000" sy="100000" kx="0" ky="0" algn="bl" rotWithShape="0" blurRad="88900" dist="38100" dir="81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5641848" y="2395728"/>
            <a:ext cx="384048" cy="384048"/>
          </a:xfrm>
          <a:prstGeom prst="rect">
            <a:avLst/>
          </a:prstGeom>
        </p:spPr>
      </p:pic>
      <p:sp>
        <p:nvSpPr>
          <p:cNvPr id="16" name="Text 11"/>
          <p:cNvSpPr/>
          <p:nvPr/>
        </p:nvSpPr>
        <p:spPr>
          <a:xfrm>
            <a:off x="4974336" y="2852928"/>
            <a:ext cx="1719072"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AI Gateway</a:t>
            </a:r>
            <a:endParaRPr lang="en-US" sz="1300" dirty="0"/>
          </a:p>
        </p:txBody>
      </p:sp>
      <p:sp>
        <p:nvSpPr>
          <p:cNvPr id="17" name="Text 12"/>
          <p:cNvSpPr/>
          <p:nvPr/>
        </p:nvSpPr>
        <p:spPr>
          <a:xfrm>
            <a:off x="4992624" y="3163824"/>
            <a:ext cx="1682496" cy="301752"/>
          </a:xfrm>
          <a:prstGeom prst="rect">
            <a:avLst/>
          </a:prstGeom>
          <a:noFill/>
          <a:ln/>
        </p:spPr>
        <p:txBody>
          <a:bodyPr wrap="square" lIns="0" tIns="0" rIns="0" bIns="0" rtlCol="0" anchor="t"/>
          <a:lstStyle/>
          <a:p>
            <a:pPr algn="ctr" indent="0" marL="0">
              <a:buNone/>
            </a:pPr>
            <a:r>
              <a:rPr lang="en-US" sz="950" dirty="0">
                <a:solidFill>
                  <a:srgbClr val="CADCFC"/>
                </a:solidFill>
                <a:latin typeface="Calibri" pitchFamily="34" charset="0"/>
                <a:ea typeface="Calibri" pitchFamily="34" charset="-122"/>
                <a:cs typeface="Calibri" pitchFamily="34" charset="-120"/>
              </a:rPr>
              <a:t>New governed URL</a:t>
            </a:r>
            <a:endParaRPr lang="en-US" sz="950" dirty="0"/>
          </a:p>
        </p:txBody>
      </p:sp>
      <p:sp>
        <p:nvSpPr>
          <p:cNvPr id="18" name="Shape 13"/>
          <p:cNvSpPr/>
          <p:nvPr/>
        </p:nvSpPr>
        <p:spPr>
          <a:xfrm>
            <a:off x="7050024" y="2286000"/>
            <a:ext cx="1435608" cy="1234440"/>
          </a:xfrm>
          <a:prstGeom prst="roundRect">
            <a:avLst>
              <a:gd name="adj" fmla="val 5926"/>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19" name="Image 3" descr="preencoded.png">    </p:cNvPr>
          <p:cNvPicPr>
            <a:picLocks noChangeAspect="1"/>
          </p:cNvPicPr>
          <p:nvPr/>
        </p:nvPicPr>
        <p:blipFill>
          <a:blip r:embed="rId4"/>
          <a:stretch>
            <a:fillRect/>
          </a:stretch>
        </p:blipFill>
        <p:spPr>
          <a:xfrm>
            <a:off x="7575804" y="2395728"/>
            <a:ext cx="384048" cy="384048"/>
          </a:xfrm>
          <a:prstGeom prst="rect">
            <a:avLst/>
          </a:prstGeom>
        </p:spPr>
      </p:pic>
      <p:sp>
        <p:nvSpPr>
          <p:cNvPr id="20" name="Text 14"/>
          <p:cNvSpPr/>
          <p:nvPr/>
        </p:nvSpPr>
        <p:spPr>
          <a:xfrm>
            <a:off x="7104888" y="2852928"/>
            <a:ext cx="1325880" cy="310896"/>
          </a:xfrm>
          <a:prstGeom prst="rect">
            <a:avLst/>
          </a:prstGeom>
          <a:noFill/>
          <a:ln/>
        </p:spPr>
        <p:txBody>
          <a:bodyPr wrap="square" lIns="0" tIns="0" rIns="0" bIns="0" rtlCol="0" anchor="ctr"/>
          <a:lstStyle/>
          <a:p>
            <a:pPr algn="ctr" indent="0" marL="0">
              <a:buNone/>
            </a:pPr>
            <a:r>
              <a:rPr lang="en-US" sz="1300" b="1" dirty="0">
                <a:solidFill>
                  <a:srgbClr val="1B2447"/>
                </a:solidFill>
                <a:latin typeface="Georgia" pitchFamily="34" charset="0"/>
                <a:ea typeface="Georgia" pitchFamily="34" charset="-122"/>
                <a:cs typeface="Georgia" pitchFamily="34" charset="-120"/>
              </a:rPr>
              <a:t>Clients</a:t>
            </a:r>
            <a:endParaRPr lang="en-US" sz="1300" dirty="0"/>
          </a:p>
        </p:txBody>
      </p:sp>
      <p:sp>
        <p:nvSpPr>
          <p:cNvPr id="21" name="Text 15"/>
          <p:cNvSpPr/>
          <p:nvPr/>
        </p:nvSpPr>
        <p:spPr>
          <a:xfrm>
            <a:off x="7123176" y="3163824"/>
            <a:ext cx="1289304" cy="301752"/>
          </a:xfrm>
          <a:prstGeom prst="rect">
            <a:avLst/>
          </a:prstGeom>
          <a:noFill/>
          <a:ln/>
        </p:spPr>
        <p:txBody>
          <a:bodyPr wrap="square" lIns="0" tIns="0" rIns="0" bIns="0" rtlCol="0" anchor="t"/>
          <a:lstStyle/>
          <a:p>
            <a:pPr algn="ctr" indent="0" marL="0">
              <a:buNone/>
            </a:pPr>
            <a:r>
              <a:rPr lang="en-US" sz="950" dirty="0">
                <a:solidFill>
                  <a:srgbClr val="5A6781"/>
                </a:solidFill>
                <a:latin typeface="Calibri" pitchFamily="34" charset="0"/>
                <a:ea typeface="Calibri" pitchFamily="34" charset="-122"/>
                <a:cs typeface="Calibri" pitchFamily="34" charset="-120"/>
              </a:rPr>
              <a:t>Call the new URL</a:t>
            </a:r>
            <a:endParaRPr lang="en-US" sz="950" dirty="0"/>
          </a:p>
        </p:txBody>
      </p:sp>
      <p:sp>
        <p:nvSpPr>
          <p:cNvPr id="22" name="Shape 16"/>
          <p:cNvSpPr/>
          <p:nvPr/>
        </p:nvSpPr>
        <p:spPr>
          <a:xfrm>
            <a:off x="2487168" y="2903220"/>
            <a:ext cx="274320" cy="0"/>
          </a:xfrm>
          <a:prstGeom prst="line">
            <a:avLst/>
          </a:prstGeom>
          <a:noFill/>
          <a:ln w="28575">
            <a:solidFill>
              <a:srgbClr val="4F86F7"/>
            </a:solidFill>
            <a:prstDash val="solid"/>
            <a:tailEnd type="triangle"/>
          </a:ln>
        </p:spPr>
      </p:sp>
      <p:sp>
        <p:nvSpPr>
          <p:cNvPr id="23" name="Shape 17"/>
          <p:cNvSpPr/>
          <p:nvPr/>
        </p:nvSpPr>
        <p:spPr>
          <a:xfrm>
            <a:off x="4617720" y="2903220"/>
            <a:ext cx="274320" cy="0"/>
          </a:xfrm>
          <a:prstGeom prst="line">
            <a:avLst/>
          </a:prstGeom>
          <a:noFill/>
          <a:ln w="28575">
            <a:solidFill>
              <a:srgbClr val="4F86F7"/>
            </a:solidFill>
            <a:prstDash val="solid"/>
            <a:tailEnd type="triangle"/>
          </a:ln>
        </p:spPr>
      </p:sp>
      <p:sp>
        <p:nvSpPr>
          <p:cNvPr id="24" name="Shape 18"/>
          <p:cNvSpPr/>
          <p:nvPr/>
        </p:nvSpPr>
        <p:spPr>
          <a:xfrm>
            <a:off x="6748272" y="2903220"/>
            <a:ext cx="274320" cy="0"/>
          </a:xfrm>
          <a:prstGeom prst="line">
            <a:avLst/>
          </a:prstGeom>
          <a:noFill/>
          <a:ln w="28575">
            <a:solidFill>
              <a:srgbClr val="4F86F7"/>
            </a:solidFill>
            <a:prstDash val="solid"/>
            <a:tailEnd type="triangle"/>
          </a:ln>
        </p:spPr>
      </p:sp>
      <p:sp>
        <p:nvSpPr>
          <p:cNvPr id="25" name="Shape 19"/>
          <p:cNvSpPr/>
          <p:nvPr/>
        </p:nvSpPr>
        <p:spPr>
          <a:xfrm>
            <a:off x="658368" y="3886200"/>
            <a:ext cx="7827264" cy="713232"/>
          </a:xfrm>
          <a:prstGeom prst="rect">
            <a:avLst/>
          </a:prstGeom>
          <a:solidFill>
            <a:srgbClr val="CADCFC"/>
          </a:solidFill>
          <a:ln/>
        </p:spPr>
      </p:sp>
      <p:pic>
        <p:nvPicPr>
          <p:cNvPr id="26" name="Image 4" descr="preencoded.png">    </p:cNvPr>
          <p:cNvPicPr>
            <a:picLocks noChangeAspect="1"/>
          </p:cNvPicPr>
          <p:nvPr/>
        </p:nvPicPr>
        <p:blipFill>
          <a:blip r:embed="rId5"/>
          <a:stretch>
            <a:fillRect/>
          </a:stretch>
        </p:blipFill>
        <p:spPr>
          <a:xfrm>
            <a:off x="868680" y="4078224"/>
            <a:ext cx="329184" cy="329184"/>
          </a:xfrm>
          <a:prstGeom prst="rect">
            <a:avLst/>
          </a:prstGeom>
        </p:spPr>
      </p:pic>
      <p:sp>
        <p:nvSpPr>
          <p:cNvPr id="27" name="Text 20"/>
          <p:cNvSpPr/>
          <p:nvPr/>
        </p:nvSpPr>
        <p:spPr>
          <a:xfrm>
            <a:off x="1325880" y="3886200"/>
            <a:ext cx="6949440" cy="7132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Centralized inventory and governance — with telemetry in Foundry or Application Insights, over HTTP or A2A.</a:t>
            </a:r>
            <a:endParaRPr lang="en-US" sz="1200" dirty="0"/>
          </a:p>
        </p:txBody>
      </p:sp>
      <p:sp>
        <p:nvSpPr>
          <p:cNvPr id="28" name="Text 21"/>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29" name="Text 22"/>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Govern tools &amp; MCP servers</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A SINGLE, GOVERNED ENTRY POINT FOR TOOL CALLS</a:t>
            </a:r>
            <a:endParaRPr lang="en-US" sz="1150" dirty="0"/>
          </a:p>
        </p:txBody>
      </p:sp>
      <p:sp>
        <p:nvSpPr>
          <p:cNvPr id="5" name="Text 3"/>
          <p:cNvSpPr/>
          <p:nvPr/>
        </p:nvSpPr>
        <p:spPr>
          <a:xfrm>
            <a:off x="658368" y="1234440"/>
            <a:ext cx="7772400" cy="777240"/>
          </a:xfrm>
          <a:prstGeom prst="rect">
            <a:avLst/>
          </a:prstGeom>
          <a:noFill/>
          <a:ln/>
        </p:spPr>
        <p:txBody>
          <a:bodyPr wrap="square" lIns="0" tIns="0" rIns="0" bIns="0" rtlCol="0" anchor="ctr"/>
          <a:lstStyle/>
          <a:p>
            <a:pPr indent="0" marL="0">
              <a:buNone/>
            </a:pPr>
            <a:r>
              <a:rPr lang="en-US" sz="1250" dirty="0">
                <a:solidFill>
                  <a:srgbClr val="1B2447"/>
                </a:solidFill>
                <a:latin typeface="Calibri" pitchFamily="34" charset="0"/>
                <a:ea typeface="Calibri" pitchFamily="34" charset="-122"/>
                <a:cs typeface="Calibri" pitchFamily="34" charset="-120"/>
              </a:rPr>
              <a:t>Register MCP tools hosted anywhere. New MCP tools created in the portal are routed through the gateway: their endpoint becomes an API Management URL, and you apply policy in the Azure portal.</a:t>
            </a:r>
            <a:endParaRPr lang="en-US" sz="1250" dirty="0"/>
          </a:p>
        </p:txBody>
      </p:sp>
      <p:sp>
        <p:nvSpPr>
          <p:cNvPr id="6" name="Shape 4"/>
          <p:cNvSpPr/>
          <p:nvPr/>
        </p:nvSpPr>
        <p:spPr>
          <a:xfrm>
            <a:off x="658368" y="2148840"/>
            <a:ext cx="2615184" cy="169164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7" name="Shape 5"/>
          <p:cNvSpPr/>
          <p:nvPr/>
        </p:nvSpPr>
        <p:spPr>
          <a:xfrm>
            <a:off x="658368" y="2148840"/>
            <a:ext cx="64008" cy="1691640"/>
          </a:xfrm>
          <a:prstGeom prst="rect">
            <a:avLst/>
          </a:prstGeom>
          <a:solidFill>
            <a:srgbClr val="4F86F7"/>
          </a:solidFill>
          <a:ln/>
        </p:spPr>
      </p:sp>
      <p:sp>
        <p:nvSpPr>
          <p:cNvPr id="8" name="Shape 6"/>
          <p:cNvSpPr/>
          <p:nvPr/>
        </p:nvSpPr>
        <p:spPr>
          <a:xfrm>
            <a:off x="877824" y="2386584"/>
            <a:ext cx="585216" cy="585216"/>
          </a:xfrm>
          <a:prstGeom prst="ellipse">
            <a:avLst/>
          </a:prstGeom>
          <a:solidFill>
            <a:srgbClr val="1E2761"/>
          </a:solidFill>
          <a:ln/>
        </p:spPr>
      </p:sp>
      <p:pic>
        <p:nvPicPr>
          <p:cNvPr id="9" name="Image 0" descr="preencoded.png">    </p:cNvPr>
          <p:cNvPicPr>
            <a:picLocks noChangeAspect="1"/>
          </p:cNvPicPr>
          <p:nvPr/>
        </p:nvPicPr>
        <p:blipFill>
          <a:blip r:embed="rId1"/>
          <a:stretch>
            <a:fillRect/>
          </a:stretch>
        </p:blipFill>
        <p:spPr>
          <a:xfrm>
            <a:off x="1024128" y="2532888"/>
            <a:ext cx="292608" cy="292608"/>
          </a:xfrm>
          <a:prstGeom prst="rect">
            <a:avLst/>
          </a:prstGeom>
        </p:spPr>
      </p:pic>
      <p:sp>
        <p:nvSpPr>
          <p:cNvPr id="10" name="Text 7"/>
          <p:cNvSpPr/>
          <p:nvPr/>
        </p:nvSpPr>
        <p:spPr>
          <a:xfrm>
            <a:off x="877824" y="3063240"/>
            <a:ext cx="2194560" cy="347472"/>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Routed by default</a:t>
            </a:r>
            <a:endParaRPr lang="en-US" sz="1350" dirty="0"/>
          </a:p>
        </p:txBody>
      </p:sp>
      <p:sp>
        <p:nvSpPr>
          <p:cNvPr id="11" name="Text 8"/>
          <p:cNvSpPr/>
          <p:nvPr/>
        </p:nvSpPr>
        <p:spPr>
          <a:xfrm>
            <a:off x="877824" y="3392424"/>
            <a:ext cx="2194560" cy="411480"/>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New MCP tools point at https://&lt;apim&gt;.azure-api.net/mcp/… instead of the raw server.</a:t>
            </a:r>
            <a:endParaRPr lang="en-US" sz="950" dirty="0"/>
          </a:p>
        </p:txBody>
      </p:sp>
      <p:sp>
        <p:nvSpPr>
          <p:cNvPr id="12" name="Shape 9"/>
          <p:cNvSpPr/>
          <p:nvPr/>
        </p:nvSpPr>
        <p:spPr>
          <a:xfrm>
            <a:off x="3456432" y="2148840"/>
            <a:ext cx="2615184" cy="169164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3" name="Shape 10"/>
          <p:cNvSpPr/>
          <p:nvPr/>
        </p:nvSpPr>
        <p:spPr>
          <a:xfrm>
            <a:off x="3456432" y="2148840"/>
            <a:ext cx="64008" cy="1691640"/>
          </a:xfrm>
          <a:prstGeom prst="rect">
            <a:avLst/>
          </a:prstGeom>
          <a:solidFill>
            <a:srgbClr val="4F86F7"/>
          </a:solidFill>
          <a:ln/>
        </p:spPr>
      </p:sp>
      <p:sp>
        <p:nvSpPr>
          <p:cNvPr id="14" name="Shape 11"/>
          <p:cNvSpPr/>
          <p:nvPr/>
        </p:nvSpPr>
        <p:spPr>
          <a:xfrm>
            <a:off x="3675888" y="2386584"/>
            <a:ext cx="585216" cy="585216"/>
          </a:xfrm>
          <a:prstGeom prst="ellipse">
            <a:avLst/>
          </a:prstGeom>
          <a:solidFill>
            <a:srgbClr val="1E2761"/>
          </a:solidFill>
          <a:ln/>
        </p:spPr>
      </p:sp>
      <p:pic>
        <p:nvPicPr>
          <p:cNvPr id="15" name="Image 1" descr="preencoded.png">    </p:cNvPr>
          <p:cNvPicPr>
            <a:picLocks noChangeAspect="1"/>
          </p:cNvPicPr>
          <p:nvPr/>
        </p:nvPicPr>
        <p:blipFill>
          <a:blip r:embed="rId2"/>
          <a:stretch>
            <a:fillRect/>
          </a:stretch>
        </p:blipFill>
        <p:spPr>
          <a:xfrm>
            <a:off x="3822192" y="2532888"/>
            <a:ext cx="292608" cy="292608"/>
          </a:xfrm>
          <a:prstGeom prst="rect">
            <a:avLst/>
          </a:prstGeom>
        </p:spPr>
      </p:pic>
      <p:sp>
        <p:nvSpPr>
          <p:cNvPr id="16" name="Text 12"/>
          <p:cNvSpPr/>
          <p:nvPr/>
        </p:nvSpPr>
        <p:spPr>
          <a:xfrm>
            <a:off x="3675888" y="3063240"/>
            <a:ext cx="2194560" cy="347472"/>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Consistent control</a:t>
            </a:r>
            <a:endParaRPr lang="en-US" sz="1350" dirty="0"/>
          </a:p>
        </p:txBody>
      </p:sp>
      <p:sp>
        <p:nvSpPr>
          <p:cNvPr id="17" name="Text 13"/>
          <p:cNvSpPr/>
          <p:nvPr/>
        </p:nvSpPr>
        <p:spPr>
          <a:xfrm>
            <a:off x="3675888" y="3392424"/>
            <a:ext cx="2194560" cy="411480"/>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Apply auth, rate limits, IP filters and audit logging without changing the MCP server.</a:t>
            </a:r>
            <a:endParaRPr lang="en-US" sz="950" dirty="0"/>
          </a:p>
        </p:txBody>
      </p:sp>
      <p:sp>
        <p:nvSpPr>
          <p:cNvPr id="18" name="Shape 14"/>
          <p:cNvSpPr/>
          <p:nvPr/>
        </p:nvSpPr>
        <p:spPr>
          <a:xfrm>
            <a:off x="6254496" y="2148840"/>
            <a:ext cx="2615184" cy="1691640"/>
          </a:xfrm>
          <a:prstGeom prst="rect">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sp>
        <p:nvSpPr>
          <p:cNvPr id="19" name="Shape 15"/>
          <p:cNvSpPr/>
          <p:nvPr/>
        </p:nvSpPr>
        <p:spPr>
          <a:xfrm>
            <a:off x="6254496" y="2148840"/>
            <a:ext cx="64008" cy="1691640"/>
          </a:xfrm>
          <a:prstGeom prst="rect">
            <a:avLst/>
          </a:prstGeom>
          <a:solidFill>
            <a:srgbClr val="4F86F7"/>
          </a:solidFill>
          <a:ln/>
        </p:spPr>
      </p:sp>
      <p:sp>
        <p:nvSpPr>
          <p:cNvPr id="20" name="Shape 16"/>
          <p:cNvSpPr/>
          <p:nvPr/>
        </p:nvSpPr>
        <p:spPr>
          <a:xfrm>
            <a:off x="6473952" y="2386584"/>
            <a:ext cx="585216" cy="585216"/>
          </a:xfrm>
          <a:prstGeom prst="ellipse">
            <a:avLst/>
          </a:prstGeom>
          <a:solidFill>
            <a:srgbClr val="1E2761"/>
          </a:solidFill>
          <a:ln/>
        </p:spPr>
      </p:sp>
      <p:pic>
        <p:nvPicPr>
          <p:cNvPr id="21" name="Image 2" descr="preencoded.png">    </p:cNvPr>
          <p:cNvPicPr>
            <a:picLocks noChangeAspect="1"/>
          </p:cNvPicPr>
          <p:nvPr/>
        </p:nvPicPr>
        <p:blipFill>
          <a:blip r:embed="rId3"/>
          <a:stretch>
            <a:fillRect/>
          </a:stretch>
        </p:blipFill>
        <p:spPr>
          <a:xfrm>
            <a:off x="6620256" y="2532888"/>
            <a:ext cx="292608" cy="292608"/>
          </a:xfrm>
          <a:prstGeom prst="rect">
            <a:avLst/>
          </a:prstGeom>
        </p:spPr>
      </p:pic>
      <p:sp>
        <p:nvSpPr>
          <p:cNvPr id="22" name="Text 17"/>
          <p:cNvSpPr/>
          <p:nvPr/>
        </p:nvSpPr>
        <p:spPr>
          <a:xfrm>
            <a:off x="6473952" y="3063240"/>
            <a:ext cx="2194560" cy="347472"/>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Discoverable inventory</a:t>
            </a:r>
            <a:endParaRPr lang="en-US" sz="1350" dirty="0"/>
          </a:p>
        </p:txBody>
      </p:sp>
      <p:sp>
        <p:nvSpPr>
          <p:cNvPr id="23" name="Text 18"/>
          <p:cNvSpPr/>
          <p:nvPr/>
        </p:nvSpPr>
        <p:spPr>
          <a:xfrm>
            <a:off x="6473952" y="3392424"/>
            <a:ext cx="2194560" cy="411480"/>
          </a:xfrm>
          <a:prstGeom prst="rect">
            <a:avLst/>
          </a:prstGeom>
          <a:noFill/>
          <a:ln/>
        </p:spPr>
        <p:txBody>
          <a:bodyPr wrap="square" lIns="0" tIns="0" rIns="0" bIns="0" rtlCol="0" anchor="ctr"/>
          <a:lstStyle/>
          <a:p>
            <a:pPr indent="0" marL="0">
              <a:buNone/>
            </a:pPr>
            <a:r>
              <a:rPr lang="en-US" sz="950" dirty="0">
                <a:solidFill>
                  <a:srgbClr val="5A6781"/>
                </a:solidFill>
                <a:latin typeface="Calibri" pitchFamily="34" charset="0"/>
                <a:ea typeface="Calibri" pitchFamily="34" charset="-122"/>
                <a:cs typeface="Calibri" pitchFamily="34" charset="-120"/>
              </a:rPr>
              <a:t>Governed tools appear in the Foundry catalog, ready for agents to consume.</a:t>
            </a:r>
            <a:endParaRPr lang="en-US" sz="950" dirty="0"/>
          </a:p>
        </p:txBody>
      </p:sp>
      <p:sp>
        <p:nvSpPr>
          <p:cNvPr id="24" name="Text 19"/>
          <p:cNvSpPr/>
          <p:nvPr/>
        </p:nvSpPr>
        <p:spPr>
          <a:xfrm>
            <a:off x="658368" y="4069080"/>
            <a:ext cx="7827264" cy="411480"/>
          </a:xfrm>
          <a:prstGeom prst="rect">
            <a:avLst/>
          </a:prstGeom>
          <a:noFill/>
          <a:ln/>
        </p:spPr>
        <p:txBody>
          <a:bodyPr wrap="square" lIns="0" tIns="0" rIns="0" bIns="0" rtlCol="0" anchor="ctr"/>
          <a:lstStyle/>
          <a:p>
            <a:pPr indent="0" marL="0">
              <a:buNone/>
            </a:pPr>
            <a:r>
              <a:rPr lang="en-US" sz="1050" i="1" dirty="0">
                <a:solidFill>
                  <a:srgbClr val="1E2761"/>
                </a:solidFill>
                <a:latin typeface="Calibri" pitchFamily="34" charset="0"/>
                <a:ea typeface="Calibri" pitchFamily="34" charset="-122"/>
                <a:cs typeface="Calibri" pitchFamily="34" charset="-120"/>
              </a:rPr>
              <a:t>Preview scope: routing applies at tool creation, to new MCP tools that don't use managed OAuth. Policies are applied in the Azure portal.</a:t>
            </a:r>
            <a:endParaRPr lang="en-US" sz="1050" dirty="0"/>
          </a:p>
        </p:txBody>
      </p:sp>
      <p:sp>
        <p:nvSpPr>
          <p:cNvPr id="25" name="Text 20"/>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26" name="Text 21"/>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One gateway across Foundry</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MODELS · AGENTS · TOOLS, UNIFIED</a:t>
            </a:r>
            <a:endParaRPr lang="en-US" sz="1150" dirty="0"/>
          </a:p>
        </p:txBody>
      </p:sp>
      <p:sp>
        <p:nvSpPr>
          <p:cNvPr id="5" name="Shape 3"/>
          <p:cNvSpPr/>
          <p:nvPr/>
        </p:nvSpPr>
        <p:spPr>
          <a:xfrm>
            <a:off x="3246120" y="2194560"/>
            <a:ext cx="2651760" cy="1097280"/>
          </a:xfrm>
          <a:prstGeom prst="roundRect">
            <a:avLst>
              <a:gd name="adj" fmla="val 8333"/>
            </a:avLst>
          </a:prstGeom>
          <a:solidFill>
            <a:srgbClr val="1E2761"/>
          </a:solidFill>
          <a:ln/>
          <a:effectLst>
            <a:outerShdw sx="100000" sy="100000" kx="0" ky="0" algn="bl" rotWithShape="0" blurRad="88900" dist="38100" dir="81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4370832" y="2331720"/>
            <a:ext cx="402336" cy="402336"/>
          </a:xfrm>
          <a:prstGeom prst="rect">
            <a:avLst/>
          </a:prstGeom>
        </p:spPr>
      </p:pic>
      <p:sp>
        <p:nvSpPr>
          <p:cNvPr id="7" name="Text 4"/>
          <p:cNvSpPr/>
          <p:nvPr/>
        </p:nvSpPr>
        <p:spPr>
          <a:xfrm>
            <a:off x="3246120" y="2761488"/>
            <a:ext cx="265176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AI Gateway</a:t>
            </a:r>
            <a:endParaRPr lang="en-US" sz="1600" dirty="0"/>
          </a:p>
        </p:txBody>
      </p:sp>
      <p:sp>
        <p:nvSpPr>
          <p:cNvPr id="8" name="Text 5"/>
          <p:cNvSpPr/>
          <p:nvPr/>
        </p:nvSpPr>
        <p:spPr>
          <a:xfrm>
            <a:off x="3246120" y="3017520"/>
            <a:ext cx="2651760" cy="237744"/>
          </a:xfrm>
          <a:prstGeom prst="rect">
            <a:avLst/>
          </a:prstGeom>
          <a:noFill/>
          <a:ln/>
        </p:spPr>
        <p:txBody>
          <a:bodyPr wrap="square" lIns="0" tIns="0" rIns="0" bIns="0" rtlCol="0" anchor="ctr"/>
          <a:lstStyle/>
          <a:p>
            <a:pPr algn="ctr" indent="0" marL="0">
              <a:buNone/>
            </a:pPr>
            <a:r>
              <a:rPr lang="en-US" sz="950" dirty="0">
                <a:solidFill>
                  <a:srgbClr val="9BBDF9"/>
                </a:solidFill>
                <a:latin typeface="Calibri" pitchFamily="34" charset="0"/>
                <a:ea typeface="Calibri" pitchFamily="34" charset="-122"/>
                <a:cs typeface="Calibri" pitchFamily="34" charset="-120"/>
              </a:rPr>
              <a:t>enabled per Foundry resource</a:t>
            </a:r>
            <a:endParaRPr lang="en-US" sz="950" dirty="0"/>
          </a:p>
        </p:txBody>
      </p:sp>
      <p:sp>
        <p:nvSpPr>
          <p:cNvPr id="9" name="Shape 6"/>
          <p:cNvSpPr/>
          <p:nvPr/>
        </p:nvSpPr>
        <p:spPr>
          <a:xfrm>
            <a:off x="914400" y="1554480"/>
            <a:ext cx="1783080" cy="868680"/>
          </a:xfrm>
          <a:prstGeom prst="roundRect">
            <a:avLst>
              <a:gd name="adj" fmla="val 8421"/>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1097280" y="1810512"/>
            <a:ext cx="365760" cy="365760"/>
          </a:xfrm>
          <a:prstGeom prst="rect">
            <a:avLst/>
          </a:prstGeom>
        </p:spPr>
      </p:pic>
      <p:sp>
        <p:nvSpPr>
          <p:cNvPr id="11" name="Text 7"/>
          <p:cNvSpPr/>
          <p:nvPr/>
        </p:nvSpPr>
        <p:spPr>
          <a:xfrm>
            <a:off x="1517904" y="1554480"/>
            <a:ext cx="1097280" cy="868680"/>
          </a:xfrm>
          <a:prstGeom prst="rect">
            <a:avLst/>
          </a:prstGeom>
          <a:noFill/>
          <a:ln/>
        </p:spPr>
        <p:txBody>
          <a:bodyPr wrap="square" lIns="0" tIns="0" rIns="0" bIns="0" rtlCol="0" anchor="ctr"/>
          <a:lstStyle/>
          <a:p>
            <a:pPr indent="0" marL="0">
              <a:buNone/>
            </a:pPr>
            <a:r>
              <a:rPr lang="en-US" sz="1250" b="1" dirty="0">
                <a:solidFill>
                  <a:srgbClr val="1E2761"/>
                </a:solidFill>
                <a:latin typeface="Georgia" pitchFamily="34" charset="0"/>
                <a:ea typeface="Georgia" pitchFamily="34" charset="-122"/>
                <a:cs typeface="Georgia" pitchFamily="34" charset="-120"/>
              </a:rPr>
              <a:t>Models</a:t>
            </a:r>
            <a:endParaRPr lang="en-US" sz="1250" dirty="0"/>
          </a:p>
        </p:txBody>
      </p:sp>
      <p:sp>
        <p:nvSpPr>
          <p:cNvPr id="12" name="Shape 8"/>
          <p:cNvSpPr/>
          <p:nvPr/>
        </p:nvSpPr>
        <p:spPr>
          <a:xfrm>
            <a:off x="6446520" y="1554480"/>
            <a:ext cx="1783080" cy="868680"/>
          </a:xfrm>
          <a:prstGeom prst="roundRect">
            <a:avLst>
              <a:gd name="adj" fmla="val 8421"/>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6629400" y="1810512"/>
            <a:ext cx="365760" cy="365760"/>
          </a:xfrm>
          <a:prstGeom prst="rect">
            <a:avLst/>
          </a:prstGeom>
        </p:spPr>
      </p:pic>
      <p:sp>
        <p:nvSpPr>
          <p:cNvPr id="14" name="Text 9"/>
          <p:cNvSpPr/>
          <p:nvPr/>
        </p:nvSpPr>
        <p:spPr>
          <a:xfrm>
            <a:off x="7050024" y="1554480"/>
            <a:ext cx="1097280" cy="868680"/>
          </a:xfrm>
          <a:prstGeom prst="rect">
            <a:avLst/>
          </a:prstGeom>
          <a:noFill/>
          <a:ln/>
        </p:spPr>
        <p:txBody>
          <a:bodyPr wrap="square" lIns="0" tIns="0" rIns="0" bIns="0" rtlCol="0" anchor="ctr"/>
          <a:lstStyle/>
          <a:p>
            <a:pPr indent="0" marL="0">
              <a:buNone/>
            </a:pPr>
            <a:r>
              <a:rPr lang="en-US" sz="1250" b="1" dirty="0">
                <a:solidFill>
                  <a:srgbClr val="1E2761"/>
                </a:solidFill>
                <a:latin typeface="Georgia" pitchFamily="34" charset="0"/>
                <a:ea typeface="Georgia" pitchFamily="34" charset="-122"/>
                <a:cs typeface="Georgia" pitchFamily="34" charset="-120"/>
              </a:rPr>
              <a:t>Agents</a:t>
            </a:r>
            <a:endParaRPr lang="en-US" sz="1250" dirty="0"/>
          </a:p>
        </p:txBody>
      </p:sp>
      <p:sp>
        <p:nvSpPr>
          <p:cNvPr id="15" name="Shape 10"/>
          <p:cNvSpPr/>
          <p:nvPr/>
        </p:nvSpPr>
        <p:spPr>
          <a:xfrm>
            <a:off x="914400" y="3291840"/>
            <a:ext cx="1783080" cy="868680"/>
          </a:xfrm>
          <a:prstGeom prst="roundRect">
            <a:avLst>
              <a:gd name="adj" fmla="val 8421"/>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16" name="Image 3" descr="preencoded.png">    </p:cNvPr>
          <p:cNvPicPr>
            <a:picLocks noChangeAspect="1"/>
          </p:cNvPicPr>
          <p:nvPr/>
        </p:nvPicPr>
        <p:blipFill>
          <a:blip r:embed="rId4"/>
          <a:stretch>
            <a:fillRect/>
          </a:stretch>
        </p:blipFill>
        <p:spPr>
          <a:xfrm>
            <a:off x="1097280" y="3547872"/>
            <a:ext cx="365760" cy="365760"/>
          </a:xfrm>
          <a:prstGeom prst="rect">
            <a:avLst/>
          </a:prstGeom>
        </p:spPr>
      </p:pic>
      <p:sp>
        <p:nvSpPr>
          <p:cNvPr id="17" name="Text 11"/>
          <p:cNvSpPr/>
          <p:nvPr/>
        </p:nvSpPr>
        <p:spPr>
          <a:xfrm>
            <a:off x="1517904" y="3291840"/>
            <a:ext cx="1097280" cy="868680"/>
          </a:xfrm>
          <a:prstGeom prst="rect">
            <a:avLst/>
          </a:prstGeom>
          <a:noFill/>
          <a:ln/>
        </p:spPr>
        <p:txBody>
          <a:bodyPr wrap="square" lIns="0" tIns="0" rIns="0" bIns="0" rtlCol="0" anchor="ctr"/>
          <a:lstStyle/>
          <a:p>
            <a:pPr indent="0" marL="0">
              <a:buNone/>
            </a:pPr>
            <a:r>
              <a:rPr lang="en-US" sz="1250" b="1" dirty="0">
                <a:solidFill>
                  <a:srgbClr val="1E2761"/>
                </a:solidFill>
                <a:latin typeface="Georgia" pitchFamily="34" charset="0"/>
                <a:ea typeface="Georgia" pitchFamily="34" charset="-122"/>
                <a:cs typeface="Georgia" pitchFamily="34" charset="-120"/>
              </a:rPr>
              <a:t>Tools &amp; MCP</a:t>
            </a:r>
            <a:endParaRPr lang="en-US" sz="1250" dirty="0"/>
          </a:p>
        </p:txBody>
      </p:sp>
      <p:sp>
        <p:nvSpPr>
          <p:cNvPr id="18" name="Shape 12"/>
          <p:cNvSpPr/>
          <p:nvPr/>
        </p:nvSpPr>
        <p:spPr>
          <a:xfrm>
            <a:off x="6446520" y="3291840"/>
            <a:ext cx="1783080" cy="868680"/>
          </a:xfrm>
          <a:prstGeom prst="roundRect">
            <a:avLst>
              <a:gd name="adj" fmla="val 8421"/>
            </a:avLst>
          </a:prstGeom>
          <a:solidFill>
            <a:srgbClr val="FFFFFF"/>
          </a:solidFill>
          <a:ln w="12700">
            <a:solidFill>
              <a:srgbClr val="DCE6F8"/>
            </a:solidFill>
            <a:prstDash val="solid"/>
          </a:ln>
          <a:effectLst>
            <a:outerShdw sx="100000" sy="100000" kx="0" ky="0" algn="bl" rotWithShape="0" blurRad="88900" dist="38100" dir="8100000">
              <a:srgbClr val="000000">
                <a:alpha val="12000"/>
              </a:srgbClr>
            </a:outerShdw>
          </a:effectLst>
        </p:spPr>
      </p:sp>
      <p:pic>
        <p:nvPicPr>
          <p:cNvPr id="19" name="Image 4" descr="preencoded.png">    </p:cNvPr>
          <p:cNvPicPr>
            <a:picLocks noChangeAspect="1"/>
          </p:cNvPicPr>
          <p:nvPr/>
        </p:nvPicPr>
        <p:blipFill>
          <a:blip r:embed="rId5"/>
          <a:stretch>
            <a:fillRect/>
          </a:stretch>
        </p:blipFill>
        <p:spPr>
          <a:xfrm>
            <a:off x="6629400" y="3547872"/>
            <a:ext cx="365760" cy="365760"/>
          </a:xfrm>
          <a:prstGeom prst="rect">
            <a:avLst/>
          </a:prstGeom>
        </p:spPr>
      </p:pic>
      <p:sp>
        <p:nvSpPr>
          <p:cNvPr id="20" name="Text 13"/>
          <p:cNvSpPr/>
          <p:nvPr/>
        </p:nvSpPr>
        <p:spPr>
          <a:xfrm>
            <a:off x="7050024" y="3291840"/>
            <a:ext cx="1097280" cy="868680"/>
          </a:xfrm>
          <a:prstGeom prst="rect">
            <a:avLst/>
          </a:prstGeom>
          <a:noFill/>
          <a:ln/>
        </p:spPr>
        <p:txBody>
          <a:bodyPr wrap="square" lIns="0" tIns="0" rIns="0" bIns="0" rtlCol="0" anchor="ctr"/>
          <a:lstStyle/>
          <a:p>
            <a:pPr indent="0" marL="0">
              <a:buNone/>
            </a:pPr>
            <a:r>
              <a:rPr lang="en-US" sz="1250" b="1" dirty="0">
                <a:solidFill>
                  <a:srgbClr val="1E2761"/>
                </a:solidFill>
                <a:latin typeface="Georgia" pitchFamily="34" charset="0"/>
                <a:ea typeface="Georgia" pitchFamily="34" charset="-122"/>
                <a:cs typeface="Georgia" pitchFamily="34" charset="-120"/>
              </a:rPr>
              <a:t>Observability</a:t>
            </a:r>
            <a:endParaRPr lang="en-US" sz="1250" dirty="0"/>
          </a:p>
        </p:txBody>
      </p:sp>
      <p:sp>
        <p:nvSpPr>
          <p:cNvPr id="21" name="Shape 14"/>
          <p:cNvSpPr/>
          <p:nvPr/>
        </p:nvSpPr>
        <p:spPr>
          <a:xfrm>
            <a:off x="2697480" y="1993392"/>
            <a:ext cx="594360" cy="411480"/>
          </a:xfrm>
          <a:prstGeom prst="line">
            <a:avLst/>
          </a:prstGeom>
          <a:noFill/>
          <a:ln w="25400">
            <a:solidFill>
              <a:srgbClr val="4F86F7"/>
            </a:solidFill>
            <a:prstDash val="solid"/>
            <a:tailEnd type="triangle"/>
          </a:ln>
        </p:spPr>
      </p:sp>
      <p:sp>
        <p:nvSpPr>
          <p:cNvPr id="22" name="Shape 15"/>
          <p:cNvSpPr/>
          <p:nvPr/>
        </p:nvSpPr>
        <p:spPr>
          <a:xfrm>
            <a:off x="6446520" y="1993392"/>
            <a:ext cx="-548640" cy="411480"/>
          </a:xfrm>
          <a:prstGeom prst="line">
            <a:avLst/>
          </a:prstGeom>
          <a:noFill/>
          <a:ln w="25400">
            <a:solidFill>
              <a:srgbClr val="4F86F7"/>
            </a:solidFill>
            <a:prstDash val="solid"/>
            <a:tailEnd type="triangle"/>
          </a:ln>
        </p:spPr>
      </p:sp>
      <p:sp>
        <p:nvSpPr>
          <p:cNvPr id="23" name="Shape 16"/>
          <p:cNvSpPr/>
          <p:nvPr/>
        </p:nvSpPr>
        <p:spPr>
          <a:xfrm>
            <a:off x="2697480" y="3730752"/>
            <a:ext cx="594360" cy="-365760"/>
          </a:xfrm>
          <a:prstGeom prst="line">
            <a:avLst/>
          </a:prstGeom>
          <a:noFill/>
          <a:ln w="25400">
            <a:solidFill>
              <a:srgbClr val="4F86F7"/>
            </a:solidFill>
            <a:prstDash val="solid"/>
            <a:tailEnd type="triangle"/>
          </a:ln>
        </p:spPr>
      </p:sp>
      <p:sp>
        <p:nvSpPr>
          <p:cNvPr id="24" name="Shape 17"/>
          <p:cNvSpPr/>
          <p:nvPr/>
        </p:nvSpPr>
        <p:spPr>
          <a:xfrm>
            <a:off x="6446520" y="3730752"/>
            <a:ext cx="-548640" cy="-365760"/>
          </a:xfrm>
          <a:prstGeom prst="line">
            <a:avLst/>
          </a:prstGeom>
          <a:noFill/>
          <a:ln w="25400">
            <a:solidFill>
              <a:srgbClr val="4F86F7"/>
            </a:solidFill>
            <a:prstDash val="solid"/>
            <a:tailEnd type="triangle"/>
          </a:ln>
        </p:spPr>
      </p:sp>
      <p:sp>
        <p:nvSpPr>
          <p:cNvPr id="25" name="Text 18"/>
          <p:cNvSpPr/>
          <p:nvPr/>
        </p:nvSpPr>
        <p:spPr>
          <a:xfrm>
            <a:off x="658368" y="4389120"/>
            <a:ext cx="7827264" cy="320040"/>
          </a:xfrm>
          <a:prstGeom prst="rect">
            <a:avLst/>
          </a:prstGeom>
          <a:noFill/>
          <a:ln/>
        </p:spPr>
        <p:txBody>
          <a:bodyPr wrap="square" lIns="0" tIns="0" rIns="0" bIns="0" rtlCol="0" anchor="ctr"/>
          <a:lstStyle/>
          <a:p>
            <a:pPr algn="ctr" indent="0" marL="0">
              <a:buNone/>
            </a:pPr>
            <a:r>
              <a:rPr lang="en-US" sz="1150" i="1" dirty="0">
                <a:solidFill>
                  <a:srgbClr val="1E2761"/>
                </a:solidFill>
                <a:latin typeface="Calibri" pitchFamily="34" charset="0"/>
                <a:ea typeface="Calibri" pitchFamily="34" charset="-122"/>
                <a:cs typeface="Calibri" pitchFamily="34" charset="-120"/>
              </a:rPr>
              <a:t>Enable once on the resource; every project shares the gateway, with its own token limits and quotas.</a:t>
            </a:r>
            <a:endParaRPr lang="en-US" sz="1150" dirty="0"/>
          </a:p>
        </p:txBody>
      </p:sp>
      <p:sp>
        <p:nvSpPr>
          <p:cNvPr id="26" name="Text 19"/>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27" name="Text 20"/>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183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F86F7"/>
          </a:solidFill>
          <a:ln/>
        </p:spPr>
      </p:sp>
      <p:sp>
        <p:nvSpPr>
          <p:cNvPr id="3" name="Shape 1"/>
          <p:cNvSpPr/>
          <p:nvPr/>
        </p:nvSpPr>
        <p:spPr>
          <a:xfrm>
            <a:off x="457200" y="384048"/>
            <a:ext cx="91440" cy="530352"/>
          </a:xfrm>
          <a:prstGeom prst="rect">
            <a:avLst/>
          </a:prstGeom>
          <a:solidFill>
            <a:srgbClr val="4F86F7"/>
          </a:solidFill>
          <a:ln/>
        </p:spPr>
      </p:sp>
      <p:sp>
        <p:nvSpPr>
          <p:cNvPr id="4" name="Text 2"/>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Recap &amp; next steps</a:t>
            </a:r>
            <a:endParaRPr lang="en-US" sz="2900" dirty="0"/>
          </a:p>
        </p:txBody>
      </p:sp>
      <p:sp>
        <p:nvSpPr>
          <p:cNvPr id="5" name="Text 3"/>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9BBDF9"/>
                </a:solidFill>
                <a:latin typeface="Calibri" pitchFamily="34" charset="0"/>
                <a:ea typeface="Calibri" pitchFamily="34" charset="-122"/>
                <a:cs typeface="Calibri" pitchFamily="34" charset="-120"/>
              </a:rPr>
              <a:t>FROM SPRAWL TO CONTROL — NATIVELY</a:t>
            </a:r>
            <a:endParaRPr lang="en-US" sz="1150" dirty="0"/>
          </a:p>
        </p:txBody>
      </p:sp>
      <p:sp>
        <p:nvSpPr>
          <p:cNvPr id="6" name="Shape 4"/>
          <p:cNvSpPr/>
          <p:nvPr/>
        </p:nvSpPr>
        <p:spPr>
          <a:xfrm>
            <a:off x="658368" y="1417320"/>
            <a:ext cx="54864" cy="914400"/>
          </a:xfrm>
          <a:prstGeom prst="rect">
            <a:avLst/>
          </a:prstGeom>
          <a:solidFill>
            <a:srgbClr val="F5B841"/>
          </a:solidFill>
          <a:ln/>
        </p:spPr>
      </p:sp>
      <p:sp>
        <p:nvSpPr>
          <p:cNvPr id="7" name="Text 5"/>
          <p:cNvSpPr/>
          <p:nvPr/>
        </p:nvSpPr>
        <p:spPr>
          <a:xfrm>
            <a:off x="822960" y="1371600"/>
            <a:ext cx="2377440" cy="640080"/>
          </a:xfrm>
          <a:prstGeom prst="rect">
            <a:avLst/>
          </a:prstGeom>
          <a:noFill/>
          <a:ln/>
        </p:spPr>
        <p:txBody>
          <a:bodyPr wrap="square" lIns="0" tIns="0" rIns="0" bIns="0" rtlCol="0" anchor="ctr"/>
          <a:lstStyle/>
          <a:p>
            <a:pPr indent="0" marL="0">
              <a:buNone/>
            </a:pPr>
            <a:r>
              <a:rPr lang="en-US" sz="3800" b="1" dirty="0">
                <a:solidFill>
                  <a:srgbClr val="F5B841"/>
                </a:solidFill>
                <a:latin typeface="Georgia" pitchFamily="34" charset="0"/>
                <a:ea typeface="Georgia" pitchFamily="34" charset="-122"/>
                <a:cs typeface="Georgia" pitchFamily="34" charset="-120"/>
              </a:rPr>
              <a:t>3</a:t>
            </a:r>
            <a:endParaRPr lang="en-US" sz="3800" dirty="0"/>
          </a:p>
        </p:txBody>
      </p:sp>
      <p:sp>
        <p:nvSpPr>
          <p:cNvPr id="8" name="Text 6"/>
          <p:cNvSpPr/>
          <p:nvPr/>
        </p:nvSpPr>
        <p:spPr>
          <a:xfrm>
            <a:off x="841248" y="1993392"/>
            <a:ext cx="2377440" cy="27432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clicks</a:t>
            </a:r>
            <a:endParaRPr lang="en-US" sz="1500" dirty="0"/>
          </a:p>
        </p:txBody>
      </p:sp>
      <p:sp>
        <p:nvSpPr>
          <p:cNvPr id="9" name="Text 7"/>
          <p:cNvSpPr/>
          <p:nvPr/>
        </p:nvSpPr>
        <p:spPr>
          <a:xfrm>
            <a:off x="841248" y="2267712"/>
            <a:ext cx="246888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to add a gateway in the Admin console</a:t>
            </a:r>
            <a:endParaRPr lang="en-US" sz="1000" dirty="0"/>
          </a:p>
        </p:txBody>
      </p:sp>
      <p:sp>
        <p:nvSpPr>
          <p:cNvPr id="10" name="Shape 8"/>
          <p:cNvSpPr/>
          <p:nvPr/>
        </p:nvSpPr>
        <p:spPr>
          <a:xfrm>
            <a:off x="3355848" y="1417320"/>
            <a:ext cx="54864" cy="914400"/>
          </a:xfrm>
          <a:prstGeom prst="rect">
            <a:avLst/>
          </a:prstGeom>
          <a:solidFill>
            <a:srgbClr val="F5B841"/>
          </a:solidFill>
          <a:ln/>
        </p:spPr>
      </p:sp>
      <p:sp>
        <p:nvSpPr>
          <p:cNvPr id="11" name="Text 9"/>
          <p:cNvSpPr/>
          <p:nvPr/>
        </p:nvSpPr>
        <p:spPr>
          <a:xfrm>
            <a:off x="3520440" y="1371600"/>
            <a:ext cx="2377440" cy="640080"/>
          </a:xfrm>
          <a:prstGeom prst="rect">
            <a:avLst/>
          </a:prstGeom>
          <a:noFill/>
          <a:ln/>
        </p:spPr>
        <p:txBody>
          <a:bodyPr wrap="square" lIns="0" tIns="0" rIns="0" bIns="0" rtlCol="0" anchor="ctr"/>
          <a:lstStyle/>
          <a:p>
            <a:pPr indent="0" marL="0">
              <a:buNone/>
            </a:pPr>
            <a:r>
              <a:rPr lang="en-US" sz="3800" b="1" dirty="0">
                <a:solidFill>
                  <a:srgbClr val="F5B841"/>
                </a:solidFill>
                <a:latin typeface="Georgia" pitchFamily="34" charset="0"/>
                <a:ea typeface="Georgia" pitchFamily="34" charset="-122"/>
                <a:cs typeface="Georgia" pitchFamily="34" charset="-120"/>
              </a:rPr>
              <a:t>Free</a:t>
            </a:r>
            <a:endParaRPr lang="en-US" sz="3800" dirty="0"/>
          </a:p>
        </p:txBody>
      </p:sp>
      <p:sp>
        <p:nvSpPr>
          <p:cNvPr id="12" name="Text 10"/>
          <p:cNvSpPr/>
          <p:nvPr/>
        </p:nvSpPr>
        <p:spPr>
          <a:xfrm>
            <a:off x="3538728" y="1993392"/>
            <a:ext cx="2377440" cy="27432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tier</a:t>
            </a:r>
            <a:endParaRPr lang="en-US" sz="1500" dirty="0"/>
          </a:p>
        </p:txBody>
      </p:sp>
      <p:sp>
        <p:nvSpPr>
          <p:cNvPr id="13" name="Text 11"/>
          <p:cNvSpPr/>
          <p:nvPr/>
        </p:nvSpPr>
        <p:spPr>
          <a:xfrm>
            <a:off x="3538728" y="2267712"/>
            <a:ext cx="246888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for API Management to get started</a:t>
            </a:r>
            <a:endParaRPr lang="en-US" sz="1000" dirty="0"/>
          </a:p>
        </p:txBody>
      </p:sp>
      <p:sp>
        <p:nvSpPr>
          <p:cNvPr id="14" name="Shape 12"/>
          <p:cNvSpPr/>
          <p:nvPr/>
        </p:nvSpPr>
        <p:spPr>
          <a:xfrm>
            <a:off x="6053328" y="1417320"/>
            <a:ext cx="54864" cy="914400"/>
          </a:xfrm>
          <a:prstGeom prst="rect">
            <a:avLst/>
          </a:prstGeom>
          <a:solidFill>
            <a:srgbClr val="F5B841"/>
          </a:solidFill>
          <a:ln/>
        </p:spPr>
      </p:sp>
      <p:sp>
        <p:nvSpPr>
          <p:cNvPr id="15" name="Text 13"/>
          <p:cNvSpPr/>
          <p:nvPr/>
        </p:nvSpPr>
        <p:spPr>
          <a:xfrm>
            <a:off x="6217920" y="1371600"/>
            <a:ext cx="2377440" cy="640080"/>
          </a:xfrm>
          <a:prstGeom prst="rect">
            <a:avLst/>
          </a:prstGeom>
          <a:noFill/>
          <a:ln/>
        </p:spPr>
        <p:txBody>
          <a:bodyPr wrap="square" lIns="0" tIns="0" rIns="0" bIns="0" rtlCol="0" anchor="ctr"/>
          <a:lstStyle/>
          <a:p>
            <a:pPr indent="0" marL="0">
              <a:buNone/>
            </a:pPr>
            <a:r>
              <a:rPr lang="en-US" sz="3800" b="1" dirty="0">
                <a:solidFill>
                  <a:srgbClr val="F5B841"/>
                </a:solidFill>
                <a:latin typeface="Georgia" pitchFamily="34" charset="0"/>
                <a:ea typeface="Georgia" pitchFamily="34" charset="-122"/>
                <a:cs typeface="Georgia" pitchFamily="34" charset="-120"/>
              </a:rPr>
              <a:t>1</a:t>
            </a:r>
            <a:endParaRPr lang="en-US" sz="3800" dirty="0"/>
          </a:p>
        </p:txBody>
      </p:sp>
      <p:sp>
        <p:nvSpPr>
          <p:cNvPr id="16" name="Text 14"/>
          <p:cNvSpPr/>
          <p:nvPr/>
        </p:nvSpPr>
        <p:spPr>
          <a:xfrm>
            <a:off x="6236208" y="1993392"/>
            <a:ext cx="2377440" cy="27432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inventory</a:t>
            </a:r>
            <a:endParaRPr lang="en-US" sz="1500" dirty="0"/>
          </a:p>
        </p:txBody>
      </p:sp>
      <p:sp>
        <p:nvSpPr>
          <p:cNvPr id="17" name="Text 15"/>
          <p:cNvSpPr/>
          <p:nvPr/>
        </p:nvSpPr>
        <p:spPr>
          <a:xfrm>
            <a:off x="6236208" y="2267712"/>
            <a:ext cx="2468880" cy="36576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for models, agents &amp; tools</a:t>
            </a:r>
            <a:endParaRPr lang="en-US" sz="1000" dirty="0"/>
          </a:p>
        </p:txBody>
      </p:sp>
      <p:sp>
        <p:nvSpPr>
          <p:cNvPr id="18" name="Shape 16"/>
          <p:cNvSpPr/>
          <p:nvPr/>
        </p:nvSpPr>
        <p:spPr>
          <a:xfrm>
            <a:off x="658368" y="2926080"/>
            <a:ext cx="7827264" cy="1508760"/>
          </a:xfrm>
          <a:prstGeom prst="rect">
            <a:avLst/>
          </a:prstGeom>
          <a:solidFill>
            <a:srgbClr val="1C2350"/>
          </a:solidFill>
          <a:ln/>
        </p:spPr>
      </p:sp>
      <p:pic>
        <p:nvPicPr>
          <p:cNvPr id="19" name="Image 0" descr="preencoded.png">    </p:cNvPr>
          <p:cNvPicPr>
            <a:picLocks noChangeAspect="1"/>
          </p:cNvPicPr>
          <p:nvPr/>
        </p:nvPicPr>
        <p:blipFill>
          <a:blip r:embed="rId1"/>
          <a:stretch>
            <a:fillRect/>
          </a:stretch>
        </p:blipFill>
        <p:spPr>
          <a:xfrm>
            <a:off x="868680" y="3072384"/>
            <a:ext cx="365760" cy="365760"/>
          </a:xfrm>
          <a:prstGeom prst="rect">
            <a:avLst/>
          </a:prstGeom>
        </p:spPr>
      </p:pic>
      <p:sp>
        <p:nvSpPr>
          <p:cNvPr id="20" name="Text 17"/>
          <p:cNvSpPr/>
          <p:nvPr/>
        </p:nvSpPr>
        <p:spPr>
          <a:xfrm>
            <a:off x="1325880" y="3035808"/>
            <a:ext cx="5486400" cy="310896"/>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Get started</a:t>
            </a:r>
            <a:endParaRPr lang="en-US" sz="1500" dirty="0"/>
          </a:p>
        </p:txBody>
      </p:sp>
      <p:sp>
        <p:nvSpPr>
          <p:cNvPr id="21" name="Text 18"/>
          <p:cNvSpPr/>
          <p:nvPr/>
        </p:nvSpPr>
        <p:spPr>
          <a:xfrm>
            <a:off x="914400" y="3419856"/>
            <a:ext cx="7406640" cy="914400"/>
          </a:xfrm>
          <a:prstGeom prst="rect">
            <a:avLst/>
          </a:prstGeom>
          <a:noFill/>
          <a:ln/>
        </p:spPr>
        <p:txBody>
          <a:bodyPr wrap="square" lIns="0" tIns="0" rIns="0" bIns="0" rtlCol="0" anchor="ctr"/>
          <a:lstStyle/>
          <a:p>
            <a:pPr marL="342900" indent="-342900">
              <a:spcAft>
                <a:spcPts val="500"/>
              </a:spcAft>
              <a:buSzPct val="100000"/>
              <a:buFont typeface="+mj-lt"/>
              <a:buAutoNum type="arabicPeriod" startAt="1"/>
            </a:pPr>
            <a:r>
              <a:rPr lang="en-US" sz="1150" dirty="0">
                <a:solidFill>
                  <a:srgbClr val="CADCFC"/>
                </a:solidFill>
                <a:latin typeface="Calibri" pitchFamily="34" charset="0"/>
                <a:ea typeface="Calibri" pitchFamily="34" charset="-122"/>
                <a:cs typeface="Calibri" pitchFamily="34" charset="-120"/>
              </a:rPr>
              <a:t>Operate › Admin console › AI Gateway › Add AI Gateway, then create or attach a v2 instance.</a:t>
            </a:r>
            <a:endParaRPr lang="en-US" sz="1150" dirty="0"/>
          </a:p>
          <a:p>
            <a:pPr marL="342900" indent="-342900">
              <a:spcAft>
                <a:spcPts val="500"/>
              </a:spcAft>
              <a:buSzPct val="100000"/>
              <a:buFont typeface="+mj-lt"/>
              <a:buAutoNum type="arabicPeriod" startAt="1"/>
            </a:pPr>
            <a:r>
              <a:rPr lang="en-US" sz="1150" dirty="0">
                <a:solidFill>
                  <a:srgbClr val="CADCFC"/>
                </a:solidFill>
                <a:latin typeface="Calibri" pitchFamily="34" charset="0"/>
                <a:ea typeface="Calibri" pitchFamily="34" charset="-122"/>
                <a:cs typeface="Calibri" pitchFamily="34" charset="-120"/>
              </a:rPr>
              <a:t>Add your projects and set per-project token limits and quotas in Token management.</a:t>
            </a:r>
            <a:endParaRPr lang="en-US" sz="1150" dirty="0"/>
          </a:p>
          <a:p>
            <a:pPr marL="342900" indent="-342900">
              <a:spcAft>
                <a:spcPts val="500"/>
              </a:spcAft>
              <a:buSzPct val="100000"/>
              <a:buFont typeface="+mj-lt"/>
              <a:buAutoNum type="arabicPeriod" startAt="1"/>
            </a:pPr>
            <a:r>
              <a:rPr lang="en-US" sz="1150" dirty="0">
                <a:solidFill>
                  <a:srgbClr val="CADCFC"/>
                </a:solidFill>
                <a:latin typeface="Calibri" pitchFamily="34" charset="0"/>
                <a:ea typeface="Calibri" pitchFamily="34" charset="-122"/>
                <a:cs typeface="Calibri" pitchFamily="34" charset="-120"/>
              </a:rPr>
              <a:t>Register agents and MCP tools, then watch telemetry in Foundry or Application Insights.</a:t>
            </a:r>
            <a:endParaRPr lang="en-US" sz="1150" dirty="0"/>
          </a:p>
        </p:txBody>
      </p:sp>
      <p:sp>
        <p:nvSpPr>
          <p:cNvPr id="22" name="Text 19"/>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8893B8"/>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Appendix A · Requirements &amp; tiers</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WHAT YOU NEED TO ENABLE IT</a:t>
            </a:r>
            <a:endParaRPr lang="en-US" sz="11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58368" y="1371600"/>
          <a:ext cx="7827264" cy="914400"/>
        </p:xfrm>
        <a:graphic>
          <a:graphicData uri="http://schemas.openxmlformats.org/drawingml/2006/table">
            <a:tbl>
              <a:tblPr/>
              <a:tblGrid>
                <a:gridCol w="1737360"/>
                <a:gridCol w="2468880"/>
                <a:gridCol w="3621024"/>
              </a:tblGrid>
              <a:tr h="402336">
                <a:tc>
                  <a:txBody>
                    <a:bodyPr/>
                    <a:lstStyle/>
                    <a:p>
                      <a:pPr indent="0" marL="0">
                        <a:buNone/>
                      </a:pPr>
                      <a:r>
                        <a:rPr lang="en-US" sz="1200" b="1" dirty="0">
                          <a:solidFill>
                            <a:srgbClr val="FFFFFF"/>
                          </a:solidFill>
                          <a:latin typeface="Georgia" pitchFamily="34" charset="0"/>
                          <a:ea typeface="Georgia" pitchFamily="34" charset="-122"/>
                          <a:cs typeface="Georgia" pitchFamily="34" charset="-120"/>
                        </a:rPr>
                        <a:t>Area</a:t>
                      </a:r>
                      <a:endParaRPr lang="en-US" sz="1200" dirty="0">
                        <a:latin typeface="Georgia" charset="0"/>
                        <a:ea typeface="Georgia" charset="0"/>
                        <a:cs typeface="Georgia"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Georgia" pitchFamily="34" charset="0"/>
                          <a:ea typeface="Georgia" pitchFamily="34" charset="-122"/>
                          <a:cs typeface="Georgia" pitchFamily="34" charset="-120"/>
                        </a:rPr>
                        <a:t>Requirement</a:t>
                      </a:r>
                      <a:endParaRPr lang="en-US" sz="1200" dirty="0">
                        <a:latin typeface="Georgia" charset="0"/>
                        <a:ea typeface="Georgia" charset="0"/>
                        <a:cs typeface="Georgia"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Georgia" pitchFamily="34" charset="0"/>
                          <a:ea typeface="Georgia" pitchFamily="34" charset="-122"/>
                          <a:cs typeface="Georgia" pitchFamily="34" charset="-120"/>
                        </a:rPr>
                        <a:t>Notes</a:t>
                      </a:r>
                      <a:endParaRPr lang="en-US" sz="1200" dirty="0">
                        <a:latin typeface="Georgia" charset="0"/>
                        <a:ea typeface="Georgia" charset="0"/>
                        <a:cs typeface="Georgia"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1E2761"/>
                    </a:solidFill>
                  </a:tcPr>
                </a:tc>
              </a:tr>
              <a:tr h="402336">
                <a:tc>
                  <a:txBody>
                    <a:bodyPr/>
                    <a:lstStyle/>
                    <a:p>
                      <a:pPr indent="0" marL="0">
                        <a:buNone/>
                      </a:pPr>
                      <a:r>
                        <a:rPr lang="en-US" sz="1100" b="1" dirty="0">
                          <a:solidFill>
                            <a:srgbClr val="1B2447"/>
                          </a:solidFill>
                          <a:latin typeface="Calibri" pitchFamily="34" charset="0"/>
                          <a:ea typeface="Calibri" pitchFamily="34" charset="-122"/>
                          <a:cs typeface="Calibri" pitchFamily="34" charset="-120"/>
                        </a:rPr>
                        <a:t>APIM tier</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100" dirty="0">
                          <a:solidFill>
                            <a:srgbClr val="1E2761"/>
                          </a:solidFill>
                          <a:latin typeface="Calibri" pitchFamily="34" charset="0"/>
                          <a:ea typeface="Calibri" pitchFamily="34" charset="-122"/>
                          <a:cs typeface="Calibri" pitchFamily="34" charset="-120"/>
                        </a:rPr>
                        <a:t>v2 tier required</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050" dirty="0">
                          <a:solidFill>
                            <a:srgbClr val="5A6781"/>
                          </a:solidFill>
                          <a:latin typeface="Calibri" pitchFamily="34" charset="0"/>
                          <a:ea typeface="Calibri" pitchFamily="34" charset="-122"/>
                          <a:cs typeface="Calibri" pitchFamily="34" charset="-120"/>
                        </a:rPr>
                        <a:t>Basic v2 (create new) · Standard/Premium v2 (production)</a:t>
                      </a:r>
                      <a:endParaRPr lang="en-US" sz="10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B2447"/>
                          </a:solidFill>
                          <a:latin typeface="Calibri" pitchFamily="34" charset="0"/>
                          <a:ea typeface="Calibri" pitchFamily="34" charset="-122"/>
                          <a:cs typeface="Calibri" pitchFamily="34" charset="-120"/>
                        </a:rPr>
                        <a:t>Create RBAC</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100" dirty="0">
                          <a:solidFill>
                            <a:srgbClr val="1E2761"/>
                          </a:solidFill>
                          <a:latin typeface="Calibri" pitchFamily="34" charset="0"/>
                          <a:ea typeface="Calibri" pitchFamily="34" charset="-122"/>
                          <a:cs typeface="Calibri" pitchFamily="34" charset="-120"/>
                        </a:rPr>
                        <a:t>Contributor / Owner on RG</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050" dirty="0">
                          <a:solidFill>
                            <a:srgbClr val="5A6781"/>
                          </a:solidFill>
                          <a:latin typeface="Calibri" pitchFamily="34" charset="0"/>
                          <a:ea typeface="Calibri" pitchFamily="34" charset="-122"/>
                          <a:cs typeface="Calibri" pitchFamily="34" charset="-120"/>
                        </a:rPr>
                        <a:t>Needed to create a new API Management instance</a:t>
                      </a:r>
                      <a:endParaRPr lang="en-US" sz="10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r>
              <a:tr h="402336">
                <a:tc>
                  <a:txBody>
                    <a:bodyPr/>
                    <a:lstStyle/>
                    <a:p>
                      <a:pPr indent="0" marL="0">
                        <a:buNone/>
                      </a:pPr>
                      <a:r>
                        <a:rPr lang="en-US" sz="1100" b="1" dirty="0">
                          <a:solidFill>
                            <a:srgbClr val="1B2447"/>
                          </a:solidFill>
                          <a:latin typeface="Calibri" pitchFamily="34" charset="0"/>
                          <a:ea typeface="Calibri" pitchFamily="34" charset="-122"/>
                          <a:cs typeface="Calibri" pitchFamily="34" charset="-120"/>
                        </a:rPr>
                        <a:t>Reuse RBAC</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100" dirty="0">
                          <a:solidFill>
                            <a:srgbClr val="1E2761"/>
                          </a:solidFill>
                          <a:latin typeface="Calibri" pitchFamily="34" charset="0"/>
                          <a:ea typeface="Calibri" pitchFamily="34" charset="-122"/>
                          <a:cs typeface="Calibri" pitchFamily="34" charset="-120"/>
                        </a:rPr>
                        <a:t>API Mgmt Service Contributor</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050" dirty="0">
                          <a:solidFill>
                            <a:srgbClr val="5A6781"/>
                          </a:solidFill>
                          <a:latin typeface="Calibri" pitchFamily="34" charset="0"/>
                          <a:ea typeface="Calibri" pitchFamily="34" charset="-122"/>
                          <a:cs typeface="Calibri" pitchFamily="34" charset="-120"/>
                        </a:rPr>
                        <a:t>Plus same tenant &amp; subscription as the Foundry resource</a:t>
                      </a:r>
                      <a:endParaRPr lang="en-US" sz="10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B2447"/>
                          </a:solidFill>
                          <a:latin typeface="Calibri" pitchFamily="34" charset="0"/>
                          <a:ea typeface="Calibri" pitchFamily="34" charset="-122"/>
                          <a:cs typeface="Calibri" pitchFamily="34" charset="-120"/>
                        </a:rPr>
                        <a:t>Foundry role</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100" dirty="0">
                          <a:solidFill>
                            <a:srgbClr val="1E2761"/>
                          </a:solidFill>
                          <a:latin typeface="Calibri" pitchFamily="34" charset="0"/>
                          <a:ea typeface="Calibri" pitchFamily="34" charset="-122"/>
                          <a:cs typeface="Calibri" pitchFamily="34" charset="-120"/>
                        </a:rPr>
                        <a:t>Foundry Owner / Account Owner</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050" dirty="0">
                          <a:solidFill>
                            <a:srgbClr val="5A6781"/>
                          </a:solidFill>
                          <a:latin typeface="Calibri" pitchFamily="34" charset="0"/>
                          <a:ea typeface="Calibri" pitchFamily="34" charset="-122"/>
                          <a:cs typeface="Calibri" pitchFamily="34" charset="-120"/>
                        </a:rPr>
                        <a:t>To open the Admin console and add a gateway</a:t>
                      </a:r>
                      <a:endParaRPr lang="en-US" sz="10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r>
              <a:tr h="402336">
                <a:tc>
                  <a:txBody>
                    <a:bodyPr/>
                    <a:lstStyle/>
                    <a:p>
                      <a:pPr indent="0" marL="0">
                        <a:buNone/>
                      </a:pPr>
                      <a:r>
                        <a:rPr lang="en-US" sz="1100" b="1" dirty="0">
                          <a:solidFill>
                            <a:srgbClr val="1B2447"/>
                          </a:solidFill>
                          <a:latin typeface="Calibri" pitchFamily="34" charset="0"/>
                          <a:ea typeface="Calibri" pitchFamily="34" charset="-122"/>
                          <a:cs typeface="Calibri" pitchFamily="34" charset="-120"/>
                        </a:rPr>
                        <a:t>Networking</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100" dirty="0">
                          <a:solidFill>
                            <a:srgbClr val="1E2761"/>
                          </a:solidFill>
                          <a:latin typeface="Calibri" pitchFamily="34" charset="0"/>
                          <a:ea typeface="Calibri" pitchFamily="34" charset="-122"/>
                          <a:cs typeface="Calibri" pitchFamily="34" charset="-120"/>
                        </a:rPr>
                        <a:t>Private endpoint / VNet</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c>
                  <a:txBody>
                    <a:bodyPr/>
                    <a:lstStyle/>
                    <a:p>
                      <a:pPr indent="0" marL="0">
                        <a:buNone/>
                      </a:pPr>
                      <a:r>
                        <a:rPr lang="en-US" sz="1050" dirty="0">
                          <a:solidFill>
                            <a:srgbClr val="5A6781"/>
                          </a:solidFill>
                          <a:latin typeface="Calibri" pitchFamily="34" charset="0"/>
                          <a:ea typeface="Calibri" pitchFamily="34" charset="-122"/>
                          <a:cs typeface="Calibri" pitchFamily="34" charset="-120"/>
                        </a:rPr>
                        <a:t>For private Foundry: Standard v2 / Premium v2</a:t>
                      </a:r>
                      <a:endParaRPr lang="en-US" sz="10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1B2447"/>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100" dirty="0">
                          <a:solidFill>
                            <a:srgbClr val="1E2761"/>
                          </a:solidFill>
                          <a:latin typeface="Calibri" pitchFamily="34" charset="0"/>
                          <a:ea typeface="Calibri" pitchFamily="34" charset="-122"/>
                          <a:cs typeface="Calibri" pitchFamily="34" charset="-120"/>
                        </a:rPr>
                        <a:t>Free tier available</a:t>
                      </a:r>
                      <a:endParaRPr lang="en-US" sz="110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c>
                  <a:txBody>
                    <a:bodyPr/>
                    <a:lstStyle/>
                    <a:p>
                      <a:pPr indent="0" marL="0">
                        <a:buNone/>
                      </a:pPr>
                      <a:r>
                        <a:rPr lang="en-US" sz="1050" dirty="0">
                          <a:solidFill>
                            <a:srgbClr val="5A6781"/>
                          </a:solidFill>
                          <a:latin typeface="Calibri" pitchFamily="34" charset="0"/>
                          <a:ea typeface="Calibri" pitchFamily="34" charset="-122"/>
                          <a:cs typeface="Calibri" pitchFamily="34" charset="-120"/>
                        </a:rPr>
                        <a:t>Confirm current details on the API Management pricing page</a:t>
                      </a:r>
                      <a:endParaRPr lang="en-US" sz="1050" dirty="0">
                        <a:latin typeface="Calibri" charset="0"/>
                        <a:ea typeface="Calibri" charset="0"/>
                        <a:cs typeface="Calibri" charset="0"/>
                      </a:endParaRPr>
                    </a:p>
                  </a:txBody>
                  <a:tcPr marL="76200" marR="76200" marT="38100" marB="38100" anchor="ctr">
                    <a:lnL w="6350" cap="flat" cmpd="sng" algn="ctr">
                      <a:solidFill>
                        <a:srgbClr val="DCE6F8"/>
                      </a:solidFill>
                      <a:prstDash val="solid"/>
                      <a:round/>
                      <a:headEnd type="none" w="med" len="med"/>
                      <a:tailEnd type="none" w="med" len="med"/>
                    </a:lnL>
                    <a:lnR w="6350" cap="flat" cmpd="sng" algn="ctr">
                      <a:solidFill>
                        <a:srgbClr val="DCE6F8"/>
                      </a:solidFill>
                      <a:prstDash val="solid"/>
                      <a:round/>
                      <a:headEnd type="none" w="med" len="med"/>
                      <a:tailEnd type="none" w="med" len="med"/>
                    </a:lnR>
                    <a:lnT w="6350" cap="flat" cmpd="sng" algn="ctr">
                      <a:solidFill>
                        <a:srgbClr val="DCE6F8"/>
                      </a:solidFill>
                      <a:prstDash val="solid"/>
                      <a:round/>
                      <a:headEnd type="none" w="med" len="med"/>
                      <a:tailEnd type="none" w="med" len="med"/>
                    </a:lnT>
                    <a:lnB w="6350" cap="flat" cmpd="sng" algn="ctr">
                      <a:solidFill>
                        <a:srgbClr val="DCE6F8"/>
                      </a:solidFill>
                      <a:prstDash val="solid"/>
                      <a:round/>
                      <a:headEnd type="none" w="med" len="med"/>
                      <a:tailEnd type="none" w="med" len="med"/>
                    </a:lnB>
                    <a:solidFill>
                      <a:srgbClr val="EEF3FC"/>
                    </a:solidFill>
                  </a:tcPr>
                </a:tc>
              </a:tr>
            </a:tbl>
          </a:graphicData>
        </a:graphic>
      </p:graphicFrame>
      <p:sp>
        <p:nvSpPr>
          <p:cNvPr id="6" name="Text 3"/>
          <p:cNvSpPr/>
          <p:nvPr/>
        </p:nvSpPr>
        <p:spPr>
          <a:xfrm>
            <a:off x="658368" y="4572000"/>
            <a:ext cx="7827264" cy="320040"/>
          </a:xfrm>
          <a:prstGeom prst="rect">
            <a:avLst/>
          </a:prstGeom>
          <a:noFill/>
          <a:ln/>
        </p:spPr>
        <p:txBody>
          <a:bodyPr wrap="square" lIns="0" tIns="0" rIns="0" bIns="0" rtlCol="0" anchor="ctr"/>
          <a:lstStyle/>
          <a:p>
            <a:pPr indent="0" marL="0">
              <a:buNone/>
            </a:pPr>
            <a:r>
              <a:rPr lang="en-US" sz="1050" i="1" dirty="0">
                <a:solidFill>
                  <a:srgbClr val="5A6781"/>
                </a:solidFill>
                <a:latin typeface="Calibri" pitchFamily="34" charset="0"/>
                <a:ea typeface="Calibri" pitchFamily="34" charset="-122"/>
                <a:cs typeface="Calibri" pitchFamily="34" charset="-120"/>
              </a:rPr>
              <a:t>Preview capability — requirements and availability evolve; confirm against the latest Microsoft Learn guidance.</a:t>
            </a:r>
            <a:endParaRPr lang="en-US" sz="1050" dirty="0"/>
          </a:p>
        </p:txBody>
      </p:sp>
      <p:sp>
        <p:nvSpPr>
          <p:cNvPr id="7" name="Text 4"/>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8" name="Text 5"/>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457200" y="384048"/>
            <a:ext cx="91440" cy="530352"/>
          </a:xfrm>
          <a:prstGeom prst="rect">
            <a:avLst/>
          </a:prstGeom>
          <a:solidFill>
            <a:srgbClr val="4F86F7"/>
          </a:solidFill>
          <a:ln/>
        </p:spPr>
      </p:sp>
      <p:sp>
        <p:nvSpPr>
          <p:cNvPr id="3" name="Text 1"/>
          <p:cNvSpPr/>
          <p:nvPr/>
        </p:nvSpPr>
        <p:spPr>
          <a:xfrm>
            <a:off x="658368" y="329184"/>
            <a:ext cx="8138160" cy="658368"/>
          </a:xfrm>
          <a:prstGeom prst="rect">
            <a:avLst/>
          </a:prstGeom>
          <a:noFill/>
          <a:ln/>
        </p:spPr>
        <p:txBody>
          <a:bodyPr wrap="square" lIns="0" tIns="0" rIns="0" bIns="0" rtlCol="0" anchor="ctr"/>
          <a:lstStyle/>
          <a:p>
            <a:pPr indent="0" marL="0">
              <a:buNone/>
            </a:pPr>
            <a:r>
              <a:rPr lang="en-US" sz="2900" b="1" dirty="0">
                <a:solidFill>
                  <a:srgbClr val="1E2761"/>
                </a:solidFill>
                <a:latin typeface="Georgia" pitchFamily="34" charset="0"/>
                <a:ea typeface="Georgia" pitchFamily="34" charset="-122"/>
                <a:cs typeface="Georgia" pitchFamily="34" charset="-120"/>
              </a:rPr>
              <a:t>Appendix B · Links &amp; references</a:t>
            </a:r>
            <a:endParaRPr lang="en-US" sz="2900" dirty="0"/>
          </a:p>
        </p:txBody>
      </p:sp>
      <p:sp>
        <p:nvSpPr>
          <p:cNvPr id="4" name="Text 2"/>
          <p:cNvSpPr/>
          <p:nvPr/>
        </p:nvSpPr>
        <p:spPr>
          <a:xfrm>
            <a:off x="676656" y="969264"/>
            <a:ext cx="8046720" cy="256032"/>
          </a:xfrm>
          <a:prstGeom prst="rect">
            <a:avLst/>
          </a:prstGeom>
          <a:noFill/>
          <a:ln/>
        </p:spPr>
        <p:txBody>
          <a:bodyPr wrap="square" lIns="0" tIns="0" rIns="0" bIns="0" rtlCol="0" anchor="ctr"/>
          <a:lstStyle/>
          <a:p>
            <a:pPr indent="0" marL="0">
              <a:buNone/>
            </a:pPr>
            <a:r>
              <a:rPr lang="en-US" sz="1150" b="1" spc="200" kern="0" dirty="0">
                <a:solidFill>
                  <a:srgbClr val="4F86F7"/>
                </a:solidFill>
                <a:latin typeface="Calibri" pitchFamily="34" charset="0"/>
                <a:ea typeface="Calibri" pitchFamily="34" charset="-122"/>
                <a:cs typeface="Calibri" pitchFamily="34" charset="-120"/>
              </a:rPr>
              <a:t>OFFICIAL DOCUMENTATION</a:t>
            </a:r>
            <a:endParaRPr lang="en-US" sz="1150" dirty="0"/>
          </a:p>
        </p:txBody>
      </p:sp>
      <p:sp>
        <p:nvSpPr>
          <p:cNvPr id="5" name="Shape 3"/>
          <p:cNvSpPr/>
          <p:nvPr/>
        </p:nvSpPr>
        <p:spPr>
          <a:xfrm>
            <a:off x="658368" y="1444752"/>
            <a:ext cx="438912" cy="438912"/>
          </a:xfrm>
          <a:prstGeom prst="ellipse">
            <a:avLst/>
          </a:prstGeom>
          <a:solidFill>
            <a:srgbClr val="CADCFC"/>
          </a:solidFill>
          <a:ln/>
        </p:spPr>
      </p:sp>
      <p:pic>
        <p:nvPicPr>
          <p:cNvPr id="6" name="Image 0" descr="preencoded.png">    </p:cNvPr>
          <p:cNvPicPr>
            <a:picLocks noChangeAspect="1"/>
          </p:cNvPicPr>
          <p:nvPr/>
        </p:nvPicPr>
        <p:blipFill>
          <a:blip r:embed="rId1"/>
          <a:stretch>
            <a:fillRect/>
          </a:stretch>
        </p:blipFill>
        <p:spPr>
          <a:xfrm>
            <a:off x="768096" y="1554480"/>
            <a:ext cx="219456" cy="219456"/>
          </a:xfrm>
          <a:prstGeom prst="rect">
            <a:avLst/>
          </a:prstGeom>
        </p:spPr>
      </p:pic>
      <p:sp>
        <p:nvSpPr>
          <p:cNvPr id="7" name="Text 4"/>
          <p:cNvSpPr/>
          <p:nvPr/>
        </p:nvSpPr>
        <p:spPr>
          <a:xfrm>
            <a:off x="1225296" y="1417320"/>
            <a:ext cx="7223760" cy="292608"/>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Enable AI gateway in Microsoft Foundry</a:t>
            </a:r>
            <a:endParaRPr lang="en-US" sz="1350" dirty="0"/>
          </a:p>
        </p:txBody>
      </p:sp>
      <p:sp>
        <p:nvSpPr>
          <p:cNvPr id="8" name="Text 5"/>
          <p:cNvSpPr/>
          <p:nvPr/>
        </p:nvSpPr>
        <p:spPr>
          <a:xfrm>
            <a:off x="1225296" y="1700784"/>
            <a:ext cx="7223760" cy="274320"/>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learn.microsoft.com — configuration / enable-ai-api-management-gateway-portal</a:t>
            </a:r>
            <a:endParaRPr lang="en-US" sz="1000" dirty="0"/>
          </a:p>
        </p:txBody>
      </p:sp>
      <p:sp>
        <p:nvSpPr>
          <p:cNvPr id="9" name="Shape 6"/>
          <p:cNvSpPr/>
          <p:nvPr/>
        </p:nvSpPr>
        <p:spPr>
          <a:xfrm>
            <a:off x="658368" y="2048256"/>
            <a:ext cx="438912" cy="438912"/>
          </a:xfrm>
          <a:prstGeom prst="ellipse">
            <a:avLst/>
          </a:prstGeom>
          <a:solidFill>
            <a:srgbClr val="CADCFC"/>
          </a:solidFill>
          <a:ln/>
        </p:spPr>
      </p:sp>
      <p:pic>
        <p:nvPicPr>
          <p:cNvPr id="10" name="Image 1" descr="preencoded.png">    </p:cNvPr>
          <p:cNvPicPr>
            <a:picLocks noChangeAspect="1"/>
          </p:cNvPicPr>
          <p:nvPr/>
        </p:nvPicPr>
        <p:blipFill>
          <a:blip r:embed="rId2"/>
          <a:stretch>
            <a:fillRect/>
          </a:stretch>
        </p:blipFill>
        <p:spPr>
          <a:xfrm>
            <a:off x="768096" y="2157984"/>
            <a:ext cx="219456" cy="219456"/>
          </a:xfrm>
          <a:prstGeom prst="rect">
            <a:avLst/>
          </a:prstGeom>
        </p:spPr>
      </p:pic>
      <p:sp>
        <p:nvSpPr>
          <p:cNvPr id="11" name="Text 7"/>
          <p:cNvSpPr/>
          <p:nvPr/>
        </p:nvSpPr>
        <p:spPr>
          <a:xfrm>
            <a:off x="1225296" y="2020824"/>
            <a:ext cx="7223760" cy="292608"/>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Enforce token limits for models</a:t>
            </a:r>
            <a:endParaRPr lang="en-US" sz="1350" dirty="0"/>
          </a:p>
        </p:txBody>
      </p:sp>
      <p:sp>
        <p:nvSpPr>
          <p:cNvPr id="12" name="Text 8"/>
          <p:cNvSpPr/>
          <p:nvPr/>
        </p:nvSpPr>
        <p:spPr>
          <a:xfrm>
            <a:off x="1225296" y="2304288"/>
            <a:ext cx="7223760" cy="274320"/>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learn.microsoft.com — control-plane / how-to-enforce-limits-models</a:t>
            </a:r>
            <a:endParaRPr lang="en-US" sz="1000" dirty="0"/>
          </a:p>
        </p:txBody>
      </p:sp>
      <p:sp>
        <p:nvSpPr>
          <p:cNvPr id="13" name="Shape 9"/>
          <p:cNvSpPr/>
          <p:nvPr/>
        </p:nvSpPr>
        <p:spPr>
          <a:xfrm>
            <a:off x="658368" y="2651760"/>
            <a:ext cx="438912" cy="438912"/>
          </a:xfrm>
          <a:prstGeom prst="ellipse">
            <a:avLst/>
          </a:prstGeom>
          <a:solidFill>
            <a:srgbClr val="CADCFC"/>
          </a:solidFill>
          <a:ln/>
        </p:spPr>
      </p:sp>
      <p:pic>
        <p:nvPicPr>
          <p:cNvPr id="14" name="Image 2" descr="preencoded.png">    </p:cNvPr>
          <p:cNvPicPr>
            <a:picLocks noChangeAspect="1"/>
          </p:cNvPicPr>
          <p:nvPr/>
        </p:nvPicPr>
        <p:blipFill>
          <a:blip r:embed="rId3"/>
          <a:stretch>
            <a:fillRect/>
          </a:stretch>
        </p:blipFill>
        <p:spPr>
          <a:xfrm>
            <a:off x="768096" y="2761488"/>
            <a:ext cx="219456" cy="219456"/>
          </a:xfrm>
          <a:prstGeom prst="rect">
            <a:avLst/>
          </a:prstGeom>
        </p:spPr>
      </p:pic>
      <p:sp>
        <p:nvSpPr>
          <p:cNvPr id="15" name="Text 10"/>
          <p:cNvSpPr/>
          <p:nvPr/>
        </p:nvSpPr>
        <p:spPr>
          <a:xfrm>
            <a:off x="1225296" y="2624328"/>
            <a:ext cx="7223760" cy="292608"/>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Register custom agents in Foundry</a:t>
            </a:r>
            <a:endParaRPr lang="en-US" sz="1350" dirty="0"/>
          </a:p>
        </p:txBody>
      </p:sp>
      <p:sp>
        <p:nvSpPr>
          <p:cNvPr id="16" name="Text 11"/>
          <p:cNvSpPr/>
          <p:nvPr/>
        </p:nvSpPr>
        <p:spPr>
          <a:xfrm>
            <a:off x="1225296" y="2907792"/>
            <a:ext cx="7223760" cy="274320"/>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learn.microsoft.com — control-plane / register-custom-agent</a:t>
            </a:r>
            <a:endParaRPr lang="en-US" sz="1000" dirty="0"/>
          </a:p>
        </p:txBody>
      </p:sp>
      <p:sp>
        <p:nvSpPr>
          <p:cNvPr id="17" name="Shape 12"/>
          <p:cNvSpPr/>
          <p:nvPr/>
        </p:nvSpPr>
        <p:spPr>
          <a:xfrm>
            <a:off x="658368" y="3255264"/>
            <a:ext cx="438912" cy="438912"/>
          </a:xfrm>
          <a:prstGeom prst="ellipse">
            <a:avLst/>
          </a:prstGeom>
          <a:solidFill>
            <a:srgbClr val="CADCFC"/>
          </a:solidFill>
          <a:ln/>
        </p:spPr>
      </p:sp>
      <p:pic>
        <p:nvPicPr>
          <p:cNvPr id="18" name="Image 3" descr="preencoded.png">    </p:cNvPr>
          <p:cNvPicPr>
            <a:picLocks noChangeAspect="1"/>
          </p:cNvPicPr>
          <p:nvPr/>
        </p:nvPicPr>
        <p:blipFill>
          <a:blip r:embed="rId4"/>
          <a:stretch>
            <a:fillRect/>
          </a:stretch>
        </p:blipFill>
        <p:spPr>
          <a:xfrm>
            <a:off x="768096" y="3364992"/>
            <a:ext cx="219456" cy="219456"/>
          </a:xfrm>
          <a:prstGeom prst="rect">
            <a:avLst/>
          </a:prstGeom>
        </p:spPr>
      </p:pic>
      <p:sp>
        <p:nvSpPr>
          <p:cNvPr id="19" name="Text 13"/>
          <p:cNvSpPr/>
          <p:nvPr/>
        </p:nvSpPr>
        <p:spPr>
          <a:xfrm>
            <a:off x="1225296" y="3227832"/>
            <a:ext cx="7223760" cy="292608"/>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Govern tools with AI gateway</a:t>
            </a:r>
            <a:endParaRPr lang="en-US" sz="1350" dirty="0"/>
          </a:p>
        </p:txBody>
      </p:sp>
      <p:sp>
        <p:nvSpPr>
          <p:cNvPr id="20" name="Text 14"/>
          <p:cNvSpPr/>
          <p:nvPr/>
        </p:nvSpPr>
        <p:spPr>
          <a:xfrm>
            <a:off x="1225296" y="3511296"/>
            <a:ext cx="7223760" cy="274320"/>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learn.microsoft.com — agents / how-to / tools / governance</a:t>
            </a:r>
            <a:endParaRPr lang="en-US" sz="1000" dirty="0"/>
          </a:p>
        </p:txBody>
      </p:sp>
      <p:sp>
        <p:nvSpPr>
          <p:cNvPr id="21" name="Shape 15"/>
          <p:cNvSpPr/>
          <p:nvPr/>
        </p:nvSpPr>
        <p:spPr>
          <a:xfrm>
            <a:off x="658368" y="3858768"/>
            <a:ext cx="438912" cy="438912"/>
          </a:xfrm>
          <a:prstGeom prst="ellipse">
            <a:avLst/>
          </a:prstGeom>
          <a:solidFill>
            <a:srgbClr val="CADCFC"/>
          </a:solidFill>
          <a:ln/>
        </p:spPr>
      </p:sp>
      <p:pic>
        <p:nvPicPr>
          <p:cNvPr id="22" name="Image 4" descr="preencoded.png">    </p:cNvPr>
          <p:cNvPicPr>
            <a:picLocks noChangeAspect="1"/>
          </p:cNvPicPr>
          <p:nvPr/>
        </p:nvPicPr>
        <p:blipFill>
          <a:blip r:embed="rId5"/>
          <a:stretch>
            <a:fillRect/>
          </a:stretch>
        </p:blipFill>
        <p:spPr>
          <a:xfrm>
            <a:off x="768096" y="3968496"/>
            <a:ext cx="219456" cy="219456"/>
          </a:xfrm>
          <a:prstGeom prst="rect">
            <a:avLst/>
          </a:prstGeom>
        </p:spPr>
      </p:pic>
      <p:sp>
        <p:nvSpPr>
          <p:cNvPr id="23" name="Text 16"/>
          <p:cNvSpPr/>
          <p:nvPr/>
        </p:nvSpPr>
        <p:spPr>
          <a:xfrm>
            <a:off x="1225296" y="3831336"/>
            <a:ext cx="7223760" cy="292608"/>
          </a:xfrm>
          <a:prstGeom prst="rect">
            <a:avLst/>
          </a:prstGeom>
          <a:noFill/>
          <a:ln/>
        </p:spPr>
        <p:txBody>
          <a:bodyPr wrap="square" lIns="0" tIns="0" rIns="0" bIns="0" rtlCol="0" anchor="ctr"/>
          <a:lstStyle/>
          <a:p>
            <a:pPr indent="0" marL="0">
              <a:buNone/>
            </a:pPr>
            <a:r>
              <a:rPr lang="en-US" sz="1350" b="1" dirty="0">
                <a:solidFill>
                  <a:srgbClr val="1E2761"/>
                </a:solidFill>
                <a:latin typeface="Georgia" pitchFamily="34" charset="0"/>
                <a:ea typeface="Georgia" pitchFamily="34" charset="-122"/>
                <a:cs typeface="Georgia" pitchFamily="34" charset="-120"/>
              </a:rPr>
              <a:t>AI gateway in Azure API Management</a:t>
            </a:r>
            <a:endParaRPr lang="en-US" sz="1350" dirty="0"/>
          </a:p>
        </p:txBody>
      </p:sp>
      <p:sp>
        <p:nvSpPr>
          <p:cNvPr id="24" name="Text 17"/>
          <p:cNvSpPr/>
          <p:nvPr/>
        </p:nvSpPr>
        <p:spPr>
          <a:xfrm>
            <a:off x="1225296" y="4114800"/>
            <a:ext cx="7223760" cy="274320"/>
          </a:xfrm>
          <a:prstGeom prst="rect">
            <a:avLst/>
          </a:prstGeom>
          <a:noFill/>
          <a:ln/>
        </p:spPr>
        <p:txBody>
          <a:bodyPr wrap="square" lIns="0" tIns="0" rIns="0" bIns="0" rtlCol="0" anchor="ctr"/>
          <a:lstStyle/>
          <a:p>
            <a:pPr indent="0" marL="0">
              <a:buNone/>
            </a:pPr>
            <a:r>
              <a:rPr lang="en-US" sz="1000" dirty="0">
                <a:solidFill>
                  <a:srgbClr val="5A6781"/>
                </a:solidFill>
                <a:latin typeface="Calibri" pitchFamily="34" charset="0"/>
                <a:ea typeface="Calibri" pitchFamily="34" charset="-122"/>
                <a:cs typeface="Calibri" pitchFamily="34" charset="-120"/>
              </a:rPr>
              <a:t>learn.microsoft.com — api-management / genai-gateway-capabilities</a:t>
            </a:r>
            <a:endParaRPr lang="en-US" sz="1000" dirty="0"/>
          </a:p>
        </p:txBody>
      </p:sp>
      <p:sp>
        <p:nvSpPr>
          <p:cNvPr id="25" name="Text 18"/>
          <p:cNvSpPr/>
          <p:nvPr/>
        </p:nvSpPr>
        <p:spPr>
          <a:xfrm>
            <a:off x="658368" y="4572000"/>
            <a:ext cx="7827264" cy="274320"/>
          </a:xfrm>
          <a:prstGeom prst="rect">
            <a:avLst/>
          </a:prstGeom>
          <a:noFill/>
          <a:ln/>
        </p:spPr>
        <p:txBody>
          <a:bodyPr wrap="square" lIns="0" tIns="0" rIns="0" bIns="0" rtlCol="0" anchor="ctr"/>
          <a:lstStyle/>
          <a:p>
            <a:pPr indent="0" marL="0">
              <a:buNone/>
            </a:pPr>
            <a:r>
              <a:rPr lang="en-US" sz="1050" i="1" dirty="0">
                <a:solidFill>
                  <a:srgbClr val="5A6781"/>
                </a:solidFill>
                <a:latin typeface="Calibri" pitchFamily="34" charset="0"/>
                <a:ea typeface="Calibri" pitchFamily="34" charset="-122"/>
                <a:cs typeface="Calibri" pitchFamily="34" charset="-120"/>
              </a:rPr>
              <a:t>AI gateway in Microsoft Foundry is in preview — search Microsoft Learn for the latest version-specific guidance.</a:t>
            </a:r>
            <a:endParaRPr lang="en-US" sz="1050" dirty="0"/>
          </a:p>
        </p:txBody>
      </p:sp>
      <p:sp>
        <p:nvSpPr>
          <p:cNvPr id="26" name="Text 19"/>
          <p:cNvSpPr/>
          <p:nvPr/>
        </p:nvSpPr>
        <p:spPr>
          <a:xfrm>
            <a:off x="457200" y="4828032"/>
            <a:ext cx="6858000" cy="228600"/>
          </a:xfrm>
          <a:prstGeom prst="rect">
            <a:avLst/>
          </a:prstGeom>
          <a:noFill/>
          <a:ln/>
        </p:spPr>
        <p:txBody>
          <a:bodyPr wrap="square" lIns="0" tIns="0" rIns="0" bIns="0" rtlCol="0" anchor="ctr"/>
          <a:lstStyle/>
          <a:p>
            <a:pPr indent="0" marL="0">
              <a:buNone/>
            </a:pPr>
            <a:r>
              <a:rPr lang="en-US" sz="800" dirty="0">
                <a:solidFill>
                  <a:srgbClr val="5A6781"/>
                </a:solidFill>
                <a:latin typeface="Calibri" pitchFamily="34" charset="0"/>
                <a:ea typeface="Calibri" pitchFamily="34" charset="-122"/>
                <a:cs typeface="Calibri" pitchFamily="34" charset="-120"/>
              </a:rPr>
              <a:t>Microsoft Foundry  ·  AI Gateway (preview)</a:t>
            </a:r>
            <a:endParaRPr lang="en-US" sz="800" dirty="0"/>
          </a:p>
        </p:txBody>
      </p:sp>
      <p:sp>
        <p:nvSpPr>
          <p:cNvPr id="27" name="Text 20"/>
          <p:cNvSpPr/>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5A6781"/>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Enable the AI Gateway from Microsoft Foundry</dc:title>
  <dc:subject>PptxGenJS Presentation</dc:subject>
  <dc:creator>Microsoft Foundry</dc:creator>
  <cp:lastModifiedBy>Microsoft Foundry</cp:lastModifiedBy>
  <cp:revision>1</cp:revision>
  <dcterms:created xsi:type="dcterms:W3CDTF">2026-06-15T06:39:29Z</dcterms:created>
  <dcterms:modified xsi:type="dcterms:W3CDTF">2026-06-15T06:39:29Z</dcterms:modified>
</cp:coreProperties>
</file>