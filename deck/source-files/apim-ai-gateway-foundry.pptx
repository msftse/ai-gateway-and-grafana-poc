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ADCFC"/>
                </a:solidFill>
                <a:latin typeface="Arial"/>
              </a:rPr>
              <a:t>Tokens / min by team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 A</c:v>
                </c:pt>
              </c:strCache>
            </c:strRef>
          </c:tx>
          <c:spPr>
            <a:solidFill>
              <a:srgbClr val="4F86F7"/>
            </a:solidFill>
            <a:ln w="38100" cap="flat">
              <a:solidFill>
                <a:srgbClr val="4F86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6F7"/>
              </a:solidFill>
              <a:ln w="9525" cap="flat">
                <a:solidFill>
                  <a:srgbClr val="4F86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10:00</c:v>
                  </c:pt>
                  <c:pt idx="1">
                    <c:v>10:05</c:v>
                  </c:pt>
                  <c:pt idx="2">
                    <c:v>10:10</c:v>
                  </c:pt>
                  <c:pt idx="3">
                    <c:v>10:15</c:v>
                  </c:pt>
                  <c:pt idx="4">
                    <c:v>10:20</c:v>
                  </c:pt>
                  <c:pt idx="5">
                    <c:v>10:25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210</c:v>
                </c:pt>
                <c:pt idx="2">
                  <c:v>180</c:v>
                </c:pt>
                <c:pt idx="3">
                  <c:v>260</c:v>
                </c:pt>
                <c:pt idx="4">
                  <c:v>240</c:v>
                </c:pt>
                <c:pt idx="5">
                  <c:v>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Team B</c:v>
                </c:pt>
              </c:strCache>
            </c:strRef>
          </c:tx>
          <c:spPr>
            <a:solidFill>
              <a:srgbClr val="F5B841"/>
            </a:solidFill>
            <a:ln w="38100" cap="flat">
              <a:solidFill>
                <a:srgbClr val="F5B8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B841"/>
              </a:solidFill>
              <a:ln w="9525" cap="flat">
                <a:solidFill>
                  <a:srgbClr val="F5B8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10:00</c:v>
                  </c:pt>
                  <c:pt idx="1">
                    <c:v>10:05</c:v>
                  </c:pt>
                  <c:pt idx="2">
                    <c:v>10:10</c:v>
                  </c:pt>
                  <c:pt idx="3">
                    <c:v>10:15</c:v>
                  </c:pt>
                  <c:pt idx="4">
                    <c:v>10:20</c:v>
                  </c:pt>
                  <c:pt idx="5">
                    <c:v>10:25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90</c:v>
                </c:pt>
                <c:pt idx="2">
                  <c:v>140</c:v>
                </c:pt>
                <c:pt idx="3">
                  <c:v>110</c:v>
                </c:pt>
                <c:pt idx="4">
                  <c:v>170</c:v>
                </c:pt>
                <c:pt idx="5">
                  <c:v>150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8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FB0D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23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ADCFC"/>
                </a:solidFill>
                <a:latin typeface="Arial"/>
              </a:rPr>
              <a:t>Cache hit ratio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Cache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6F7"/>
              </a:solidFill>
              <a:effectLst/>
            </c:spPr>
          </c:dPt>
          <c:dPt>
            <c:idx val="1"/>
            <c:bubble3D val="0"/>
            <c:spPr>
              <a:solidFill>
                <a:srgbClr val="3340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Hit</c:v>
                </c:pt>
                <c:pt idx="1">
                  <c:v>Miss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FB0D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9BB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 ·  AZURE API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86384" y="12801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every AI call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an AI Gateway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 for security, cost, resiliency and observability across your Foundry models, agents, tools and MCP servers.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4864" cy="8686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gateway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005840" y="4261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model, agent &amp; tool call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QUESTIONS, ONE GATEWAY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371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an AI gateway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1872" y="1673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and the signals that point to it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2037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3134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1579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API Management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61872" y="24597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governance and control by default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58368" y="2990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0998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2944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policies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61872" y="3246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token quotas and more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58368" y="3776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88620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37307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61872" y="40325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AI-gateway feature set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0916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52704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12664" y="1371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&amp; managing cost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12664" y="1673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metering, chargeback and showback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09160" y="22037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13432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12664" y="21579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Traces, logs &amp; metrics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312664" y="24597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observability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709160" y="2990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09981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12664" y="2944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agents, tools &amp; MCP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5312664" y="3246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Foundry workloads through the gateway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adoption outpaces AI control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2103120"/>
          </a:xfrm>
          <a:prstGeom prst="rect">
            <a:avLst/>
          </a:prstGeom>
          <a:solidFill>
            <a:srgbClr val="E0563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636776"/>
            <a:ext cx="548640" cy="548640"/>
          </a:xfrm>
          <a:prstGeom prst="ellipse">
            <a:avLst/>
          </a:prstGeom>
          <a:solidFill>
            <a:srgbClr val="FBE9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231343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Sprawl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266090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wires apps straight to model endpoints. No shared front door, no inventory of who calls what.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56432" y="141732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417320"/>
            <a:ext cx="64008" cy="2103120"/>
          </a:xfrm>
          <a:prstGeom prst="rect">
            <a:avLst/>
          </a:prstGeom>
          <a:solidFill>
            <a:srgbClr val="E056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0" y="1636776"/>
            <a:ext cx="548640" cy="548640"/>
          </a:xfrm>
          <a:prstGeom prst="ellipse">
            <a:avLst/>
          </a:prstGeom>
          <a:solidFill>
            <a:srgbClr val="FBE9E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176479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1343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Runaway cost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266090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billed per call with no per-team budget, quota or visibility until the invoice arrives.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54496" y="141732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54496" y="1417320"/>
            <a:ext cx="64008" cy="2103120"/>
          </a:xfrm>
          <a:prstGeom prst="rect">
            <a:avLst/>
          </a:prstGeom>
          <a:solidFill>
            <a:srgbClr val="E0563B"/>
          </a:solidFill>
          <a:ln/>
        </p:spPr>
      </p:sp>
      <p:sp>
        <p:nvSpPr>
          <p:cNvPr id="19" name="Shape 15"/>
          <p:cNvSpPr/>
          <p:nvPr/>
        </p:nvSpPr>
        <p:spPr>
          <a:xfrm>
            <a:off x="6455664" y="1636776"/>
            <a:ext cx="548640" cy="548640"/>
          </a:xfrm>
          <a:prstGeom prst="ellipse">
            <a:avLst/>
          </a:prstGeom>
          <a:solidFill>
            <a:srgbClr val="FBE9E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6479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231343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guardrails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55664" y="266090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copied into apps, content moderation is inconsistent, and there is no central audit trail.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58368" y="3794760"/>
            <a:ext cx="7827264" cy="786384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794760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gateway,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bolted on per app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never consistently.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AI gateway?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FRONT DOOR FOR AI TRAFFIC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gateway sits between your applications and your AI backends. Every request flows through one policy-controlled hop where you authenticate callers, enforce limits, screen content, balance load, and emit telemetry — without changing application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8986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33558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 Agents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366674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copilots, services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11880" y="2788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8986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3558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Gateway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85032" y="366674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policies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0" y="2788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28986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5664" y="33558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73952" y="366674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agents · tools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88920" y="3337560"/>
            <a:ext cx="749808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577840" y="3337560"/>
            <a:ext cx="749808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868680" y="416052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16052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801368" y="41605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3" name="Text 18"/>
          <p:cNvSpPr/>
          <p:nvPr/>
        </p:nvSpPr>
        <p:spPr>
          <a:xfrm>
            <a:off x="1801368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4160520"/>
            <a:ext cx="1312164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5" name="Text 20"/>
          <p:cNvSpPr/>
          <p:nvPr/>
        </p:nvSpPr>
        <p:spPr>
          <a:xfrm>
            <a:off x="3200400" y="4160520"/>
            <a:ext cx="131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77156" y="4160520"/>
            <a:ext cx="84582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7" name="Text 22"/>
          <p:cNvSpPr/>
          <p:nvPr/>
        </p:nvSpPr>
        <p:spPr>
          <a:xfrm>
            <a:off x="4677156" y="416052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687568" y="4160520"/>
            <a:ext cx="1545336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9" name="Text 24"/>
          <p:cNvSpPr/>
          <p:nvPr/>
        </p:nvSpPr>
        <p:spPr>
          <a:xfrm>
            <a:off x="5687568" y="41605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397496" y="4160520"/>
            <a:ext cx="100126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1" name="Text 26"/>
          <p:cNvSpPr/>
          <p:nvPr/>
        </p:nvSpPr>
        <p:spPr>
          <a:xfrm>
            <a:off x="7397496" y="4160520"/>
            <a:ext cx="1001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API Management as the gateway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JOBS, ONE PLATFORM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822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14173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2496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82496" y="195681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managed-identity auth to backends. Subscription keys, JWT validation, IP and rate controls at the edge.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822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71600"/>
            <a:ext cx="64008" cy="14173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901184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830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87568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87568" y="195681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 across model deployments and regions with weighted pools, priorities and circuit breakers.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58368" y="2971800"/>
            <a:ext cx="3822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2971800"/>
            <a:ext cx="64008" cy="14173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32278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3832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82496" y="31912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82496" y="355701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latency, errors and cache hits flow to Application Insights and Azure Monitor automatically.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2971800"/>
            <a:ext cx="3822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2971800"/>
            <a:ext cx="64008" cy="14173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5" name="Shape 20"/>
          <p:cNvSpPr/>
          <p:nvPr/>
        </p:nvSpPr>
        <p:spPr>
          <a:xfrm>
            <a:off x="4901184" y="32278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3832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87568" y="31912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5687568" y="355701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products, token quotas, content safety and semantic caching — declared as reusable policy.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put a gateway in front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DIRECT-TO-FOUNDRY VS. AI GATEWAY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7827264" cy="914400"/>
        </p:xfrm>
        <a:graphic>
          <a:graphicData uri="http://schemas.openxmlformats.org/drawingml/2006/table">
            <a:tbl>
              <a:tblPr/>
              <a:tblGrid>
                <a:gridCol w="2157984"/>
                <a:gridCol w="274320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Consideration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Direct to Foundry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Through the AI gateway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app or prototype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teams, apps and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Per-call billing, no quotas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Per-team token quotas &amp; budgets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to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embedded in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managed identity, no keys in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Load-balanced pool + failover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Per-app, inconsistent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content-safety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Per-app, fragmented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tokens / cost / traces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452628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the moment a second team or a production workload appears, the gateway pays for itself.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6642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2140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432304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agents · MCP clients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80360" y="1417320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544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Management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035808" y="2432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Managed-identity auth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035808" y="26471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Token rate-limit &amp; quota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035808" y="2862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cache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035808" y="30769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Content safety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035808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Load-balanced backends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035808" y="35067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Token-metric emit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99632" y="1417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52704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54496" y="19842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 models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72784" y="2295144"/>
            <a:ext cx="213969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embeddings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199632" y="2514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62432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54496" y="308152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 agents &amp; tools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72784" y="3392424"/>
            <a:ext cx="213969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· MCP servers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304288" y="2240280"/>
            <a:ext cx="54864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623560" y="1901952"/>
            <a:ext cx="54864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5623560" y="2999232"/>
            <a:ext cx="54864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658368" y="3977640"/>
            <a:ext cx="7827264" cy="640080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1480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39776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+ Azure Monitor</a:t>
            </a:r>
            <a:pPr indent="0" marL="0">
              <a:buNone/>
            </a:pPr>
            <a:r>
              <a:rPr lang="en-US" sz="11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tokens · cost · latency · errors · cache hits · traces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251960" y="3749040"/>
            <a:ext cx="0" cy="20116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Text 2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37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policies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04672" y="3520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token quotas, caching and safety — declared once, enforced everywhere.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1463040"/>
            <a:ext cx="1188720" cy="1188720"/>
          </a:xfrm>
          <a:prstGeom prst="ellipse">
            <a:avLst/>
          </a:prstGeom>
          <a:solidFill>
            <a:srgbClr val="2C37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8470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limits &amp; token quotas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LLM-TOKEN-LIMIT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each consumer's tokens-per-minute and enforce a daily budget. Limits are counted per subscription key, so every team gets its own envelope from the same API.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4663440" cy="1783080"/>
          </a:xfrm>
          <a:prstGeom prst="rect">
            <a:avLst/>
          </a:prstGeom>
          <a:solidFill>
            <a:srgbClr val="13183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21408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BBD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&lt;llm-token-limit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counter-key="@(context.Subscription.Id)"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tokens-per-minute="5000"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token-quota="100000"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token-quota-period="Daily"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BBD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estimate-prompt-tokens="false" /&gt;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1965960"/>
            <a:ext cx="29535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1965960"/>
            <a:ext cx="64008" cy="822960"/>
          </a:xfrm>
          <a:prstGeom prst="rect">
            <a:avLst/>
          </a:prstGeom>
          <a:solidFill>
            <a:srgbClr val="E0563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07568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46520" y="20756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Requests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Tokens-per-minute exceeded — caller backs off and retries.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2898648"/>
            <a:ext cx="29535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2898648"/>
            <a:ext cx="6400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300837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46520" y="30083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Quota exceeded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26440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token budget consumed — blocked until the window resets.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4023360"/>
            <a:ext cx="7827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set generous limits on premium tiers and tight quotas on free / internal tiers using separate products.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 every token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LLM-EMIT-TOKEN-METRIC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prompt, completion and total token counts as a custom metric, tagged with dimensions you choose. Those dimensions become the slice-and-dice axes of every cost and usage report.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1168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3408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852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team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307238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consumer group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88336" y="201168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88336" y="201168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4" name="Shape 11"/>
          <p:cNvSpPr/>
          <p:nvPr/>
        </p:nvSpPr>
        <p:spPr>
          <a:xfrm>
            <a:off x="3328416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34086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79776" y="2852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779776" y="307238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/ app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18304" y="201168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18304" y="201168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0" name="Shape 16"/>
          <p:cNvSpPr/>
          <p:nvPr/>
        </p:nvSpPr>
        <p:spPr>
          <a:xfrm>
            <a:off x="5358384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340864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9744" y="2852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809744" y="307238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 user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748272" y="201168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48272" y="201168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6" name="Shape 21"/>
          <p:cNvSpPr/>
          <p:nvPr/>
        </p:nvSpPr>
        <p:spPr>
          <a:xfrm>
            <a:off x="7388352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340864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39712" y="2852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tag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839712" y="307238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ID, feature, env…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58368" y="3611880"/>
            <a:ext cx="7827264" cy="8686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85876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611880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custom dimensions per policy.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them deliberately — they are the columns of your chargeback report.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caching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LLM-SEMANTIC-CACHE-LOOKUP + -STORE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responses by meaning, not exact text. A lookup policy (inbound) embeds the incoming prompt and compares it to stored prompts; a close match replays the saved answer — skipping the model call. A store policy (outbound) saves new responses for reuse.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258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21488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60904" y="22585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lookup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2569464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compare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64024" y="225856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2569464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≥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21488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75704" y="225856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93992" y="256946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answer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04288" y="2606040"/>
            <a:ext cx="27432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89120" y="2606040"/>
            <a:ext cx="292608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2606040"/>
            <a:ext cx="292608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709160" y="31181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forward to model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3429000"/>
            <a:ext cx="261518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429000"/>
            <a:ext cx="64008" cy="105156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685032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35024" y="36301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335024" y="394106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and paraphrased prompts cost nothing at the model.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56432" y="3429000"/>
            <a:ext cx="261518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56432" y="3429000"/>
            <a:ext cx="64008" cy="105156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685032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133088" y="36301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4133088" y="394106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answers skip generation latency.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54496" y="3429000"/>
            <a:ext cx="261518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54496" y="3429000"/>
            <a:ext cx="64008" cy="105156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68503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31152" y="36301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load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6931152" y="394106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backend calls protect your TPM budget.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safety at the edge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LLM-CONTENT-SAFETY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prompts before they ever reach a model. The gateway calls Azure AI Content Safety, and requests above your severity threshold are blocked centrally — no per-app integration required.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3822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57400"/>
            <a:ext cx="3822192" cy="502920"/>
          </a:xfrm>
          <a:prstGeom prst="rect">
            <a:avLst/>
          </a:prstGeom>
          <a:solidFill>
            <a:srgbClr val="2EA5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671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0574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 ·  200 OK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715768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prompt passes screening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the model deployment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token metering applies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2057400"/>
            <a:ext cx="3822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057400"/>
            <a:ext cx="3822192" cy="502920"/>
          </a:xfrm>
          <a:prstGeom prst="rect">
            <a:avLst/>
          </a:prstGeom>
          <a:solidFill>
            <a:srgbClr val="E056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1671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20574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  ·  403 Forbidden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73752" y="2715768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prompt exceeds severity threshold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before any model call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centrally for audit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58368" y="425196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policy, every API. Consistent moderation that an individual app can't forget to apply.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Resiliency: pools &amp; circuit breakers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· FAILOVER · SPILLOVER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multiple model deployments into a backend pool. Weighted priorities send traffic to your primary capacity first; a circuit breaker trips unhealthy backends and shifts load automatically.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2258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715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pool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44752" y="3026664"/>
            <a:ext cx="18653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routing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023360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EA5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0520" y="19476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Priority 1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 — takes most traffic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23360" y="2788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60520" y="28620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·  Priority 2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Spillover &amp; failover capacity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258568"/>
            <a:ext cx="548640" cy="0"/>
          </a:xfrm>
          <a:prstGeom prst="line">
            <a:avLst/>
          </a:prstGeom>
          <a:noFill/>
          <a:ln w="28575">
            <a:solidFill>
              <a:srgbClr val="2EA5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83280" y="3172968"/>
            <a:ext cx="548640" cy="0"/>
          </a:xfrm>
          <a:prstGeom prst="line">
            <a:avLst/>
          </a:prstGeom>
          <a:noFill/>
          <a:ln w="28575">
            <a:solidFill>
              <a:srgbClr val="5A678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720840" y="2286000"/>
            <a:ext cx="1737360" cy="1737360"/>
          </a:xfrm>
          <a:prstGeom prst="ellipse">
            <a:avLst/>
          </a:prstGeom>
          <a:solidFill>
            <a:srgbClr val="13183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542032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2084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breaker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2084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on errors / 429s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58368" y="429768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Provisioned Throughput (PTU) as priority 1 and pay-as-you-go as spillover to optimize both cost and availability.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 at a glance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AI-GATEWAY FEATURE SET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536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6733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157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Keyless auth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386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to backends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688336" y="137160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88336" y="137160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346704" y="1536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67335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61488" y="2157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rate limits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761488" y="2386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TPM &amp; daily quota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718304" y="137160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37160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9" name="Shape 15"/>
          <p:cNvSpPr/>
          <p:nvPr/>
        </p:nvSpPr>
        <p:spPr>
          <a:xfrm>
            <a:off x="5376672" y="1536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67335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1456" y="2157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cache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91456" y="2386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response reuse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6748272" y="1371600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48272" y="1371600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5" name="Shape 20"/>
          <p:cNvSpPr/>
          <p:nvPr/>
        </p:nvSpPr>
        <p:spPr>
          <a:xfrm>
            <a:off x="7406640" y="1536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7335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21424" y="2157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safety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21424" y="2386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prompt moderation</a:t>
            </a:r>
            <a:endParaRPr lang="en-US" sz="880" dirty="0"/>
          </a:p>
        </p:txBody>
      </p:sp>
      <p:sp>
        <p:nvSpPr>
          <p:cNvPr id="29" name="Shape 23"/>
          <p:cNvSpPr/>
          <p:nvPr/>
        </p:nvSpPr>
        <p:spPr>
          <a:xfrm>
            <a:off x="658368" y="2816352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8368" y="2816352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1" name="Shape 25"/>
          <p:cNvSpPr/>
          <p:nvPr/>
        </p:nvSpPr>
        <p:spPr>
          <a:xfrm>
            <a:off x="1316736" y="2980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896" y="3118104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1520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31520" y="3831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Pools, priorities, breakers</a:t>
            </a:r>
            <a:endParaRPr lang="en-US" sz="880" dirty="0"/>
          </a:p>
        </p:txBody>
      </p:sp>
      <p:sp>
        <p:nvSpPr>
          <p:cNvPr id="35" name="Shape 28"/>
          <p:cNvSpPr/>
          <p:nvPr/>
        </p:nvSpPr>
        <p:spPr>
          <a:xfrm>
            <a:off x="2688336" y="2816352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688336" y="2816352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7" name="Shape 30"/>
          <p:cNvSpPr/>
          <p:nvPr/>
        </p:nvSpPr>
        <p:spPr>
          <a:xfrm>
            <a:off x="3346704" y="2980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3118104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61488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metrics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2761488" y="3831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Custom-dimension metering</a:t>
            </a:r>
            <a:endParaRPr lang="en-US" sz="880" dirty="0"/>
          </a:p>
        </p:txBody>
      </p:sp>
      <p:sp>
        <p:nvSpPr>
          <p:cNvPr id="41" name="Shape 33"/>
          <p:cNvSpPr/>
          <p:nvPr/>
        </p:nvSpPr>
        <p:spPr>
          <a:xfrm>
            <a:off x="4718304" y="2816352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2816352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3" name="Shape 35"/>
          <p:cNvSpPr/>
          <p:nvPr/>
        </p:nvSpPr>
        <p:spPr>
          <a:xfrm>
            <a:off x="5376672" y="2980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3118104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791456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observability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791456" y="3831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logs &amp; dashboards</a:t>
            </a:r>
            <a:endParaRPr lang="en-US" sz="880" dirty="0"/>
          </a:p>
        </p:txBody>
      </p:sp>
      <p:sp>
        <p:nvSpPr>
          <p:cNvPr id="47" name="Shape 38"/>
          <p:cNvSpPr/>
          <p:nvPr/>
        </p:nvSpPr>
        <p:spPr>
          <a:xfrm>
            <a:off x="6748272" y="2816352"/>
            <a:ext cx="18836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748272" y="2816352"/>
            <a:ext cx="64008" cy="128016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9" name="Shape 40"/>
          <p:cNvSpPr/>
          <p:nvPr/>
        </p:nvSpPr>
        <p:spPr>
          <a:xfrm>
            <a:off x="7406640" y="2980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118104"/>
            <a:ext cx="292608" cy="2926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821424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MCP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6821424" y="3831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tools and MCP calls</a:t>
            </a:r>
            <a:endParaRPr lang="en-US" sz="880" dirty="0"/>
          </a:p>
        </p:txBody>
      </p:sp>
      <p:sp>
        <p:nvSpPr>
          <p:cNvPr id="53" name="Text 4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37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&amp; cost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04672" y="3520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manage every token, dollar, trace and error from one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1463040"/>
            <a:ext cx="1188720" cy="1188720"/>
          </a:xfrm>
          <a:prstGeom prst="ellipse">
            <a:avLst/>
          </a:prstGeom>
          <a:solidFill>
            <a:srgbClr val="2C37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8470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see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SIGNALS, ONE DASHBOARD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7276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08483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completion &amp; total — by team, app and user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137160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6704" y="1371600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934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9936" y="157276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84448" y="208483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× your price map = per-team spend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37160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371600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0934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157276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72784" y="208483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across gateway and backend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58368" y="2907792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" y="2907792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14553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&amp; throttling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96112" y="3621024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rate-limit and 403 quota / blocked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46704" y="2907792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46704" y="2907792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455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59936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hit ratio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584448" y="3621024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responses served from cache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2907792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2907792"/>
            <a:ext cx="64008" cy="137160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1455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48272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health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272784" y="3621024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failover across the pool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pane for AI operations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B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DASHBOARD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1828800" cy="841248"/>
          </a:xfrm>
          <a:prstGeom prst="rect">
            <a:avLst/>
          </a:prstGeom>
          <a:solidFill>
            <a:srgbClr val="1C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B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1280160"/>
            <a:ext cx="1828800" cy="841248"/>
          </a:xfrm>
          <a:prstGeom prst="rect">
            <a:avLst/>
          </a:prstGeom>
          <a:solidFill>
            <a:srgbClr val="1C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33472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8576" y="1280160"/>
            <a:ext cx="1828800" cy="841248"/>
          </a:xfrm>
          <a:prstGeom prst="rect">
            <a:avLst/>
          </a:prstGeom>
          <a:solidFill>
            <a:srgbClr val="1C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08576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1828800" cy="841248"/>
          </a:xfrm>
          <a:prstGeom prst="rect">
            <a:avLst/>
          </a:prstGeom>
          <a:solidFill>
            <a:srgbClr val="1C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B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8368" y="2286000"/>
          <a:ext cx="47548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5577840" y="2286000"/>
          <a:ext cx="290779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/>
          <p:nvPr/>
        </p:nvSpPr>
        <p:spPr>
          <a:xfrm>
            <a:off x="65836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from any specific environment.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&amp; manage cost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&amp; SHOWBACK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token metrics into per-team spend in four steps. Because the gateway already tags every call, cost allocation is a query — not a spreadsheet exercise.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188366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57400"/>
            <a:ext cx="64008" cy="169164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2880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token metrics with team / app / user dimensions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51176" y="2903220"/>
            <a:ext cx="128016" cy="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88336" y="2057400"/>
            <a:ext cx="188366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8336" y="2057400"/>
            <a:ext cx="64008" cy="169164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355848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79776" y="2880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6352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price-per-1K-tokens map per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81144" y="2903220"/>
            <a:ext cx="128016" cy="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18304" y="2057400"/>
            <a:ext cx="188366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2057400"/>
            <a:ext cx="64008" cy="169164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385816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38581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09744" y="2880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× price → cost, grouped by dimension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11112" y="2903220"/>
            <a:ext cx="128016" cy="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48272" y="2057400"/>
            <a:ext cx="188366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48272" y="2057400"/>
            <a:ext cx="64008" cy="169164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1578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41578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39712" y="28803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76288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back, charge back, or alert on budget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" y="4023360"/>
            <a:ext cx="7827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150" i="1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itemized, defensible AI bill per team — updated continuously, not monthly.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Traces, logs &amp; metrics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OBSERVABILITY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correlated from client to gateway to backend. Drill from a single transaction into its token usage, or run KQL across the whole fleet.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11680"/>
            <a:ext cx="64008" cy="118872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494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22128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logs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6112" y="261518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status, latency, backend, correlation id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56432" y="201168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2011680"/>
            <a:ext cx="64008" cy="118872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494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3088" y="22128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metrics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94176" y="261518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with your chosen dimensions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54496" y="201168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4496" y="2011680"/>
            <a:ext cx="64008" cy="1188720"/>
          </a:xfrm>
          <a:prstGeom prst="rect">
            <a:avLst/>
          </a:prstGeom>
          <a:solidFill>
            <a:srgbClr val="4F86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494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22128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traces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2240" y="261518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gateway → model spans, end to end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58368" y="3429000"/>
            <a:ext cx="7827264" cy="1051560"/>
          </a:xfrm>
          <a:prstGeom prst="rect">
            <a:avLst/>
          </a:prstGeom>
          <a:solidFill>
            <a:srgbClr val="13183C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BBD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customMetrics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name == "Total Tokens"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Tokens = sum(valueSum) by Product = tostring(customDimensions["Product"])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37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Agents, tools &amp; MCP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04672" y="3520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governance extends to Foundry agents and the tools and MCP servers they call.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1463040"/>
            <a:ext cx="1188720" cy="1188720"/>
          </a:xfrm>
          <a:prstGeom prst="ellipse">
            <a:avLst/>
          </a:prstGeom>
          <a:solidFill>
            <a:srgbClr val="2C37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8470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agents through the gateway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POLICIES, EVERY WORKLOAD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model client's base URL at the gateway and every chat or embedding call inherits your policies. A Foundry agent's underlying model traffic can flow the same way — so token limits, caching, safety and metering apply to agents too.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395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8529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1638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tools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88920" y="2286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3957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3784" y="28529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client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62072" y="31638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 → gateway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19472" y="2286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39572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74336" y="28529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Gateway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992624" y="31638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applied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50024" y="2286000"/>
            <a:ext cx="14356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804" y="239572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04888" y="2852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123176" y="3163824"/>
            <a:ext cx="1289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embeddings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487168" y="2903220"/>
            <a:ext cx="27432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617720" y="2903220"/>
            <a:ext cx="27432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748272" y="2903220"/>
            <a:ext cx="27432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58368" y="3886200"/>
            <a:ext cx="7827264" cy="713232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7822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88620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rewrite — only the endpoint the client points to changes.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MCP servers &amp; custom MCPs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WHAT AGENTS CAN REACH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extend their reach through tools and MCP servers. API Management can broker those connections three ways — turning existing APIs into tools, fronting MCP servers, and exposing your own custom MCP.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48840"/>
            <a:ext cx="64008" cy="182880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3865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328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824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as a tool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77824" y="34107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an existing API to an agent as an OpenAPI tool, secured and metered by the gateway.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56432" y="214884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2148840"/>
            <a:ext cx="64008" cy="182880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14" name="Shape 11"/>
          <p:cNvSpPr/>
          <p:nvPr/>
        </p:nvSpPr>
        <p:spPr>
          <a:xfrm>
            <a:off x="3675888" y="23865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53288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passthrough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75888" y="34107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 remote MCP server so the agent's MCP calls inherit auth, limits and logging.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54496" y="214884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2148840"/>
            <a:ext cx="64008" cy="182880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20" name="Shape 16"/>
          <p:cNvSpPr/>
          <p:nvPr/>
        </p:nvSpPr>
        <p:spPr>
          <a:xfrm>
            <a:off x="6473952" y="23865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3288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73952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MCP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73952" y="34107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own MCP endpoint from API Management, governed like any other API.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58368" y="416052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path, the agent gains a capability while you keep one consistent point of control and audit.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gateway across Foundry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AGENTS · TOOLS, UNIFIED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46120" y="2194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233172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Gateway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46120" y="30175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554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105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17904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46520" y="1554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105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50024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14400" y="32918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4787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17904" y="32918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MCP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46520" y="32918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54787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50024" y="32918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2697480" y="1993392"/>
            <a:ext cx="548640" cy="0"/>
          </a:xfrm>
          <a:prstGeom prst="line">
            <a:avLst/>
          </a:prstGeom>
          <a:noFill/>
          <a:ln w="28575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2697480" y="1993392"/>
            <a:ext cx="594360" cy="41148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6446520" y="1993392"/>
            <a:ext cx="-548640" cy="41148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2697480" y="3730752"/>
            <a:ext cx="594360" cy="-36576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6446520" y="3730752"/>
            <a:ext cx="-548640" cy="-365760"/>
          </a:xfrm>
          <a:prstGeom prst="line">
            <a:avLst/>
          </a:prstGeom>
          <a:noFill/>
          <a:ln w="25400">
            <a:solidFill>
              <a:srgbClr val="4F86F7"/>
            </a:solidFill>
            <a:prstDash val="solid"/>
            <a:tailEnd type="triangle"/>
          </a:ln>
        </p:spPr>
      </p:sp>
      <p:sp>
        <p:nvSpPr>
          <p:cNvPr id="26" name="Text 19"/>
          <p:cNvSpPr/>
          <p:nvPr/>
        </p:nvSpPr>
        <p:spPr>
          <a:xfrm>
            <a:off x="658368" y="438912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agents and the tools they call all share one policy, one identity model and one telemetry pipeline.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&amp; next steps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B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SPRAWL TO CONTROL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4864" cy="9144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models, agents, tools &amp; MCP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417320"/>
            <a:ext cx="54864" cy="9144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3872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quota, cache, safety, LB, 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3328" y="1417320"/>
            <a:ext cx="54864" cy="9144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3620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rewrites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36208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endpoint changes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926080"/>
            <a:ext cx="7827264" cy="1508760"/>
          </a:xfrm>
          <a:prstGeom prst="rect">
            <a:avLst/>
          </a:prstGeom>
          <a:solidFill>
            <a:srgbClr val="1C2350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72384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25880" y="30358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" y="341985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API Management and connect Application Insights.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Foundry inference endpoint and apply the AI-gateway policies.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per-team products with token quotas, then publish the dashboard.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 · Pricing notes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BILL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782726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52958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Component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model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Notes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gateway, by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 tier that supports the AI-gateway &amp; MCP features you need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1K tokens (in/out)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model; PTU offers reserved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store +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by avoided model calls on cache hits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analyzed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 screened prompts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+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Insights / Log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452628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depend on region, tier, model and volume — always confirm against current Azure pricing.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530352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B · Links &amp; references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54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4173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Management — AI gateway capabilities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25296" y="1700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LLM policies and gateway features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0482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5798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0208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policy reference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25296" y="23042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token-limit · emit-token-metric · semantic-cache · content-safety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58368" y="265176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6148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2624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Foundry documentation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25296" y="29077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agents, tools and MCP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58368" y="3255264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649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32278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 (MCP)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25296" y="3511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and server patterns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58368" y="385876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96849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25296" y="38313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Monitor &amp; Application Insights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25296" y="4114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Workbooks, KQL and custom metrics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58368" y="4572000"/>
            <a:ext cx="7827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Microsoft Learn for the latest, version-specific guidance on each topic above.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·  AI Gateway for Microsoft Foundry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Gateway for Microsoft Foundry</dc:title>
  <dc:subject>PptxGenJS Presentation</dc:subject>
  <dc:creator>Azure API Management</dc:creator>
  <cp:lastModifiedBy>Azure API Management</cp:lastModifiedBy>
  <cp:revision>1</cp:revision>
  <dcterms:created xsi:type="dcterms:W3CDTF">2026-06-14T17:40:27Z</dcterms:created>
  <dcterms:modified xsi:type="dcterms:W3CDTF">2026-06-14T17:40:27Z</dcterms:modified>
</cp:coreProperties>
</file>